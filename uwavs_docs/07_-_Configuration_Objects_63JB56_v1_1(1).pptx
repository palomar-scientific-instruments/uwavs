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993" r:id="rId2"/>
    <p:sldMasterId id="2147489614" r:id="rId3"/>
  </p:sldMasterIdLst>
  <p:notesMasterIdLst>
    <p:notesMasterId r:id="rId11"/>
  </p:notesMasterIdLst>
  <p:handoutMasterIdLst>
    <p:handoutMasterId r:id="rId12"/>
  </p:handoutMasterIdLst>
  <p:sldIdLst>
    <p:sldId id="299" r:id="rId4"/>
    <p:sldId id="381" r:id="rId5"/>
    <p:sldId id="386" r:id="rId6"/>
    <p:sldId id="369" r:id="rId7"/>
    <p:sldId id="382" r:id="rId8"/>
    <p:sldId id="383" r:id="rId9"/>
    <p:sldId id="352" r:id="rId10"/>
  </p:sldIdLst>
  <p:sldSz cx="12192000" cy="6858000"/>
  <p:notesSz cx="6805613" cy="99441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B16435"/>
    <a:srgbClr val="FFFF00"/>
    <a:srgbClr val="00FFFF"/>
    <a:srgbClr val="FF0000"/>
    <a:srgbClr val="F6B192"/>
    <a:srgbClr val="FFD243"/>
    <a:srgbClr val="FF3300"/>
    <a:srgbClr val="92D050"/>
    <a:srgbClr val="2BA6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474" autoAdjust="0"/>
    <p:restoredTop sz="94715" autoAdjust="0"/>
  </p:normalViewPr>
  <p:slideViewPr>
    <p:cSldViewPr>
      <p:cViewPr varScale="1">
        <p:scale>
          <a:sx n="90" d="100"/>
          <a:sy n="90" d="100"/>
        </p:scale>
        <p:origin x="102" y="42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334" y="-114"/>
      </p:cViewPr>
      <p:guideLst>
        <p:guide orient="horz" pos="3133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8252" cy="49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675" tIns="45837" rIns="91675" bIns="45837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7362" y="0"/>
            <a:ext cx="2948251" cy="49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675" tIns="45837" rIns="91675" bIns="4583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6338"/>
            <a:ext cx="2948252" cy="49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675" tIns="45837" rIns="91675" bIns="45837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7362" y="9446338"/>
            <a:ext cx="2948251" cy="49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675" tIns="45837" rIns="91675" bIns="4583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panose="020B0604020202020204" pitchFamily="34" charset="0"/>
                <a:ea typeface="Gulim" pitchFamily="34" charset="-127"/>
              </a:defRPr>
            </a:lvl1pPr>
          </a:lstStyle>
          <a:p>
            <a:fld id="{8DC3FDBF-EE3A-48C4-BF9A-2B5F62254B19}" type="slidenum">
              <a:rPr lang="en-GB" altLang="ko-KR"/>
              <a:pPr/>
              <a:t>‹#›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33164089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8252" cy="49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675" tIns="45837" rIns="91675" bIns="45837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7362" y="0"/>
            <a:ext cx="2948251" cy="49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675" tIns="45837" rIns="91675" bIns="4583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3" y="746125"/>
            <a:ext cx="6630987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7522" y="4723170"/>
            <a:ext cx="4990571" cy="4475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675" tIns="45837" rIns="91675" bIns="4583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noProof="0" smtClean="0"/>
              <a:t>Click to edit Master text styles</a:t>
            </a:r>
          </a:p>
          <a:p>
            <a:pPr lvl="1"/>
            <a:r>
              <a:rPr lang="en-GB" altLang="ko-KR" noProof="0" smtClean="0"/>
              <a:t>Second level</a:t>
            </a:r>
          </a:p>
          <a:p>
            <a:pPr lvl="2"/>
            <a:r>
              <a:rPr lang="en-GB" altLang="ko-KR" noProof="0" smtClean="0"/>
              <a:t>Third level</a:t>
            </a:r>
          </a:p>
          <a:p>
            <a:pPr lvl="3"/>
            <a:r>
              <a:rPr lang="en-GB" altLang="ko-KR" noProof="0" smtClean="0"/>
              <a:t>Fourth level</a:t>
            </a:r>
          </a:p>
          <a:p>
            <a:pPr lvl="4"/>
            <a:r>
              <a:rPr lang="en-GB" altLang="ko-KR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6338"/>
            <a:ext cx="2948252" cy="49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675" tIns="45837" rIns="91675" bIns="45837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7362" y="9446338"/>
            <a:ext cx="2948251" cy="49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675" tIns="45837" rIns="91675" bIns="4583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panose="020B0604020202020204" pitchFamily="34" charset="0"/>
                <a:ea typeface="Gulim" pitchFamily="34" charset="-127"/>
              </a:defRPr>
            </a:lvl1pPr>
          </a:lstStyle>
          <a:p>
            <a:fld id="{B88B0324-2532-4BA3-BBCD-5E0AA3B42B84}" type="slidenum">
              <a:rPr lang="en-GB" altLang="ko-KR"/>
              <a:pPr/>
              <a:t>‹#›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11823078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5655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7894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578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525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314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102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891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679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97FDE8F-2A47-4BA6-8BA8-ADD07CE4FC0F}" type="slidenum">
              <a:rPr lang="en-GB" altLang="ko-KR"/>
              <a:pPr>
                <a:spcBef>
                  <a:spcPct val="0"/>
                </a:spcBef>
              </a:pPr>
              <a:t>1</a:t>
            </a:fld>
            <a:endParaRPr lang="en-GB" altLang="ko-KR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3" y="746125"/>
            <a:ext cx="6630987" cy="3730625"/>
          </a:xfrm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ko-KR" smtClean="0">
              <a:latin typeface="Arial" panose="020B0604020202020204" pitchFamily="34" charset="0"/>
              <a:ea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1510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5655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7894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578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525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314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102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891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679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F49A183-DDCC-401D-BA28-F09099DF4624}" type="slidenum">
              <a:rPr lang="en-GB" altLang="ko-KR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</a:t>
            </a:fld>
            <a:endParaRPr lang="en-GB" altLang="ko-KR">
              <a:solidFill>
                <a:srgbClr val="000000"/>
              </a:solidFill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3" y="746125"/>
            <a:ext cx="6630987" cy="3730625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ko-KR" smtClean="0">
              <a:latin typeface="Arial" panose="020B0604020202020204" pitchFamily="34" charset="0"/>
              <a:ea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840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5655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7894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578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525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314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102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891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679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F49A183-DDCC-401D-BA28-F09099DF4624}" type="slidenum">
              <a:rPr lang="en-GB" altLang="ko-KR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</a:t>
            </a:fld>
            <a:endParaRPr lang="en-GB" altLang="ko-KR">
              <a:solidFill>
                <a:srgbClr val="000000"/>
              </a:solidFill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3" y="746125"/>
            <a:ext cx="6630987" cy="3730625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ko-KR" smtClean="0">
              <a:latin typeface="Arial" panose="020B0604020202020204" pitchFamily="34" charset="0"/>
              <a:ea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13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5655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7894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578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525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314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102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891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679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F49A183-DDCC-401D-BA28-F09099DF4624}" type="slidenum">
              <a:rPr lang="en-GB" altLang="ko-KR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</a:t>
            </a:fld>
            <a:endParaRPr lang="en-GB" altLang="ko-KR">
              <a:solidFill>
                <a:srgbClr val="000000"/>
              </a:solidFill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3" y="746125"/>
            <a:ext cx="6630987" cy="3730625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ko-KR" smtClean="0">
              <a:latin typeface="Arial" panose="020B0604020202020204" pitchFamily="34" charset="0"/>
              <a:ea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7957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5655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7894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578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525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314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102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891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679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F49A183-DDCC-401D-BA28-F09099DF4624}" type="slidenum">
              <a:rPr lang="en-GB" altLang="ko-KR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</a:t>
            </a:fld>
            <a:endParaRPr lang="en-GB" altLang="ko-KR">
              <a:solidFill>
                <a:srgbClr val="000000"/>
              </a:solidFill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3" y="746125"/>
            <a:ext cx="6630987" cy="3730625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ko-KR" smtClean="0">
              <a:latin typeface="Arial" panose="020B0604020202020204" pitchFamily="34" charset="0"/>
              <a:ea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9734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5655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7894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578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525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314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102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891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679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F49A183-DDCC-401D-BA28-F09099DF4624}" type="slidenum">
              <a:rPr lang="en-GB" altLang="ko-KR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</a:t>
            </a:fld>
            <a:endParaRPr lang="en-GB" altLang="ko-KR">
              <a:solidFill>
                <a:srgbClr val="000000"/>
              </a:solidFill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3" y="746125"/>
            <a:ext cx="6630987" cy="3730625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ko-KR" smtClean="0">
              <a:latin typeface="Arial" panose="020B0604020202020204" pitchFamily="34" charset="0"/>
              <a:ea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015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0" y="692150"/>
            <a:ext cx="12192000" cy="0"/>
          </a:xfrm>
          <a:prstGeom prst="line">
            <a:avLst/>
          </a:prstGeom>
          <a:noFill/>
          <a:ln w="15875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2400"/>
          </a:p>
        </p:txBody>
      </p:sp>
      <p:pic>
        <p:nvPicPr>
          <p:cNvPr id="5" name="Picture 5" descr="PowerPoint_Graphi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35700"/>
            <a:ext cx="12192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1277600" y="6477001"/>
            <a:ext cx="781051" cy="214313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ko-KR" sz="800">
                <a:latin typeface="Arial" panose="020B0604020202020204" pitchFamily="34" charset="0"/>
                <a:ea typeface="Gulim" pitchFamily="34" charset="-127"/>
              </a:rPr>
              <a:t>Page </a:t>
            </a:r>
            <a:fld id="{4BE2847C-BA9C-44AF-8C44-E44363B47FDC}" type="slidenum">
              <a:rPr lang="en-GB" altLang="ko-KR" sz="800">
                <a:latin typeface="Arial" panose="020B0604020202020204" pitchFamily="34" charset="0"/>
                <a:ea typeface="Gulim" pitchFamily="34" charset="-127"/>
              </a:rPr>
              <a:pPr>
                <a:spcBef>
                  <a:spcPct val="50000"/>
                </a:spcBef>
              </a:pPr>
              <a:t>‹#›</a:t>
            </a:fld>
            <a:endParaRPr lang="en-GB" altLang="ko-KR" sz="800">
              <a:latin typeface="Arial" panose="020B0604020202020204" pitchFamily="34" charset="0"/>
              <a:ea typeface="Gulim" pitchFamily="34" charset="-127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219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5450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683856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64117" y="1752600"/>
            <a:ext cx="52324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9717" y="1752600"/>
            <a:ext cx="52324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14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365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959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022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904114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18327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453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65117" y="609600"/>
            <a:ext cx="26670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64117" y="609600"/>
            <a:ext cx="77978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3495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64117" y="609600"/>
            <a:ext cx="10668000" cy="9144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764117" y="1752600"/>
            <a:ext cx="5232400" cy="43434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9717" y="1752600"/>
            <a:ext cx="5232400" cy="43434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7815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764117" y="609600"/>
            <a:ext cx="10668000" cy="54864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085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제목, 내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64117" y="609600"/>
            <a:ext cx="10668000" cy="9144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64117" y="1752600"/>
            <a:ext cx="5232400" cy="43434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199717" y="1752600"/>
            <a:ext cx="5232400" cy="43434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1984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35CA7A-900D-48E1-91B9-785414396CC2}" type="datetimeFigureOut">
              <a:rPr lang="en-US"/>
              <a:pPr>
                <a:defRPr/>
              </a:pPr>
              <a:t>10/12/2021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8E47A9-F4EE-4291-99CA-ADED06539E5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51210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FB7834-D188-4DB5-BEAB-70D3A5867538}" type="datetimeFigureOut">
              <a:rPr lang="en-US"/>
              <a:pPr>
                <a:defRPr/>
              </a:pPr>
              <a:t>10/12/2021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E367A9-E229-48A5-88E0-293D0A20D57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783357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686B6E-D6AE-47B4-B4BC-E2B6A0E37A78}" type="datetimeFigureOut">
              <a:rPr lang="en-US"/>
              <a:pPr>
                <a:defRPr/>
              </a:pPr>
              <a:t>10/12/2021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C036AA-F710-4EA9-91A5-AE24FF8F38C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328915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D7565-D7F0-4253-AD2D-63A3DBB488ED}" type="datetimeFigureOut">
              <a:rPr lang="en-US"/>
              <a:pPr>
                <a:defRPr/>
              </a:pPr>
              <a:t>10/12/2021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55F90F-3FBB-4489-B0D9-AB4376A305C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678070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306990-226A-4B11-B3BC-BE6325A6D4DD}" type="datetimeFigureOut">
              <a:rPr lang="en-US"/>
              <a:pPr>
                <a:defRPr/>
              </a:pPr>
              <a:t>10/12/2021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CC9756-CEC2-40D2-9DFF-6FD3EF8C7E3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229856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2DCFC0-2575-4B52-B788-290D68860683}" type="datetimeFigureOut">
              <a:rPr lang="en-US"/>
              <a:pPr>
                <a:defRPr/>
              </a:pPr>
              <a:t>10/12/2021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E3D0B3-41EF-46A1-A410-AE9B656031F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861492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F97900-3E57-4DCC-867B-99B1D67C1078}" type="datetimeFigureOut">
              <a:rPr lang="en-US"/>
              <a:pPr>
                <a:defRPr/>
              </a:pPr>
              <a:t>10/12/2021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624C3D-CB6C-4EA4-BC5C-66353E2697B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678523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CB685A-DDF5-4E17-BEA9-B9752F4675F5}" type="datetimeFigureOut">
              <a:rPr lang="en-US"/>
              <a:pPr>
                <a:defRPr/>
              </a:pPr>
              <a:t>10/12/2021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82A425-5F16-4E85-9B6B-CF023B0A57F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498298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2F92E8-34D8-47C6-BE3D-49FF7DA9A673}" type="datetimeFigureOut">
              <a:rPr lang="en-US"/>
              <a:pPr>
                <a:defRPr/>
              </a:pPr>
              <a:t>10/12/2021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FF5C0D-C620-42DC-892B-40CA633925F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002980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31D9AF-63A1-4383-B34B-C913EED01AE9}" type="datetimeFigureOut">
              <a:rPr lang="en-US"/>
              <a:pPr>
                <a:defRPr/>
              </a:pPr>
              <a:t>10/12/2021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2504B0-6A26-4B4F-924D-EEC90733020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984641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CDFBF-2DDF-4EF7-8A44-FBDE3503BC25}" type="datetimeFigureOut">
              <a:rPr lang="en-US"/>
              <a:pPr>
                <a:defRPr/>
              </a:pPr>
              <a:t>10/12/2021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F1FD01-C31A-4184-A53C-805F6589FA6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355250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noProof="0" dirty="0" err="1" smtClean="0"/>
              <a:t>Haga</a:t>
            </a:r>
            <a:r>
              <a:rPr lang="en-US" noProof="0" dirty="0" smtClean="0"/>
              <a:t> </a:t>
            </a:r>
            <a:r>
              <a:rPr lang="en-US" noProof="0" dirty="0" err="1" smtClean="0"/>
              <a:t>clic</a:t>
            </a:r>
            <a:r>
              <a:rPr lang="en-US" noProof="0" dirty="0" smtClean="0"/>
              <a:t> </a:t>
            </a:r>
            <a:r>
              <a:rPr lang="en-US" noProof="0" dirty="0" err="1" smtClean="0"/>
              <a:t>para</a:t>
            </a:r>
            <a:r>
              <a:rPr lang="en-US" noProof="0" dirty="0" smtClean="0"/>
              <a:t> </a:t>
            </a:r>
            <a:r>
              <a:rPr lang="en-US" noProof="0" dirty="0" err="1" smtClean="0"/>
              <a:t>modificar</a:t>
            </a:r>
            <a:r>
              <a:rPr lang="en-US" noProof="0" dirty="0" smtClean="0"/>
              <a:t> el </a:t>
            </a:r>
            <a:r>
              <a:rPr lang="en-US" noProof="0" dirty="0" err="1" smtClean="0"/>
              <a:t>estilo</a:t>
            </a:r>
            <a:r>
              <a:rPr lang="en-US" noProof="0" dirty="0" smtClean="0"/>
              <a:t> de </a:t>
            </a:r>
            <a:r>
              <a:rPr lang="en-US" noProof="0" dirty="0" err="1" smtClean="0"/>
              <a:t>título</a:t>
            </a:r>
            <a:r>
              <a:rPr lang="en-US" noProof="0" dirty="0" smtClean="0"/>
              <a:t> del </a:t>
            </a:r>
            <a:r>
              <a:rPr lang="en-US" noProof="0" dirty="0" err="1" smtClean="0"/>
              <a:t>patrón</a:t>
            </a:r>
            <a:endParaRPr lang="en-US" noProof="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noProof="0" dirty="0" err="1" smtClean="0"/>
              <a:t>Haga</a:t>
            </a:r>
            <a:r>
              <a:rPr lang="en-US" noProof="0" dirty="0" smtClean="0"/>
              <a:t> </a:t>
            </a:r>
            <a:r>
              <a:rPr lang="en-US" noProof="0" dirty="0" err="1" smtClean="0"/>
              <a:t>clic</a:t>
            </a:r>
            <a:r>
              <a:rPr lang="en-US" noProof="0" dirty="0" smtClean="0"/>
              <a:t> </a:t>
            </a:r>
            <a:r>
              <a:rPr lang="en-US" noProof="0" dirty="0" err="1" smtClean="0"/>
              <a:t>para</a:t>
            </a:r>
            <a:r>
              <a:rPr lang="en-US" noProof="0" dirty="0" smtClean="0"/>
              <a:t> </a:t>
            </a:r>
            <a:r>
              <a:rPr lang="en-US" noProof="0" dirty="0" err="1" smtClean="0"/>
              <a:t>modificar</a:t>
            </a:r>
            <a:r>
              <a:rPr lang="en-US" noProof="0" dirty="0" smtClean="0"/>
              <a:t> el </a:t>
            </a:r>
            <a:r>
              <a:rPr lang="en-US" noProof="0" dirty="0" err="1" smtClean="0"/>
              <a:t>estilo</a:t>
            </a:r>
            <a:r>
              <a:rPr lang="en-US" noProof="0" dirty="0" smtClean="0"/>
              <a:t> de </a:t>
            </a:r>
            <a:r>
              <a:rPr lang="en-US" noProof="0" dirty="0" err="1" smtClean="0"/>
              <a:t>subtítulo</a:t>
            </a:r>
            <a:r>
              <a:rPr lang="en-US" noProof="0" dirty="0" smtClean="0"/>
              <a:t> del </a:t>
            </a:r>
            <a:r>
              <a:rPr lang="en-US" noProof="0" dirty="0" err="1" smtClean="0"/>
              <a:t>patrón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78814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056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3752993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2301" y="908050"/>
            <a:ext cx="5516033" cy="5218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341534" y="908050"/>
            <a:ext cx="5516033" cy="5218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6568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9559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s-ES" dirty="0" smtClean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2308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1110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723576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7724376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1018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9046634" y="1"/>
            <a:ext cx="2810933" cy="6126163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1" y="1"/>
            <a:ext cx="8233833" cy="6126163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713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0"/>
            <a:ext cx="11247967" cy="723900"/>
          </a:xfrm>
        </p:spPr>
        <p:txBody>
          <a:bodyPr/>
          <a:lstStyle>
            <a:lvl1pPr>
              <a:defRPr sz="2800"/>
            </a:lvl1pPr>
          </a:lstStyle>
          <a:p>
            <a:r>
              <a:rPr lang="es-ES" dirty="0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622300" y="908050"/>
            <a:ext cx="11235267" cy="5218113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  <p:extLst>
      <p:ext uri="{BB962C8B-B14F-4D97-AF65-F5344CB8AC3E}">
        <p14:creationId xmlns:p14="http://schemas.microsoft.com/office/powerpoint/2010/main" val="6760493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609600" y="1"/>
            <a:ext cx="11247967" cy="612616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0215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0"/>
            <a:ext cx="11247967" cy="7239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622301" y="908050"/>
            <a:ext cx="5516033" cy="521811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341534" y="908050"/>
            <a:ext cx="5516033" cy="521811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7773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, text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0"/>
            <a:ext cx="11247967" cy="7239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622301" y="908050"/>
            <a:ext cx="5516033" cy="521811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6341534" y="908051"/>
            <a:ext cx="5516033" cy="253206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6341534" y="3592513"/>
            <a:ext cx="5516033" cy="253365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931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image" Target="../media/image2.emf"/><Relationship Id="rId2" Type="http://schemas.openxmlformats.org/officeDocument/2006/relationships/slideLayout" Target="../slideLayouts/slideLayout27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19" Type="http://schemas.openxmlformats.org/officeDocument/2006/relationships/image" Target="../media/image4.jpeg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spect="1" noChangeArrowheads="1"/>
          </p:cNvSpPr>
          <p:nvPr>
            <p:ph type="title"/>
          </p:nvPr>
        </p:nvSpPr>
        <p:spPr bwMode="auto">
          <a:xfrm>
            <a:off x="764117" y="609600"/>
            <a:ext cx="10668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4117" y="1752600"/>
            <a:ext cx="106680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text styles</a:t>
            </a:r>
          </a:p>
          <a:p>
            <a:pPr lvl="1"/>
            <a:r>
              <a:rPr lang="en-GB" altLang="ko-KR" smtClean="0"/>
              <a:t>Second level</a:t>
            </a:r>
          </a:p>
          <a:p>
            <a:pPr lvl="2"/>
            <a:r>
              <a:rPr lang="en-GB" altLang="ko-KR" smtClean="0"/>
              <a:t>Third level</a:t>
            </a:r>
          </a:p>
          <a:p>
            <a:pPr lvl="3"/>
            <a:r>
              <a:rPr lang="en-GB" altLang="ko-KR" smtClean="0"/>
              <a:t>Fourth level</a:t>
            </a:r>
          </a:p>
          <a:p>
            <a:pPr lvl="4"/>
            <a:r>
              <a:rPr lang="en-GB" altLang="ko-KR" smtClean="0"/>
              <a:t>Fifth level</a:t>
            </a:r>
          </a:p>
        </p:txBody>
      </p:sp>
      <p:sp>
        <p:nvSpPr>
          <p:cNvPr id="1028" name="Line 13"/>
          <p:cNvSpPr>
            <a:spLocks noChangeShapeType="1"/>
          </p:cNvSpPr>
          <p:nvPr/>
        </p:nvSpPr>
        <p:spPr bwMode="auto">
          <a:xfrm>
            <a:off x="0" y="692150"/>
            <a:ext cx="12192000" cy="0"/>
          </a:xfrm>
          <a:prstGeom prst="line">
            <a:avLst/>
          </a:prstGeom>
          <a:noFill/>
          <a:ln w="25400">
            <a:solidFill>
              <a:srgbClr val="00206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2400"/>
          </a:p>
        </p:txBody>
      </p:sp>
      <p:pic>
        <p:nvPicPr>
          <p:cNvPr id="1029" name="Picture 14" descr="PowerPoint_Graphic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35700"/>
            <a:ext cx="12192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11277600" y="6477001"/>
            <a:ext cx="781051" cy="214313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ko-KR" sz="800">
                <a:latin typeface="Arial" panose="020B0604020202020204" pitchFamily="34" charset="0"/>
                <a:ea typeface="Gulim" pitchFamily="34" charset="-127"/>
              </a:rPr>
              <a:t>Page </a:t>
            </a:r>
            <a:fld id="{0A723E22-55F9-4874-9CF6-DB6658CB1E0F}" type="slidenum">
              <a:rPr lang="en-GB" altLang="ko-KR" sz="800">
                <a:latin typeface="Arial" panose="020B0604020202020204" pitchFamily="34" charset="0"/>
                <a:ea typeface="Gulim" pitchFamily="34" charset="-127"/>
              </a:rPr>
              <a:pPr>
                <a:spcBef>
                  <a:spcPct val="50000"/>
                </a:spcBef>
              </a:pPr>
              <a:t>‹#›</a:t>
            </a:fld>
            <a:endParaRPr lang="en-GB" altLang="ko-KR" sz="800">
              <a:latin typeface="Arial" panose="020B0604020202020204" pitchFamily="34" charset="0"/>
              <a:ea typeface="Gulim" pitchFamily="34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2313" r:id="rId1"/>
    <p:sldLayoutId id="2147492274" r:id="rId2"/>
    <p:sldLayoutId id="2147492275" r:id="rId3"/>
    <p:sldLayoutId id="2147492276" r:id="rId4"/>
    <p:sldLayoutId id="2147492277" r:id="rId5"/>
    <p:sldLayoutId id="2147492278" r:id="rId6"/>
    <p:sldLayoutId id="2147492279" r:id="rId7"/>
    <p:sldLayoutId id="2147492280" r:id="rId8"/>
    <p:sldLayoutId id="2147492281" r:id="rId9"/>
    <p:sldLayoutId id="2147492282" r:id="rId10"/>
    <p:sldLayoutId id="2147492283" r:id="rId11"/>
    <p:sldLayoutId id="2147492284" r:id="rId12"/>
    <p:sldLayoutId id="2147492285" r:id="rId13"/>
    <p:sldLayoutId id="2147492286" r:id="rId14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defTabSz="795338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57238" indent="-279400" algn="l" defTabSz="795338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36650" indent="-188913" algn="l" defTabSz="7953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511300" indent="-184150" algn="l" defTabSz="795338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1885950" indent="-184150" algn="l" defTabSz="795338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343150" indent="-184150" algn="l" defTabSz="795338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800350" indent="-184150" algn="l" defTabSz="795338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257550" indent="-184150" algn="l" defTabSz="795338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714750" indent="-184150" algn="l" defTabSz="795338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GB" altLang="en-US" smtClean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GB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D2DCE7F-4157-4AE0-BABE-F2784A1C218D}" type="datetimeFigureOut">
              <a:rPr lang="en-US"/>
              <a:pPr>
                <a:defRPr/>
              </a:pPr>
              <a:t>10/12/2021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898989"/>
                </a:solidFill>
              </a:defRPr>
            </a:lvl1pPr>
          </a:lstStyle>
          <a:p>
            <a:fld id="{026628E5-95E8-4F27-995C-BE3258EC52C9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2287" r:id="rId1"/>
    <p:sldLayoutId id="2147492288" r:id="rId2"/>
    <p:sldLayoutId id="2147492289" r:id="rId3"/>
    <p:sldLayoutId id="2147492290" r:id="rId4"/>
    <p:sldLayoutId id="2147492291" r:id="rId5"/>
    <p:sldLayoutId id="2147492292" r:id="rId6"/>
    <p:sldLayoutId id="2147492293" r:id="rId7"/>
    <p:sldLayoutId id="2147492294" r:id="rId8"/>
    <p:sldLayoutId id="2147492295" r:id="rId9"/>
    <p:sldLayoutId id="2147492296" r:id="rId10"/>
    <p:sldLayoutId id="2147492297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16 Conector recto"/>
          <p:cNvCxnSpPr/>
          <p:nvPr/>
        </p:nvCxnSpPr>
        <p:spPr bwMode="auto">
          <a:xfrm rot="5400000">
            <a:off x="-2856479" y="3427941"/>
            <a:ext cx="6858001" cy="2117"/>
          </a:xfrm>
          <a:prstGeom prst="line">
            <a:avLst/>
          </a:prstGeom>
          <a:solidFill>
            <a:schemeClr val="accent1"/>
          </a:solidFill>
          <a:ln w="25400" cap="flat" cmpd="sng" algn="ctr">
            <a:gradFill flip="none" rotWithShape="1">
              <a:gsLst>
                <a:gs pos="100000">
                  <a:srgbClr val="002060">
                    <a:alpha val="0"/>
                  </a:srgbClr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0"/>
            <a:ext cx="11247967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Estilo de título	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2300" y="908050"/>
            <a:ext cx="11235267" cy="521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Haga clic para modificar el estilo de texto del patrón</a:t>
            </a:r>
          </a:p>
          <a:p>
            <a:pPr lvl="1"/>
            <a:r>
              <a:rPr lang="en-US" altLang="en-US" smtClean="0"/>
              <a:t>Segundo nivel</a:t>
            </a:r>
          </a:p>
          <a:p>
            <a:pPr lvl="2"/>
            <a:r>
              <a:rPr lang="en-US" altLang="en-US" smtClean="0"/>
              <a:t>Tercer nivel</a:t>
            </a:r>
          </a:p>
          <a:p>
            <a:pPr lvl="3"/>
            <a:r>
              <a:rPr lang="en-US" altLang="en-US" smtClean="0"/>
              <a:t>Cuarto nivel</a:t>
            </a:r>
          </a:p>
          <a:p>
            <a:pPr lvl="4"/>
            <a:r>
              <a:rPr lang="en-US" altLang="en-US" smtClean="0"/>
              <a:t>Quinto nivel</a:t>
            </a:r>
          </a:p>
        </p:txBody>
      </p:sp>
      <p:sp>
        <p:nvSpPr>
          <p:cNvPr id="3077" name="Text Box 31"/>
          <p:cNvSpPr txBox="1">
            <a:spLocks noChangeArrowheads="1"/>
          </p:cNvSpPr>
          <p:nvPr/>
        </p:nvSpPr>
        <p:spPr bwMode="auto">
          <a:xfrm rot="16200000">
            <a:off x="-2285206" y="3118014"/>
            <a:ext cx="535781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100" b="1" smtClean="0">
                <a:solidFill>
                  <a:srgbClr val="72BFC5"/>
                </a:solidFill>
                <a:latin typeface="Calibri" pitchFamily="34" charset="0"/>
              </a:rPr>
              <a:t> </a:t>
            </a:r>
          </a:p>
        </p:txBody>
      </p:sp>
      <p:pic>
        <p:nvPicPr>
          <p:cNvPr id="3078" name="Picture 36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1" y="6124576"/>
            <a:ext cx="1056217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0" name="29 Conector recto"/>
          <p:cNvCxnSpPr/>
          <p:nvPr/>
        </p:nvCxnSpPr>
        <p:spPr bwMode="auto">
          <a:xfrm>
            <a:off x="0" y="714356"/>
            <a:ext cx="12192000" cy="1588"/>
          </a:xfrm>
          <a:prstGeom prst="line">
            <a:avLst/>
          </a:prstGeom>
          <a:solidFill>
            <a:schemeClr val="accent1"/>
          </a:solidFill>
          <a:ln w="25400" cap="flat" cmpd="sng" algn="ctr">
            <a:gradFill flip="none" rotWithShape="1">
              <a:gsLst>
                <a:gs pos="100000">
                  <a:srgbClr val="002060">
                    <a:alpha val="0"/>
                  </a:srgbClr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9167285" y="6367463"/>
            <a:ext cx="2592916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100" b="1">
                <a:solidFill>
                  <a:srgbClr val="72BFC5"/>
                </a:solidFill>
                <a:latin typeface="Calibri" panose="020F0502020204030204" pitchFamily="34" charset="0"/>
              </a:rPr>
              <a:t>                                                  </a:t>
            </a:r>
            <a:fld id="{2B7AA929-B4F1-4004-8304-90F3BDBC70FC}" type="slidenum">
              <a:rPr lang="en-US" altLang="en-US" sz="1100" b="1">
                <a:solidFill>
                  <a:srgbClr val="72BFC5"/>
                </a:solidFill>
                <a:latin typeface="Calibri" panose="020F0502020204030204" pitchFamily="34" charset="0"/>
              </a:rPr>
              <a:pPr eaLnBrk="1" hangingPunct="1">
                <a:spcBef>
                  <a:spcPct val="50000"/>
                </a:spcBef>
              </a:pPr>
              <a:t>‹#›</a:t>
            </a:fld>
            <a:endParaRPr lang="en-US" altLang="en-US" sz="1100" b="1">
              <a:solidFill>
                <a:srgbClr val="72BFC5"/>
              </a:solidFill>
              <a:latin typeface="Calibri" panose="020F0502020204030204" pitchFamily="34" charset="0"/>
            </a:endParaRPr>
          </a:p>
        </p:txBody>
      </p:sp>
      <p:pic>
        <p:nvPicPr>
          <p:cNvPr id="3081" name="Picture 2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1" y="6284913"/>
            <a:ext cx="3327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2" name="Picture 11" descr="logo_ciemat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467" y="6226175"/>
            <a:ext cx="26670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2298" r:id="rId1"/>
    <p:sldLayoutId id="2147492299" r:id="rId2"/>
    <p:sldLayoutId id="2147492300" r:id="rId3"/>
    <p:sldLayoutId id="2147492301" r:id="rId4"/>
    <p:sldLayoutId id="2147492302" r:id="rId5"/>
    <p:sldLayoutId id="2147492303" r:id="rId6"/>
    <p:sldLayoutId id="2147492304" r:id="rId7"/>
    <p:sldLayoutId id="2147492305" r:id="rId8"/>
    <p:sldLayoutId id="2147492306" r:id="rId9"/>
    <p:sldLayoutId id="2147492307" r:id="rId10"/>
    <p:sldLayoutId id="2147492308" r:id="rId11"/>
    <p:sldLayoutId id="2147492309" r:id="rId12"/>
    <p:sldLayoutId id="2147492310" r:id="rId13"/>
    <p:sldLayoutId id="2147492311" r:id="rId14"/>
    <p:sldLayoutId id="2147492312" r:id="rId15"/>
  </p:sldLayoutIdLst>
  <p:timing>
    <p:tnLst>
      <p:par>
        <p:cTn id="1" dur="indefinite" restart="never" nodeType="tmRoot"/>
      </p:par>
    </p:tnLst>
  </p:timing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Calibri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Calibri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Calibri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Calibri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q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2"/>
          <p:cNvSpPr>
            <a:spLocks noGrp="1"/>
          </p:cNvSpPr>
          <p:nvPr>
            <p:ph type="title"/>
          </p:nvPr>
        </p:nvSpPr>
        <p:spPr>
          <a:xfrm>
            <a:off x="335360" y="1203325"/>
            <a:ext cx="6703503" cy="4311650"/>
          </a:xfrm>
        </p:spPr>
        <p:txBody>
          <a:bodyPr/>
          <a:lstStyle/>
          <a:p>
            <a:r>
              <a:rPr lang="en-US" altLang="en-US" sz="36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Configuration </a:t>
            </a:r>
            <a:r>
              <a:rPr lang="en-US" altLang="en-US" sz="36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Objects</a:t>
            </a:r>
            <a:endParaRPr lang="en-US" altLang="en-US" sz="36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12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168" y="782638"/>
            <a:ext cx="3671887" cy="473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992" y="807175"/>
            <a:ext cx="5871100" cy="5080400"/>
          </a:xfrm>
          <a:prstGeom prst="rect">
            <a:avLst/>
          </a:prstGeom>
        </p:spPr>
      </p:pic>
      <p:sp>
        <p:nvSpPr>
          <p:cNvPr id="6146" name="Rectangle 2"/>
          <p:cNvSpPr>
            <a:spLocks noGrp="1" noChangeAspect="1" noChangeArrowheads="1"/>
          </p:cNvSpPr>
          <p:nvPr>
            <p:ph type="title"/>
          </p:nvPr>
        </p:nvSpPr>
        <p:spPr>
          <a:xfrm>
            <a:off x="767408" y="116632"/>
            <a:ext cx="10873208" cy="476250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GB" dirty="0" smtClean="0"/>
              <a:t>Plant I&amp;C Configuration</a:t>
            </a:r>
            <a:endParaRPr lang="en-US" sz="360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Arial" charset="0"/>
            </a:endParaRPr>
          </a:p>
        </p:txBody>
      </p:sp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60656" y="807175"/>
            <a:ext cx="6023375" cy="4745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Plant Control Design Handbook requires that plant system developers provide configuration for their plant system</a:t>
            </a:r>
            <a:r>
              <a:rPr lang="en-GB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.</a:t>
            </a:r>
          </a:p>
          <a:p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Integration of the plant system into the ITER CODAC I&amp;C system is made smoother if the configuration complies with CODAC. </a:t>
            </a:r>
            <a:endParaRPr lang="en-GB" dirty="0" smtClean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  <a:p>
            <a:pPr lvl="0"/>
            <a:r>
              <a:rPr lang="en-GB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Configuration of Plant I&amp;C is managed by Central I&amp;C (specifically SUP-CONFIG)</a:t>
            </a:r>
          </a:p>
          <a:p>
            <a:pPr lvl="0"/>
            <a:r>
              <a:rPr lang="en-US" u="sng" dirty="0" smtClean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Not in scope of this discussion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– Configurations other than PV’s (EPICS process variables) on PON (Plant Operation Network).</a:t>
            </a:r>
            <a:endParaRPr lang="en-GB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241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spect="1" noChangeArrowheads="1"/>
          </p:cNvSpPr>
          <p:nvPr>
            <p:ph type="title"/>
          </p:nvPr>
        </p:nvSpPr>
        <p:spPr>
          <a:xfrm>
            <a:off x="767408" y="116632"/>
            <a:ext cx="10873208" cy="476250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GB" dirty="0" smtClean="0"/>
              <a:t>Which Configuration will be managed by </a:t>
            </a:r>
            <a:r>
              <a:rPr lang="en-GB" sz="2800" dirty="0" smtClean="0"/>
              <a:t>SUP-CONFIG</a:t>
            </a:r>
            <a:r>
              <a:rPr lang="en-GB" dirty="0" smtClean="0"/>
              <a:t>?</a:t>
            </a:r>
            <a:endParaRPr lang="en-US" sz="360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Arial" charset="0"/>
            </a:endParaRPr>
          </a:p>
        </p:txBody>
      </p:sp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60656" y="807175"/>
            <a:ext cx="6023375" cy="5484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Only </a:t>
            </a:r>
            <a:r>
              <a:rPr lang="en-GB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those Plant 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I&amp;C configuration/parameters which </a:t>
            </a:r>
            <a:r>
              <a:rPr lang="en-GB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need 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to be </a:t>
            </a:r>
            <a:r>
              <a:rPr lang="en-GB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changed/applied 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before the start of a pulse can be managed by </a:t>
            </a:r>
            <a:r>
              <a:rPr lang="en-GB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SUP-CONFIG.</a:t>
            </a:r>
          </a:p>
          <a:p>
            <a:r>
              <a:rPr lang="en-GB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In 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other words SUP-CONFIG </a:t>
            </a:r>
            <a:r>
              <a:rPr lang="en-GB" b="1" u="sng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will not change </a:t>
            </a:r>
            <a:r>
              <a:rPr lang="en-GB" b="1" u="sng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the configuration of Plant I&amp;C </a:t>
            </a:r>
            <a:r>
              <a:rPr lang="en-GB" b="1" u="sng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during the pulse</a:t>
            </a:r>
            <a:r>
              <a:rPr lang="en-GB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.</a:t>
            </a:r>
          </a:p>
          <a:p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The Plant I&amp;C designers (through the advice from TROs) need to </a:t>
            </a:r>
            <a:r>
              <a:rPr lang="en-US" b="1" u="sng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formulate the configuration strategy </a:t>
            </a:r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i.e. which parameters need to be configured through SUP-CONFIG.</a:t>
            </a:r>
          </a:p>
          <a:p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Configuration objects are at the heart of defining Plant I&amp;C Configuration</a:t>
            </a:r>
            <a:r>
              <a:rPr lang="en-GB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. </a:t>
            </a:r>
            <a:endParaRPr lang="en-GB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6816080" y="3501008"/>
            <a:ext cx="3096344" cy="1800200"/>
          </a:xfrm>
          <a:prstGeom prst="rect">
            <a:avLst/>
          </a:prstGeom>
          <a:solidFill>
            <a:srgbClr val="B1643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dirty="0" smtClean="0"/>
          </a:p>
          <a:p>
            <a:pPr algn="ctr" eaLnBrk="0" hangingPunct="0"/>
            <a:endParaRPr lang="en-US" dirty="0"/>
          </a:p>
          <a:p>
            <a:pPr algn="ctr" eaLnBrk="0" hangingPunct="0"/>
            <a:r>
              <a:rPr lang="en-US" dirty="0" smtClean="0">
                <a:solidFill>
                  <a:srgbClr val="FFFF00"/>
                </a:solidFill>
              </a:rPr>
              <a:t>Plant I&amp;C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6816080" y="1700808"/>
            <a:ext cx="3096344" cy="18002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rgbClr val="FFFF00"/>
                </a:solidFill>
              </a:rPr>
              <a:t>Central I&amp;C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rgbClr val="FFFF00"/>
                </a:solidFill>
              </a:rPr>
              <a:t>(SUP-CONFIG)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 smtClean="0"/>
          </a:p>
        </p:txBody>
      </p:sp>
      <p:sp>
        <p:nvSpPr>
          <p:cNvPr id="9" name="Oval 8"/>
          <p:cNvSpPr/>
          <p:nvPr/>
        </p:nvSpPr>
        <p:spPr bwMode="auto">
          <a:xfrm>
            <a:off x="7968208" y="2623018"/>
            <a:ext cx="792088" cy="1800200"/>
          </a:xfrm>
          <a:prstGeom prst="ellipse">
            <a:avLst/>
          </a:prstGeom>
          <a:solidFill>
            <a:schemeClr val="bg1">
              <a:alpha val="44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entury Gothic" pitchFamily="34" charset="0"/>
            </a:endParaRPr>
          </a:p>
        </p:txBody>
      </p:sp>
      <p:cxnSp>
        <p:nvCxnSpPr>
          <p:cNvPr id="12" name="Straight Arrow Connector 11"/>
          <p:cNvCxnSpPr>
            <a:stCxn id="9" idx="7"/>
            <a:endCxn id="17" idx="1"/>
          </p:cNvCxnSpPr>
          <p:nvPr/>
        </p:nvCxnSpPr>
        <p:spPr bwMode="auto">
          <a:xfrm flipV="1">
            <a:off x="8644297" y="2886377"/>
            <a:ext cx="2060215" cy="2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/>
          <p:cNvCxnSpPr>
            <a:stCxn id="9" idx="5"/>
            <a:endCxn id="19" idx="1"/>
          </p:cNvCxnSpPr>
          <p:nvPr/>
        </p:nvCxnSpPr>
        <p:spPr bwMode="auto">
          <a:xfrm flipV="1">
            <a:off x="8644297" y="4158372"/>
            <a:ext cx="2126191" cy="12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10704512" y="2517045"/>
            <a:ext cx="14935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Conf parameters managed by SUP-CONFIG</a:t>
            </a:r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770488" y="3789040"/>
            <a:ext cx="14935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Conf parameters managed by Plant I&amp;C</a:t>
            </a:r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086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spect="1" noChangeArrowheads="1"/>
          </p:cNvSpPr>
          <p:nvPr>
            <p:ph type="title"/>
          </p:nvPr>
        </p:nvSpPr>
        <p:spPr>
          <a:xfrm>
            <a:off x="767408" y="116632"/>
            <a:ext cx="10873208" cy="476250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GB" dirty="0" smtClean="0"/>
              <a:t>What is a Configuration Object?</a:t>
            </a:r>
            <a:endParaRPr lang="en-US" sz="360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Arial" charset="0"/>
            </a:endParaRPr>
          </a:p>
        </p:txBody>
      </p:sp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9336" y="764806"/>
            <a:ext cx="7704856" cy="5139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The Configuration Object is a </a:t>
            </a:r>
            <a:r>
              <a:rPr lang="en-GB" u="sng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data object </a:t>
            </a:r>
            <a:r>
              <a:rPr lang="en-GB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(a XML file)</a:t>
            </a:r>
            <a:r>
              <a:rPr lang="en-GB" u="sng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GB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consisting of:</a:t>
            </a: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Plant I&amp;C configuration variables </a:t>
            </a:r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(EPICS PV’s)</a:t>
            </a:r>
          </a:p>
          <a:p>
            <a:pPr lvl="1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Constraints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(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that ensure consistency and correctness of the values assigned to configuration variables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)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User functions as needed (for transformation of high level variables to Plant I&amp;C variables)</a:t>
            </a:r>
          </a:p>
          <a:p>
            <a:pPr eaLnBrk="1" hangingPunct="1">
              <a:spcBef>
                <a:spcPct val="0"/>
              </a:spcBef>
            </a:pPr>
            <a:r>
              <a:rPr lang="en-GB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It is apparent from good design practices that one should avoid relying on a ‘monolithic’ configuration object (consisting of say hundreds of configuration variables).</a:t>
            </a:r>
          </a:p>
          <a:p>
            <a:pPr eaLnBrk="1" hangingPunct="1">
              <a:spcBef>
                <a:spcPct val="0"/>
              </a:spcBef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I</a:t>
            </a:r>
            <a:r>
              <a:rPr lang="en-GB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nstead should define </a:t>
            </a:r>
            <a:r>
              <a:rPr lang="en-GB" u="sng" dirty="0" smtClean="0">
                <a:solidFill>
                  <a:schemeClr val="accent2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multiple configuration objects</a:t>
            </a:r>
            <a:r>
              <a:rPr lang="en-GB" dirty="0" smtClean="0">
                <a:solidFill>
                  <a:schemeClr val="accent2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GB" dirty="0" smtClean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for each diagnostic,</a:t>
            </a:r>
            <a:r>
              <a:rPr lang="en-GB" dirty="0" smtClean="0">
                <a:solidFill>
                  <a:schemeClr val="accent2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GB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to support different use cases across all lifecycles phases (development, testing, commissioning, operation and maintenance).</a:t>
            </a:r>
          </a:p>
        </p:txBody>
      </p:sp>
      <p:sp>
        <p:nvSpPr>
          <p:cNvPr id="3" name="Oval 2"/>
          <p:cNvSpPr/>
          <p:nvPr/>
        </p:nvSpPr>
        <p:spPr bwMode="auto">
          <a:xfrm>
            <a:off x="8171892" y="836712"/>
            <a:ext cx="3744416" cy="208823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itchFamily="34" charset="0"/>
              </a:rPr>
              <a:t>High-level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itchFamily="34" charset="0"/>
              </a:rPr>
              <a:t> variables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itchFamily="34" charset="0"/>
              </a:rPr>
              <a:t>(may not be EPICS PVs)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entury Gothic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itchFamily="34" charset="0"/>
              </a:rPr>
              <a:t>(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itchFamily="34" charset="0"/>
              </a:rPr>
              <a:t>Configuration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 smtClean="0"/>
              <a:t>Domain</a:t>
            </a:r>
            <a:r>
              <a:rPr lang="en-US" dirty="0" smtClean="0"/>
              <a:t>)</a:t>
            </a:r>
            <a:endParaRPr kumimoji="0" lang="en-GB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entury Gothic" pitchFamily="34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8256240" y="3861048"/>
            <a:ext cx="3575720" cy="208823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itchFamily="34" charset="0"/>
              </a:rPr>
              <a:t>Plant I&amp;C Variables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/>
              <a:t>(</a:t>
            </a:r>
            <a:r>
              <a:rPr lang="en-US" b="1" dirty="0" smtClean="0"/>
              <a:t>Hardware domain</a:t>
            </a:r>
            <a:r>
              <a:rPr lang="en-US" dirty="0" smtClean="0"/>
              <a:t>)</a:t>
            </a:r>
            <a:endParaRPr kumimoji="0" lang="en-GB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entury Gothic" pitchFamily="34" charset="0"/>
            </a:endParaRPr>
          </a:p>
        </p:txBody>
      </p:sp>
      <p:cxnSp>
        <p:nvCxnSpPr>
          <p:cNvPr id="8" name="Straight Arrow Connector 7"/>
          <p:cNvCxnSpPr>
            <a:stCxn id="3" idx="4"/>
            <a:endCxn id="7" idx="0"/>
          </p:cNvCxnSpPr>
          <p:nvPr/>
        </p:nvCxnSpPr>
        <p:spPr bwMode="auto">
          <a:xfrm>
            <a:off x="10044100" y="2924944"/>
            <a:ext cx="0" cy="9361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8135888" y="2854387"/>
            <a:ext cx="38164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SUP-CONFIG:</a:t>
            </a:r>
          </a:p>
          <a:p>
            <a:pPr marL="342900" indent="-342900">
              <a:buAutoNum type="arabicParenR"/>
            </a:pPr>
            <a:r>
              <a:rPr lang="en-US" sz="1600" dirty="0" smtClean="0"/>
              <a:t>Transforms (as needed)</a:t>
            </a:r>
          </a:p>
          <a:p>
            <a:pPr marL="342900" indent="-342900">
              <a:buFontTx/>
              <a:buAutoNum type="arabicParenR"/>
            </a:pPr>
            <a:r>
              <a:rPr lang="en-US" sz="1600" dirty="0" smtClean="0"/>
              <a:t>Performs Validation </a:t>
            </a:r>
            <a:r>
              <a:rPr lang="en-US" sz="1600" dirty="0"/>
              <a:t>checks</a:t>
            </a:r>
            <a:endParaRPr lang="en-GB" sz="1600" dirty="0"/>
          </a:p>
          <a:p>
            <a:pPr marL="342900" indent="-342900">
              <a:buAutoNum type="arabicParenR"/>
            </a:pPr>
            <a:r>
              <a:rPr lang="en-US" sz="1600" dirty="0" smtClean="0"/>
              <a:t>Apply Configuration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924828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spect="1" noChangeArrowheads="1"/>
          </p:cNvSpPr>
          <p:nvPr>
            <p:ph type="title"/>
          </p:nvPr>
        </p:nvSpPr>
        <p:spPr>
          <a:xfrm>
            <a:off x="767408" y="116632"/>
            <a:ext cx="10873208" cy="476250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GB" dirty="0" smtClean="0"/>
              <a:t>Where is your support needed? (1)</a:t>
            </a:r>
            <a:endParaRPr lang="en-US" sz="360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12" y="1736507"/>
            <a:ext cx="4032448" cy="4400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7368" y="986803"/>
            <a:ext cx="5043332" cy="70788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 smtClean="0"/>
              <a:t>Flat List of Variables in EA project (populated as per functional breakdown)</a:t>
            </a:r>
            <a:endParaRPr lang="en-GB" sz="2000" dirty="0"/>
          </a:p>
        </p:txBody>
      </p:sp>
      <p:cxnSp>
        <p:nvCxnSpPr>
          <p:cNvPr id="10" name="Straight Arrow Connector 9"/>
          <p:cNvCxnSpPr>
            <a:stCxn id="2" idx="3"/>
            <a:endCxn id="23" idx="1"/>
          </p:cNvCxnSpPr>
          <p:nvPr/>
        </p:nvCxnSpPr>
        <p:spPr bwMode="auto">
          <a:xfrm flipV="1">
            <a:off x="4581060" y="2291735"/>
            <a:ext cx="2307028" cy="164499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>
            <a:stCxn id="2" idx="3"/>
            <a:endCxn id="25" idx="1"/>
          </p:cNvCxnSpPr>
          <p:nvPr/>
        </p:nvCxnSpPr>
        <p:spPr bwMode="auto">
          <a:xfrm flipV="1">
            <a:off x="4581060" y="3861049"/>
            <a:ext cx="2294520" cy="756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>
            <a:stCxn id="2" idx="3"/>
            <a:endCxn id="30" idx="1"/>
          </p:cNvCxnSpPr>
          <p:nvPr/>
        </p:nvCxnSpPr>
        <p:spPr bwMode="auto">
          <a:xfrm>
            <a:off x="4581060" y="3936731"/>
            <a:ext cx="2294520" cy="15626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Rectangle 22"/>
          <p:cNvSpPr/>
          <p:nvPr/>
        </p:nvSpPr>
        <p:spPr bwMode="auto">
          <a:xfrm>
            <a:off x="6888088" y="1586517"/>
            <a:ext cx="5184576" cy="141043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/>
              <a:t>Help to define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rgbClr val="FF0000"/>
                </a:solidFill>
              </a:rPr>
              <a:t>logical grouping </a:t>
            </a:r>
            <a:r>
              <a:rPr lang="en-US" sz="1800" dirty="0" smtClean="0"/>
              <a:t>of variables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/>
              <a:t>(including high level variables as needed)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/>
              <a:t> which will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ventually form the configuration objects.</a:t>
            </a:r>
            <a:endParaRPr kumimoji="0" lang="en-GB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6875580" y="3299160"/>
            <a:ext cx="5184576" cy="112377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/>
              <a:t>Help to define </a:t>
            </a:r>
            <a:r>
              <a:rPr lang="en-US" sz="1800" dirty="0" smtClean="0">
                <a:solidFill>
                  <a:srgbClr val="FF0000"/>
                </a:solidFill>
              </a:rPr>
              <a:t>constraints </a:t>
            </a:r>
            <a:r>
              <a:rPr lang="en-US" sz="1800" dirty="0" smtClean="0">
                <a:solidFill>
                  <a:schemeClr val="tx1"/>
                </a:solidFill>
              </a:rPr>
              <a:t>(operating limits,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tx1"/>
                </a:solidFill>
              </a:rPr>
              <a:t>dependencies, etc.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  <a:endParaRPr lang="en-US" sz="1800" dirty="0" smtClean="0">
              <a:solidFill>
                <a:schemeClr val="tx1"/>
              </a:solidFill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/>
              <a:t>for configuration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variables</a:t>
            </a:r>
            <a:endParaRPr kumimoji="0" lang="en-GB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6875580" y="5013176"/>
            <a:ext cx="5184576" cy="97241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/>
              <a:t>Help to define </a:t>
            </a:r>
            <a:r>
              <a:rPr lang="en-US" sz="1800" dirty="0" smtClean="0">
                <a:solidFill>
                  <a:srgbClr val="FF0000"/>
                </a:solidFill>
              </a:rPr>
              <a:t>transformation functions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/>
              <a:t>(as needed)</a:t>
            </a:r>
            <a:endParaRPr kumimoji="0" lang="en-GB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82174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spect="1" noChangeArrowheads="1"/>
          </p:cNvSpPr>
          <p:nvPr>
            <p:ph type="title"/>
          </p:nvPr>
        </p:nvSpPr>
        <p:spPr>
          <a:xfrm>
            <a:off x="767408" y="116632"/>
            <a:ext cx="10873208" cy="476250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GB" dirty="0" smtClean="0"/>
              <a:t>Where is your support needed? (2)</a:t>
            </a:r>
            <a:endParaRPr lang="en-US" sz="360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Arial" charset="0"/>
            </a:endParaRPr>
          </a:p>
        </p:txBody>
      </p:sp>
      <p:sp>
        <p:nvSpPr>
          <p:cNvPr id="12" name="TextBox 1"/>
          <p:cNvSpPr txBox="1">
            <a:spLocks noChangeArrowheads="1"/>
          </p:cNvSpPr>
          <p:nvPr/>
        </p:nvSpPr>
        <p:spPr bwMode="auto">
          <a:xfrm>
            <a:off x="360656" y="807175"/>
            <a:ext cx="11423975" cy="5484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For each use case:</a:t>
            </a:r>
          </a:p>
          <a:p>
            <a:pPr lvl="1"/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Define the configuration objects to be defined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List the configuration variables impacted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Define the constraints to be applied</a:t>
            </a:r>
          </a:p>
          <a:p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Configuration objects can be very high-level/abstracted (e.g. Basic-Control vs Physics Studies)</a:t>
            </a:r>
          </a:p>
          <a:p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From 1000s of variables, 10s of objects could be defined.</a:t>
            </a:r>
          </a:p>
          <a:p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Different level of abstractions can be met. </a:t>
            </a:r>
          </a:p>
          <a:p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Think of the needs of the operator/physicist/diagnostician during calibration/commissioning/operation/maintenance…</a:t>
            </a:r>
          </a:p>
          <a:p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Configuration objects should allow: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A non-specialist to run the diagnostic.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A diagnostic expert to configure precisely the system </a:t>
            </a:r>
            <a:r>
              <a:rPr lang="en-US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as intended.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387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95400" y="2780928"/>
            <a:ext cx="10668000" cy="914400"/>
          </a:xfrm>
        </p:spPr>
        <p:txBody>
          <a:bodyPr/>
          <a:lstStyle/>
          <a:p>
            <a:r>
              <a:rPr lang="en-US" dirty="0" smtClean="0"/>
              <a:t>Thank you for your attention!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6778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TER_PPTemplate (2)">
  <a:themeElements>
    <a:clrScheme name="ITER_PPTemplate (2)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ITER_PPTemplate (2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entury Gothic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/>
        </a:ln>
        <a:effectLst/>
      </a:spPr>
      <a:bodyPr/>
      <a:lstStyle/>
    </a:lnDef>
  </a:objectDefaults>
  <a:extraClrSchemeLst>
    <a:extraClrScheme>
      <a:clrScheme name="ITER_PPTemplate (2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TER_PPTemplate (2)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TER_PPTemplate (2)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TER_PPTemplate (2)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TER_PPTemplate (2)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TER_PPTemplate (2)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TER_PPTemplate (2)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TER_PPTemplate (2)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TER_PPTemplate (2)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TER_PPTemplate (2)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TER_PPTemplate (2)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TER_PPTemplate (2)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atronMaster">
  <a:themeElements>
    <a:clrScheme name="patronMaster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atronMaster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atronMast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tronMast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tronMast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tronMast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tronMast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tronMast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tronMast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tronMast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tronMast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tronMast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tronMast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tronMast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ITER_PPTemplate (2)</Template>
  <TotalTime>38623</TotalTime>
  <Words>514</Words>
  <Application>Microsoft Office PowerPoint</Application>
  <PresentationFormat>Widescreen</PresentationFormat>
  <Paragraphs>67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맑은 고딕</vt:lpstr>
      <vt:lpstr>SimSun</vt:lpstr>
      <vt:lpstr>Arial</vt:lpstr>
      <vt:lpstr>Calibri</vt:lpstr>
      <vt:lpstr>Century Gothic</vt:lpstr>
      <vt:lpstr>굴림</vt:lpstr>
      <vt:lpstr>굴림</vt:lpstr>
      <vt:lpstr>Wingdings</vt:lpstr>
      <vt:lpstr>ITER_PPTemplate (2)</vt:lpstr>
      <vt:lpstr>Custom Design</vt:lpstr>
      <vt:lpstr>patronMaster</vt:lpstr>
      <vt:lpstr>Configuration Objects</vt:lpstr>
      <vt:lpstr>Plant I&amp;C Configuration</vt:lpstr>
      <vt:lpstr>Which Configuration will be managed by SUP-CONFIG?</vt:lpstr>
      <vt:lpstr>What is a Configuration Object?</vt:lpstr>
      <vt:lpstr>Where is your support needed? (1)</vt:lpstr>
      <vt:lpstr>Where is your support needed? (2)</vt:lpstr>
      <vt:lpstr>Thank you for your attention!</vt:lpstr>
    </vt:vector>
  </TitlesOfParts>
  <Company>ITER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ITER</dc:creator>
  <cp:lastModifiedBy>Sirinelli Antoine</cp:lastModifiedBy>
  <cp:revision>2378</cp:revision>
  <cp:lastPrinted>2021-02-22T13:10:38Z</cp:lastPrinted>
  <dcterms:created xsi:type="dcterms:W3CDTF">2008-09-02T15:06:07Z</dcterms:created>
  <dcterms:modified xsi:type="dcterms:W3CDTF">2021-10-12T07:13:59Z</dcterms:modified>
</cp:coreProperties>
</file>