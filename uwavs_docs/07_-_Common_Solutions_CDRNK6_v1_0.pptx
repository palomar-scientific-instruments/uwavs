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93" r:id="rId14"/>
    <p:sldId id="286" r:id="rId15"/>
    <p:sldId id="287" r:id="rId16"/>
    <p:sldId id="288" r:id="rId17"/>
    <p:sldId id="294" r:id="rId18"/>
    <p:sldId id="289" r:id="rId19"/>
    <p:sldId id="290" r:id="rId20"/>
    <p:sldId id="291" r:id="rId21"/>
    <p:sldId id="292" r:id="rId22"/>
    <p:sldId id="266" r:id="rId23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EA6"/>
    <a:srgbClr val="0A8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2" autoAdjust="0"/>
    <p:restoredTop sz="94660"/>
  </p:normalViewPr>
  <p:slideViewPr>
    <p:cSldViewPr snapToGrid="0">
      <p:cViewPr varScale="1">
        <p:scale>
          <a:sx n="86" d="100"/>
          <a:sy n="86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8DF4EF-F8EA-4485-AF43-A41CD0F9AD74}" type="doc">
      <dgm:prSet loTypeId="urn:microsoft.com/office/officeart/2005/8/layout/hList7" loCatId="list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ru-RU"/>
        </a:p>
      </dgm:t>
    </dgm:pt>
    <dgm:pt modelId="{3BE80657-A5F7-4814-A0DD-2999D324F2CC}">
      <dgm:prSet phldrT="[Текст]" custT="1"/>
      <dgm:spPr/>
      <dgm:t>
        <a:bodyPr anchor="ctr"/>
        <a:lstStyle/>
        <a:p>
          <a:r>
            <a:rPr lang="en-US" sz="1600" b="1" dirty="0">
              <a:latin typeface="Montserrat Light" panose="00000400000000000000" pitchFamily="2" charset="-52"/>
            </a:rPr>
            <a:t>Arthur Leveque </a:t>
          </a:r>
          <a:r>
            <a:rPr lang="en-US" sz="1600" dirty="0">
              <a:latin typeface="Montserrat Light" panose="00000400000000000000" pitchFamily="2" charset="-52"/>
            </a:rPr>
            <a:t>– IO RO</a:t>
          </a:r>
          <a:endParaRPr lang="ru-RU" sz="1800" dirty="0">
            <a:latin typeface="Montserrat Light" panose="00000400000000000000" pitchFamily="2" charset="-52"/>
          </a:endParaRPr>
        </a:p>
      </dgm:t>
    </dgm:pt>
    <dgm:pt modelId="{F8A5B2F3-D49A-48B5-97A2-983C13AB0274}" type="parTrans" cxnId="{653DBB26-E90E-4F4A-A14A-31C650791661}">
      <dgm:prSet/>
      <dgm:spPr/>
      <dgm:t>
        <a:bodyPr/>
        <a:lstStyle/>
        <a:p>
          <a:endParaRPr lang="ru-RU"/>
        </a:p>
      </dgm:t>
    </dgm:pt>
    <dgm:pt modelId="{4D3FCF88-3AE8-4241-BE4E-D37002DEBD57}" type="sibTrans" cxnId="{653DBB26-E90E-4F4A-A14A-31C650791661}">
      <dgm:prSet/>
      <dgm:spPr/>
      <dgm:t>
        <a:bodyPr/>
        <a:lstStyle/>
        <a:p>
          <a:endParaRPr lang="ru-RU"/>
        </a:p>
      </dgm:t>
    </dgm:pt>
    <dgm:pt modelId="{09454106-5B35-4DE1-AC6D-9E36EE89AC08}" type="pres">
      <dgm:prSet presAssocID="{638DF4EF-F8EA-4485-AF43-A41CD0F9AD74}" presName="Name0" presStyleCnt="0">
        <dgm:presLayoutVars>
          <dgm:dir/>
          <dgm:resizeHandles val="exact"/>
        </dgm:presLayoutVars>
      </dgm:prSet>
      <dgm:spPr/>
    </dgm:pt>
    <dgm:pt modelId="{09908449-2452-427B-8910-0D881B9107EC}" type="pres">
      <dgm:prSet presAssocID="{638DF4EF-F8EA-4485-AF43-A41CD0F9AD74}" presName="fgShape" presStyleLbl="fgShp" presStyleIdx="0" presStyleCnt="1"/>
      <dgm:spPr/>
    </dgm:pt>
    <dgm:pt modelId="{28D4F50D-E0A6-4164-90AB-BF849BE02B5A}" type="pres">
      <dgm:prSet presAssocID="{638DF4EF-F8EA-4485-AF43-A41CD0F9AD74}" presName="linComp" presStyleCnt="0"/>
      <dgm:spPr/>
    </dgm:pt>
    <dgm:pt modelId="{D7020C4A-F328-4FFD-A5EE-B78672857555}" type="pres">
      <dgm:prSet presAssocID="{3BE80657-A5F7-4814-A0DD-2999D324F2CC}" presName="compNode" presStyleCnt="0"/>
      <dgm:spPr/>
    </dgm:pt>
    <dgm:pt modelId="{A1852490-F3CB-4493-95DF-E4C35482D2C3}" type="pres">
      <dgm:prSet presAssocID="{3BE80657-A5F7-4814-A0DD-2999D324F2CC}" presName="bkgdShape" presStyleLbl="node1" presStyleIdx="0" presStyleCnt="1" custLinFactNeighborX="-448" custLinFactNeighborY="18075"/>
      <dgm:spPr/>
    </dgm:pt>
    <dgm:pt modelId="{245E3950-8BB4-475C-8029-57E3D39B5E35}" type="pres">
      <dgm:prSet presAssocID="{3BE80657-A5F7-4814-A0DD-2999D324F2CC}" presName="nodeTx" presStyleLbl="node1" presStyleIdx="0" presStyleCnt="1">
        <dgm:presLayoutVars>
          <dgm:bulletEnabled val="1"/>
        </dgm:presLayoutVars>
      </dgm:prSet>
      <dgm:spPr/>
    </dgm:pt>
    <dgm:pt modelId="{48CBA863-3AC3-4149-BA6B-F4A1D240C35A}" type="pres">
      <dgm:prSet presAssocID="{3BE80657-A5F7-4814-A0DD-2999D324F2CC}" presName="invisiNode" presStyleLbl="node1" presStyleIdx="0" presStyleCnt="1"/>
      <dgm:spPr/>
    </dgm:pt>
    <dgm:pt modelId="{F978476A-B24D-4F65-B63F-96DD52D1E59C}" type="pres">
      <dgm:prSet presAssocID="{3BE80657-A5F7-4814-A0DD-2999D324F2CC}" presName="imagNode" presStyleLbl="fgImgPlace1" presStyleIdx="0" presStyleCnt="1"/>
      <dgm:spPr>
        <a:blipFill rotWithShape="1">
          <a:blip xmlns:r="http://schemas.openxmlformats.org/officeDocument/2006/relationships" r:embed="rId1"/>
          <a:srcRect/>
          <a:stretch>
            <a:fillRect l="-13000" r="-13000"/>
          </a:stretch>
        </a:blipFill>
      </dgm:spPr>
    </dgm:pt>
  </dgm:ptLst>
  <dgm:cxnLst>
    <dgm:cxn modelId="{653DBB26-E90E-4F4A-A14A-31C650791661}" srcId="{638DF4EF-F8EA-4485-AF43-A41CD0F9AD74}" destId="{3BE80657-A5F7-4814-A0DD-2999D324F2CC}" srcOrd="0" destOrd="0" parTransId="{F8A5B2F3-D49A-48B5-97A2-983C13AB0274}" sibTransId="{4D3FCF88-3AE8-4241-BE4E-D37002DEBD57}"/>
    <dgm:cxn modelId="{94DEF92C-D63C-40B2-96B6-57C75BCE08BC}" type="presOf" srcId="{638DF4EF-F8EA-4485-AF43-A41CD0F9AD74}" destId="{09454106-5B35-4DE1-AC6D-9E36EE89AC08}" srcOrd="0" destOrd="0" presId="urn:microsoft.com/office/officeart/2005/8/layout/hList7"/>
    <dgm:cxn modelId="{63188FBB-9B6B-4FA4-A110-D27C3B4535E4}" type="presOf" srcId="{3BE80657-A5F7-4814-A0DD-2999D324F2CC}" destId="{A1852490-F3CB-4493-95DF-E4C35482D2C3}" srcOrd="0" destOrd="0" presId="urn:microsoft.com/office/officeart/2005/8/layout/hList7"/>
    <dgm:cxn modelId="{A11202EC-7F82-49A8-85E1-1E904B7EFB47}" type="presOf" srcId="{3BE80657-A5F7-4814-A0DD-2999D324F2CC}" destId="{245E3950-8BB4-475C-8029-57E3D39B5E35}" srcOrd="1" destOrd="0" presId="urn:microsoft.com/office/officeart/2005/8/layout/hList7"/>
    <dgm:cxn modelId="{7E4A64F8-9896-457E-B7DD-30BEDFF7B6A4}" type="presParOf" srcId="{09454106-5B35-4DE1-AC6D-9E36EE89AC08}" destId="{09908449-2452-427B-8910-0D881B9107EC}" srcOrd="0" destOrd="0" presId="urn:microsoft.com/office/officeart/2005/8/layout/hList7"/>
    <dgm:cxn modelId="{B4525671-32D4-44A9-85FC-B6F81C38C708}" type="presParOf" srcId="{09454106-5B35-4DE1-AC6D-9E36EE89AC08}" destId="{28D4F50D-E0A6-4164-90AB-BF849BE02B5A}" srcOrd="1" destOrd="0" presId="urn:microsoft.com/office/officeart/2005/8/layout/hList7"/>
    <dgm:cxn modelId="{039E8954-BA19-4B99-984C-6A42B539CC8A}" type="presParOf" srcId="{28D4F50D-E0A6-4164-90AB-BF849BE02B5A}" destId="{D7020C4A-F328-4FFD-A5EE-B78672857555}" srcOrd="0" destOrd="0" presId="urn:microsoft.com/office/officeart/2005/8/layout/hList7"/>
    <dgm:cxn modelId="{BF4E2D43-9E38-43C6-9F93-1FFA475B2348}" type="presParOf" srcId="{D7020C4A-F328-4FFD-A5EE-B78672857555}" destId="{A1852490-F3CB-4493-95DF-E4C35482D2C3}" srcOrd="0" destOrd="0" presId="urn:microsoft.com/office/officeart/2005/8/layout/hList7"/>
    <dgm:cxn modelId="{93AB4A65-45DB-41F1-A011-E1C45DA521DE}" type="presParOf" srcId="{D7020C4A-F328-4FFD-A5EE-B78672857555}" destId="{245E3950-8BB4-475C-8029-57E3D39B5E35}" srcOrd="1" destOrd="0" presId="urn:microsoft.com/office/officeart/2005/8/layout/hList7"/>
    <dgm:cxn modelId="{AA09D2D4-98ED-4559-90BB-409029E227C3}" type="presParOf" srcId="{D7020C4A-F328-4FFD-A5EE-B78672857555}" destId="{48CBA863-3AC3-4149-BA6B-F4A1D240C35A}" srcOrd="2" destOrd="0" presId="urn:microsoft.com/office/officeart/2005/8/layout/hList7"/>
    <dgm:cxn modelId="{0D9B0C84-36CF-4958-9E42-9C850CDCA4FA}" type="presParOf" srcId="{D7020C4A-F328-4FFD-A5EE-B78672857555}" destId="{F978476A-B24D-4F65-B63F-96DD52D1E59C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B2BF52-D661-490E-9F19-F301FC042E12}" type="doc">
      <dgm:prSet loTypeId="urn:microsoft.com/office/officeart/2005/8/layout/hList7" loCatId="list" qsTypeId="urn:microsoft.com/office/officeart/2005/8/quickstyle/simple5" qsCatId="simple" csTypeId="urn:microsoft.com/office/officeart/2005/8/colors/accent1_2" csCatId="accent1" phldr="1"/>
      <dgm:spPr/>
    </dgm:pt>
    <dgm:pt modelId="{71AFFE29-F0A6-4DB3-8DE7-50B931EBEFCF}">
      <dgm:prSet phldrT="[Текст]" custT="1"/>
      <dgm:spPr/>
      <dgm:t>
        <a:bodyPr/>
        <a:lstStyle/>
        <a:p>
          <a:r>
            <a:rPr lang="en-US" sz="1600" b="1" dirty="0">
              <a:latin typeface="Montserrat Light" panose="00000400000000000000" pitchFamily="2" charset="-52"/>
            </a:rPr>
            <a:t>Ilya Smirnov </a:t>
          </a:r>
          <a:r>
            <a:rPr lang="en-US" sz="1600" dirty="0">
              <a:latin typeface="Montserrat Light" panose="00000400000000000000" pitchFamily="2" charset="-52"/>
            </a:rPr>
            <a:t>– RAWE Project Manager</a:t>
          </a:r>
          <a:endParaRPr lang="ru-RU" sz="1600" dirty="0">
            <a:latin typeface="Montserrat Light" panose="00000400000000000000" pitchFamily="2" charset="-52"/>
          </a:endParaRPr>
        </a:p>
      </dgm:t>
    </dgm:pt>
    <dgm:pt modelId="{2C3ACAFA-F5CB-4BED-A24B-F195D6AB19AA}" type="parTrans" cxnId="{94542EF1-B4CD-48BC-991C-5900457E843B}">
      <dgm:prSet/>
      <dgm:spPr/>
      <dgm:t>
        <a:bodyPr/>
        <a:lstStyle/>
        <a:p>
          <a:endParaRPr lang="ru-RU"/>
        </a:p>
      </dgm:t>
    </dgm:pt>
    <dgm:pt modelId="{034C579E-BF5F-45E5-BD34-E194CDD89A09}" type="sibTrans" cxnId="{94542EF1-B4CD-48BC-991C-5900457E843B}">
      <dgm:prSet/>
      <dgm:spPr/>
      <dgm:t>
        <a:bodyPr/>
        <a:lstStyle/>
        <a:p>
          <a:endParaRPr lang="ru-RU"/>
        </a:p>
      </dgm:t>
    </dgm:pt>
    <dgm:pt modelId="{D60C150B-C824-49CC-B7A7-140105DB1DA7}" type="pres">
      <dgm:prSet presAssocID="{FAB2BF52-D661-490E-9F19-F301FC042E12}" presName="Name0" presStyleCnt="0">
        <dgm:presLayoutVars>
          <dgm:dir/>
          <dgm:resizeHandles val="exact"/>
        </dgm:presLayoutVars>
      </dgm:prSet>
      <dgm:spPr/>
    </dgm:pt>
    <dgm:pt modelId="{D01CC9E9-3D14-4694-99C9-F19321E87787}" type="pres">
      <dgm:prSet presAssocID="{FAB2BF52-D661-490E-9F19-F301FC042E12}" presName="fgShape" presStyleLbl="fgShp" presStyleIdx="0" presStyleCnt="1"/>
      <dgm:spPr/>
    </dgm:pt>
    <dgm:pt modelId="{325400B4-3D30-41FF-871A-0E607471AEF9}" type="pres">
      <dgm:prSet presAssocID="{FAB2BF52-D661-490E-9F19-F301FC042E12}" presName="linComp" presStyleCnt="0"/>
      <dgm:spPr/>
    </dgm:pt>
    <dgm:pt modelId="{09042A0B-5F7F-48C5-802B-60CFCF9B8954}" type="pres">
      <dgm:prSet presAssocID="{71AFFE29-F0A6-4DB3-8DE7-50B931EBEFCF}" presName="compNode" presStyleCnt="0"/>
      <dgm:spPr/>
    </dgm:pt>
    <dgm:pt modelId="{973AFF09-EE80-4BD4-AB2F-816E2C2AF5BF}" type="pres">
      <dgm:prSet presAssocID="{71AFFE29-F0A6-4DB3-8DE7-50B931EBEFCF}" presName="bkgdShape" presStyleLbl="node1" presStyleIdx="0" presStyleCnt="1" custLinFactNeighborX="833" custLinFactNeighborY="7903"/>
      <dgm:spPr/>
    </dgm:pt>
    <dgm:pt modelId="{2C1C3F64-B605-4050-84DB-9558D02CFD21}" type="pres">
      <dgm:prSet presAssocID="{71AFFE29-F0A6-4DB3-8DE7-50B931EBEFCF}" presName="nodeTx" presStyleLbl="node1" presStyleIdx="0" presStyleCnt="1">
        <dgm:presLayoutVars>
          <dgm:bulletEnabled val="1"/>
        </dgm:presLayoutVars>
      </dgm:prSet>
      <dgm:spPr/>
    </dgm:pt>
    <dgm:pt modelId="{09821AF6-16E7-46F9-B9B2-AC648618B2AE}" type="pres">
      <dgm:prSet presAssocID="{71AFFE29-F0A6-4DB3-8DE7-50B931EBEFCF}" presName="invisiNode" presStyleLbl="node1" presStyleIdx="0" presStyleCnt="1"/>
      <dgm:spPr/>
    </dgm:pt>
    <dgm:pt modelId="{4CBA1DEB-D343-4463-83CE-810EECE3607A}" type="pres">
      <dgm:prSet presAssocID="{71AFFE29-F0A6-4DB3-8DE7-50B931EBEFCF}" presName="imagNode" presStyleLbl="fgImgPlace1" presStyleIdx="0" presStyleCnt="1"/>
      <dgm:spPr>
        <a:blipFill rotWithShape="1">
          <a:blip xmlns:r="http://schemas.openxmlformats.org/officeDocument/2006/relationships" r:embed="rId1"/>
          <a:srcRect/>
          <a:stretch>
            <a:fillRect l="-14000" r="-14000"/>
          </a:stretch>
        </a:blipFill>
      </dgm:spPr>
    </dgm:pt>
  </dgm:ptLst>
  <dgm:cxnLst>
    <dgm:cxn modelId="{FFA95E1C-5104-46F2-BF0A-F80C663D1738}" type="presOf" srcId="{71AFFE29-F0A6-4DB3-8DE7-50B931EBEFCF}" destId="{973AFF09-EE80-4BD4-AB2F-816E2C2AF5BF}" srcOrd="0" destOrd="0" presId="urn:microsoft.com/office/officeart/2005/8/layout/hList7"/>
    <dgm:cxn modelId="{9C72F444-9669-4FE1-9B5B-EEEEEADF0F88}" type="presOf" srcId="{71AFFE29-F0A6-4DB3-8DE7-50B931EBEFCF}" destId="{2C1C3F64-B605-4050-84DB-9558D02CFD21}" srcOrd="1" destOrd="0" presId="urn:microsoft.com/office/officeart/2005/8/layout/hList7"/>
    <dgm:cxn modelId="{FE9552EC-F4AC-45BF-911C-C0AD1D15CB2E}" type="presOf" srcId="{FAB2BF52-D661-490E-9F19-F301FC042E12}" destId="{D60C150B-C824-49CC-B7A7-140105DB1DA7}" srcOrd="0" destOrd="0" presId="urn:microsoft.com/office/officeart/2005/8/layout/hList7"/>
    <dgm:cxn modelId="{94542EF1-B4CD-48BC-991C-5900457E843B}" srcId="{FAB2BF52-D661-490E-9F19-F301FC042E12}" destId="{71AFFE29-F0A6-4DB3-8DE7-50B931EBEFCF}" srcOrd="0" destOrd="0" parTransId="{2C3ACAFA-F5CB-4BED-A24B-F195D6AB19AA}" sibTransId="{034C579E-BF5F-45E5-BD34-E194CDD89A09}"/>
    <dgm:cxn modelId="{FCE0CCD9-84EE-4068-9288-8114AC2B3872}" type="presParOf" srcId="{D60C150B-C824-49CC-B7A7-140105DB1DA7}" destId="{D01CC9E9-3D14-4694-99C9-F19321E87787}" srcOrd="0" destOrd="0" presId="urn:microsoft.com/office/officeart/2005/8/layout/hList7"/>
    <dgm:cxn modelId="{66294397-1347-40B4-9BE0-AF7CFFB25DE6}" type="presParOf" srcId="{D60C150B-C824-49CC-B7A7-140105DB1DA7}" destId="{325400B4-3D30-41FF-871A-0E607471AEF9}" srcOrd="1" destOrd="0" presId="urn:microsoft.com/office/officeart/2005/8/layout/hList7"/>
    <dgm:cxn modelId="{04C8C8B3-A0BD-44AE-BDBC-DB4D42AF2ADA}" type="presParOf" srcId="{325400B4-3D30-41FF-871A-0E607471AEF9}" destId="{09042A0B-5F7F-48C5-802B-60CFCF9B8954}" srcOrd="0" destOrd="0" presId="urn:microsoft.com/office/officeart/2005/8/layout/hList7"/>
    <dgm:cxn modelId="{E2ECA978-4EC4-42F4-A6A7-A09FFFBA3090}" type="presParOf" srcId="{09042A0B-5F7F-48C5-802B-60CFCF9B8954}" destId="{973AFF09-EE80-4BD4-AB2F-816E2C2AF5BF}" srcOrd="0" destOrd="0" presId="urn:microsoft.com/office/officeart/2005/8/layout/hList7"/>
    <dgm:cxn modelId="{224E330A-6896-4EB0-899B-C83F4743F3CF}" type="presParOf" srcId="{09042A0B-5F7F-48C5-802B-60CFCF9B8954}" destId="{2C1C3F64-B605-4050-84DB-9558D02CFD21}" srcOrd="1" destOrd="0" presId="urn:microsoft.com/office/officeart/2005/8/layout/hList7"/>
    <dgm:cxn modelId="{5DC35107-6357-4BBC-ACC7-A7E4D65667BE}" type="presParOf" srcId="{09042A0B-5F7F-48C5-802B-60CFCF9B8954}" destId="{09821AF6-16E7-46F9-B9B2-AC648618B2AE}" srcOrd="2" destOrd="0" presId="urn:microsoft.com/office/officeart/2005/8/layout/hList7"/>
    <dgm:cxn modelId="{AB9FADF8-0470-4A1A-A7EB-785C5507FFEC}" type="presParOf" srcId="{09042A0B-5F7F-48C5-802B-60CFCF9B8954}" destId="{4CBA1DEB-D343-4463-83CE-810EECE3607A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52490-F3CB-4493-95DF-E4C35482D2C3}">
      <dsp:nvSpPr>
        <dsp:cNvPr id="0" name=""/>
        <dsp:cNvSpPr/>
      </dsp:nvSpPr>
      <dsp:spPr>
        <a:xfrm>
          <a:off x="0" y="0"/>
          <a:ext cx="5815600" cy="16923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Montserrat Light" panose="00000400000000000000" pitchFamily="2" charset="-52"/>
            </a:rPr>
            <a:t>Arthur Leveque </a:t>
          </a:r>
          <a:r>
            <a:rPr lang="en-US" sz="1600" kern="1200" dirty="0">
              <a:latin typeface="Montserrat Light" panose="00000400000000000000" pitchFamily="2" charset="-52"/>
            </a:rPr>
            <a:t>– IO RO</a:t>
          </a:r>
          <a:endParaRPr lang="ru-RU" sz="1800" kern="1200" dirty="0">
            <a:latin typeface="Montserrat Light" panose="00000400000000000000" pitchFamily="2" charset="-52"/>
          </a:endParaRPr>
        </a:p>
      </dsp:txBody>
      <dsp:txXfrm>
        <a:off x="0" y="676926"/>
        <a:ext cx="5815600" cy="676926"/>
      </dsp:txXfrm>
    </dsp:sp>
    <dsp:sp modelId="{F978476A-B24D-4F65-B63F-96DD52D1E59C}">
      <dsp:nvSpPr>
        <dsp:cNvPr id="0" name=""/>
        <dsp:cNvSpPr/>
      </dsp:nvSpPr>
      <dsp:spPr>
        <a:xfrm>
          <a:off x="2626029" y="101539"/>
          <a:ext cx="563541" cy="563541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13000" r="-13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9908449-2452-427B-8910-0D881B9107EC}">
      <dsp:nvSpPr>
        <dsp:cNvPr id="0" name=""/>
        <dsp:cNvSpPr/>
      </dsp:nvSpPr>
      <dsp:spPr>
        <a:xfrm>
          <a:off x="232623" y="1353853"/>
          <a:ext cx="5350352" cy="253847"/>
        </a:xfrm>
        <a:prstGeom prst="left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AFF09-EE80-4BD4-AB2F-816E2C2AF5BF}">
      <dsp:nvSpPr>
        <dsp:cNvPr id="0" name=""/>
        <dsp:cNvSpPr/>
      </dsp:nvSpPr>
      <dsp:spPr>
        <a:xfrm>
          <a:off x="0" y="0"/>
          <a:ext cx="5809916" cy="14580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Montserrat Light" panose="00000400000000000000" pitchFamily="2" charset="-52"/>
            </a:rPr>
            <a:t>Ilya Smirnov </a:t>
          </a:r>
          <a:r>
            <a:rPr lang="en-US" sz="1600" kern="1200" dirty="0">
              <a:latin typeface="Montserrat Light" panose="00000400000000000000" pitchFamily="2" charset="-52"/>
            </a:rPr>
            <a:t>– RAWE Project Manager</a:t>
          </a:r>
          <a:endParaRPr lang="ru-RU" sz="1600" kern="1200" dirty="0">
            <a:latin typeface="Montserrat Light" panose="00000400000000000000" pitchFamily="2" charset="-52"/>
          </a:endParaRPr>
        </a:p>
      </dsp:txBody>
      <dsp:txXfrm>
        <a:off x="0" y="583223"/>
        <a:ext cx="5809916" cy="583223"/>
      </dsp:txXfrm>
    </dsp:sp>
    <dsp:sp modelId="{4CBA1DEB-D343-4463-83CE-810EECE3607A}">
      <dsp:nvSpPr>
        <dsp:cNvPr id="0" name=""/>
        <dsp:cNvSpPr/>
      </dsp:nvSpPr>
      <dsp:spPr>
        <a:xfrm>
          <a:off x="2662191" y="87483"/>
          <a:ext cx="485533" cy="485533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14000" r="-14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01CC9E9-3D14-4694-99C9-F19321E87787}">
      <dsp:nvSpPr>
        <dsp:cNvPr id="0" name=""/>
        <dsp:cNvSpPr/>
      </dsp:nvSpPr>
      <dsp:spPr>
        <a:xfrm>
          <a:off x="232396" y="1166447"/>
          <a:ext cx="5345122" cy="218708"/>
        </a:xfrm>
        <a:prstGeom prst="leftRight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F4D685B-D027-5E4F-80BC-F74AA56A64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2419C4-64DE-13C2-BDE0-7560128F8C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E420B33-5787-4228-A63E-B69736CC6CC1}" type="datetimeFigureOut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78D22C7D-5D92-A047-D30B-858F1A4675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DEC61CB7-7E84-0747-97C8-FACA9008F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F915C3-B571-F36B-0D05-ECE91BD696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C26424-A982-F8D7-8C3E-55729CF55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7890540-A2C0-477E-9914-ED3A39564897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Образ слайда 1">
            <a:extLst>
              <a:ext uri="{FF2B5EF4-FFF2-40B4-BE49-F238E27FC236}">
                <a16:creationId xmlns:a16="http://schemas.microsoft.com/office/drawing/2014/main" id="{D8EEA850-3A82-856D-D4C7-941807B4FC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Заметки 2">
            <a:extLst>
              <a:ext uri="{FF2B5EF4-FFF2-40B4-BE49-F238E27FC236}">
                <a16:creationId xmlns:a16="http://schemas.microsoft.com/office/drawing/2014/main" id="{57808494-1143-AC57-36DF-6BA825D27C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Номер слайда 3">
            <a:extLst>
              <a:ext uri="{FF2B5EF4-FFF2-40B4-BE49-F238E27FC236}">
                <a16:creationId xmlns:a16="http://schemas.microsoft.com/office/drawing/2014/main" id="{A1D8A036-8DA7-A62E-8296-3B06E5D80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7B822B9-23D1-4502-8A24-B45C98DA9EEC}" type="slidenum">
              <a:rPr lang="ru-RU" altLang="en-US" smtClean="0"/>
              <a:pPr/>
              <a:t>2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996D440-022E-1158-A1C5-5A09A8BCDB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94FDC9EC-6250-ADB7-D876-55E0A28359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5F0D4DA3-9130-A281-0864-E27867120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2D5B27C-AC95-4417-9D99-2852EB782620}" type="slidenum">
              <a:rPr lang="ru-RU" altLang="en-US" smtClean="0"/>
              <a:pPr/>
              <a:t>3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Образ слайда 1">
            <a:extLst>
              <a:ext uri="{FF2B5EF4-FFF2-40B4-BE49-F238E27FC236}">
                <a16:creationId xmlns:a16="http://schemas.microsoft.com/office/drawing/2014/main" id="{595DA602-8476-B882-0FC8-807C7DA3B3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Заметки 2">
            <a:extLst>
              <a:ext uri="{FF2B5EF4-FFF2-40B4-BE49-F238E27FC236}">
                <a16:creationId xmlns:a16="http://schemas.microsoft.com/office/drawing/2014/main" id="{F2E2D56B-F301-23B3-B268-C2B68F9232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20" name="Номер слайда 3">
            <a:extLst>
              <a:ext uri="{FF2B5EF4-FFF2-40B4-BE49-F238E27FC236}">
                <a16:creationId xmlns:a16="http://schemas.microsoft.com/office/drawing/2014/main" id="{F90FDD54-E65E-7A1D-C06C-FAEC70CFC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CB2AABE-2432-43D0-9F43-FB4410DD6432}" type="slidenum">
              <a:rPr lang="ru-RU" altLang="en-US" smtClean="0"/>
              <a:pPr/>
              <a:t>4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Образ слайда 1">
            <a:extLst>
              <a:ext uri="{FF2B5EF4-FFF2-40B4-BE49-F238E27FC236}">
                <a16:creationId xmlns:a16="http://schemas.microsoft.com/office/drawing/2014/main" id="{5DC49410-59BC-4340-87C1-58CD15E8C8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Заметки 2">
            <a:extLst>
              <a:ext uri="{FF2B5EF4-FFF2-40B4-BE49-F238E27FC236}">
                <a16:creationId xmlns:a16="http://schemas.microsoft.com/office/drawing/2014/main" id="{6E77042F-C01C-5739-0F34-F815211E8B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Номер слайда 3">
            <a:extLst>
              <a:ext uri="{FF2B5EF4-FFF2-40B4-BE49-F238E27FC236}">
                <a16:creationId xmlns:a16="http://schemas.microsoft.com/office/drawing/2014/main" id="{34661E53-6B6F-25C6-BBF1-042A7532F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4C38520-2F0E-4BD3-A502-98EFBE2AEDD7}" type="slidenum">
              <a:rPr lang="ru-RU" altLang="en-US" smtClean="0"/>
              <a:pPr/>
              <a:t>5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>
            <a:extLst>
              <a:ext uri="{FF2B5EF4-FFF2-40B4-BE49-F238E27FC236}">
                <a16:creationId xmlns:a16="http://schemas.microsoft.com/office/drawing/2014/main" id="{1BF64A1E-6647-AB22-3EB5-D75321D513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>
            <a:extLst>
              <a:ext uri="{FF2B5EF4-FFF2-40B4-BE49-F238E27FC236}">
                <a16:creationId xmlns:a16="http://schemas.microsoft.com/office/drawing/2014/main" id="{FB2F7F0F-1CAD-2613-1A3A-7605787F8B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316" name="Номер слайда 3">
            <a:extLst>
              <a:ext uri="{FF2B5EF4-FFF2-40B4-BE49-F238E27FC236}">
                <a16:creationId xmlns:a16="http://schemas.microsoft.com/office/drawing/2014/main" id="{09C8490C-154B-57F3-BED6-462AC8D4B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9C7221B-5610-442F-809D-44E117BE7A28}" type="slidenum">
              <a:rPr lang="ru-RU" altLang="en-US" smtClean="0"/>
              <a:pPr/>
              <a:t>6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Образ слайда 1">
            <a:extLst>
              <a:ext uri="{FF2B5EF4-FFF2-40B4-BE49-F238E27FC236}">
                <a16:creationId xmlns:a16="http://schemas.microsoft.com/office/drawing/2014/main" id="{8FE7ABA5-9BBD-E5C1-3224-6BD136D8AE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Заметки 2">
            <a:extLst>
              <a:ext uri="{FF2B5EF4-FFF2-40B4-BE49-F238E27FC236}">
                <a16:creationId xmlns:a16="http://schemas.microsoft.com/office/drawing/2014/main" id="{50A7DD53-6796-6E48-73B4-C37AD8AD56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4" name="Номер слайда 3">
            <a:extLst>
              <a:ext uri="{FF2B5EF4-FFF2-40B4-BE49-F238E27FC236}">
                <a16:creationId xmlns:a16="http://schemas.microsoft.com/office/drawing/2014/main" id="{F5FF485B-F284-5044-AC72-547511AC4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A89041C-44A6-44A1-84DE-578B34FC30A1}" type="slidenum">
              <a:rPr lang="ru-RU" altLang="en-US" smtClean="0"/>
              <a:pPr/>
              <a:t>7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Образ слайда 1">
            <a:extLst>
              <a:ext uri="{FF2B5EF4-FFF2-40B4-BE49-F238E27FC236}">
                <a16:creationId xmlns:a16="http://schemas.microsoft.com/office/drawing/2014/main" id="{D4738F9A-4598-E151-A0A6-DDB7768120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Заметки 2">
            <a:extLst>
              <a:ext uri="{FF2B5EF4-FFF2-40B4-BE49-F238E27FC236}">
                <a16:creationId xmlns:a16="http://schemas.microsoft.com/office/drawing/2014/main" id="{EB2ED442-C296-10BD-0225-95249B9EF0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2" name="Номер слайда 3">
            <a:extLst>
              <a:ext uri="{FF2B5EF4-FFF2-40B4-BE49-F238E27FC236}">
                <a16:creationId xmlns:a16="http://schemas.microsoft.com/office/drawing/2014/main" id="{DF1C935F-7B29-78CB-44E7-5A42856FB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02AF9EA-4A13-4756-A029-B1D848DEEE08}" type="slidenum">
              <a:rPr lang="ru-RU" altLang="en-US" smtClean="0"/>
              <a:pPr/>
              <a:t>8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Образ слайда 1">
            <a:extLst>
              <a:ext uri="{FF2B5EF4-FFF2-40B4-BE49-F238E27FC236}">
                <a16:creationId xmlns:a16="http://schemas.microsoft.com/office/drawing/2014/main" id="{2DF0E2B1-1160-A944-8DE1-08E51C8E4A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Заметки 2">
            <a:extLst>
              <a:ext uri="{FF2B5EF4-FFF2-40B4-BE49-F238E27FC236}">
                <a16:creationId xmlns:a16="http://schemas.microsoft.com/office/drawing/2014/main" id="{937B5CE6-071B-A93F-8BC6-4A85D22B15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460" name="Номер слайда 3">
            <a:extLst>
              <a:ext uri="{FF2B5EF4-FFF2-40B4-BE49-F238E27FC236}">
                <a16:creationId xmlns:a16="http://schemas.microsoft.com/office/drawing/2014/main" id="{8B158461-9F75-E561-1123-8007F479B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7504E5-F54C-467A-9FE7-B4C53DEA681C}" type="slidenum">
              <a:rPr lang="ru-RU" altLang="en-US" smtClean="0"/>
              <a:pPr/>
              <a:t>9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Образ слайда 1">
            <a:extLst>
              <a:ext uri="{FF2B5EF4-FFF2-40B4-BE49-F238E27FC236}">
                <a16:creationId xmlns:a16="http://schemas.microsoft.com/office/drawing/2014/main" id="{3629E599-AAE2-F0C6-7583-0A4EB55625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Заметки 2">
            <a:extLst>
              <a:ext uri="{FF2B5EF4-FFF2-40B4-BE49-F238E27FC236}">
                <a16:creationId xmlns:a16="http://schemas.microsoft.com/office/drawing/2014/main" id="{59F04B03-3C52-003B-A352-58529839C9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8" name="Номер слайда 3">
            <a:extLst>
              <a:ext uri="{FF2B5EF4-FFF2-40B4-BE49-F238E27FC236}">
                <a16:creationId xmlns:a16="http://schemas.microsoft.com/office/drawing/2014/main" id="{B73D27F3-652B-EF72-3242-D0C779866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6829896-9C80-4767-96FA-E50996FB9D16}" type="slidenum">
              <a:rPr lang="ru-RU" altLang="en-US" smtClean="0"/>
              <a:pPr/>
              <a:t>10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Образ слайда 1">
            <a:extLst>
              <a:ext uri="{FF2B5EF4-FFF2-40B4-BE49-F238E27FC236}">
                <a16:creationId xmlns:a16="http://schemas.microsoft.com/office/drawing/2014/main" id="{BFF9F0BF-28D8-D604-98AE-A3763CCF01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Заметки 2">
            <a:extLst>
              <a:ext uri="{FF2B5EF4-FFF2-40B4-BE49-F238E27FC236}">
                <a16:creationId xmlns:a16="http://schemas.microsoft.com/office/drawing/2014/main" id="{2D4548C1-B2B9-EEF4-D338-A992B8EB05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Номер слайда 3">
            <a:extLst>
              <a:ext uri="{FF2B5EF4-FFF2-40B4-BE49-F238E27FC236}">
                <a16:creationId xmlns:a16="http://schemas.microsoft.com/office/drawing/2014/main" id="{A2BE2073-F3A0-6ED4-0106-22F210A12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296AD31-3D1E-46C5-9352-C79E14611B33}" type="slidenum">
              <a:rPr lang="ru-RU" altLang="en-US" smtClean="0"/>
              <a:pPr/>
              <a:t>11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>
            <a:extLst>
              <a:ext uri="{FF2B5EF4-FFF2-40B4-BE49-F238E27FC236}">
                <a16:creationId xmlns:a16="http://schemas.microsoft.com/office/drawing/2014/main" id="{269AAF3B-24D8-5132-E790-C60237941A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>
            <a:extLst>
              <a:ext uri="{FF2B5EF4-FFF2-40B4-BE49-F238E27FC236}">
                <a16:creationId xmlns:a16="http://schemas.microsoft.com/office/drawing/2014/main" id="{1EA7C982-DBAA-E8E8-9AB0-A09875134D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4" name="Номер слайда 3">
            <a:extLst>
              <a:ext uri="{FF2B5EF4-FFF2-40B4-BE49-F238E27FC236}">
                <a16:creationId xmlns:a16="http://schemas.microsoft.com/office/drawing/2014/main" id="{161ADFA9-31D9-2E1D-BED5-B2AFF4DE3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53B9792-AAB9-45E7-B2EB-8DB1C4053DFC}" type="slidenum">
              <a:rPr lang="ru-RU" altLang="en-US" smtClean="0"/>
              <a:pPr/>
              <a:t>12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Образ слайда 1">
            <a:extLst>
              <a:ext uri="{FF2B5EF4-FFF2-40B4-BE49-F238E27FC236}">
                <a16:creationId xmlns:a16="http://schemas.microsoft.com/office/drawing/2014/main" id="{8D4DAB34-6CA3-C2FD-EF3F-C72382DB7F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Заметки 2">
            <a:extLst>
              <a:ext uri="{FF2B5EF4-FFF2-40B4-BE49-F238E27FC236}">
                <a16:creationId xmlns:a16="http://schemas.microsoft.com/office/drawing/2014/main" id="{5A5A0DC5-E8CC-EE6E-7EFA-AB80854CE1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Номер слайда 3">
            <a:extLst>
              <a:ext uri="{FF2B5EF4-FFF2-40B4-BE49-F238E27FC236}">
                <a16:creationId xmlns:a16="http://schemas.microsoft.com/office/drawing/2014/main" id="{17F0D151-7921-8953-6D67-7DF038C22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69544EB-B890-4AD5-A0B9-52207A38C621}" type="slidenum">
              <a:rPr lang="ru-RU" altLang="en-US" smtClean="0"/>
              <a:pPr/>
              <a:t>13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>
            <a:extLst>
              <a:ext uri="{FF2B5EF4-FFF2-40B4-BE49-F238E27FC236}">
                <a16:creationId xmlns:a16="http://schemas.microsoft.com/office/drawing/2014/main" id="{010233A1-D2C8-B93D-3E21-B87F72073E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Заметки 2">
            <a:extLst>
              <a:ext uri="{FF2B5EF4-FFF2-40B4-BE49-F238E27FC236}">
                <a16:creationId xmlns:a16="http://schemas.microsoft.com/office/drawing/2014/main" id="{44B13BF8-A658-AD92-F2BE-B1AE0ECBD2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Номер слайда 3">
            <a:extLst>
              <a:ext uri="{FF2B5EF4-FFF2-40B4-BE49-F238E27FC236}">
                <a16:creationId xmlns:a16="http://schemas.microsoft.com/office/drawing/2014/main" id="{B0067E61-F22B-5079-544E-10666065F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4F91B95-2566-4C6D-B461-7296E85B89E5}" type="slidenum">
              <a:rPr lang="ru-RU" altLang="en-US" smtClean="0"/>
              <a:pPr/>
              <a:t>14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Образ слайда 1">
            <a:extLst>
              <a:ext uri="{FF2B5EF4-FFF2-40B4-BE49-F238E27FC236}">
                <a16:creationId xmlns:a16="http://schemas.microsoft.com/office/drawing/2014/main" id="{3F0716D7-B234-BCBE-2C5D-DF615E9481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Заметки 2">
            <a:extLst>
              <a:ext uri="{FF2B5EF4-FFF2-40B4-BE49-F238E27FC236}">
                <a16:creationId xmlns:a16="http://schemas.microsoft.com/office/drawing/2014/main" id="{F700F899-3905-378A-C741-61045D97C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748" name="Номер слайда 3">
            <a:extLst>
              <a:ext uri="{FF2B5EF4-FFF2-40B4-BE49-F238E27FC236}">
                <a16:creationId xmlns:a16="http://schemas.microsoft.com/office/drawing/2014/main" id="{9064AF61-C529-BDFE-B4BA-E36E41EFF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A8E69A6-129D-46BD-9A48-6C348085F9CF}" type="slidenum">
              <a:rPr lang="ru-RU" altLang="en-US" smtClean="0"/>
              <a:pPr/>
              <a:t>15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>
            <a:extLst>
              <a:ext uri="{FF2B5EF4-FFF2-40B4-BE49-F238E27FC236}">
                <a16:creationId xmlns:a16="http://schemas.microsoft.com/office/drawing/2014/main" id="{74C06D6E-FC4F-5C09-1775-5BCFF60706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Заметки 2">
            <a:extLst>
              <a:ext uri="{FF2B5EF4-FFF2-40B4-BE49-F238E27FC236}">
                <a16:creationId xmlns:a16="http://schemas.microsoft.com/office/drawing/2014/main" id="{36C843FF-CB99-1653-2A48-32E522D35B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796" name="Номер слайда 3">
            <a:extLst>
              <a:ext uri="{FF2B5EF4-FFF2-40B4-BE49-F238E27FC236}">
                <a16:creationId xmlns:a16="http://schemas.microsoft.com/office/drawing/2014/main" id="{20D28470-DCF3-0B57-5C82-DE091570D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10E4615-BF71-449F-A191-1006AF7D8D76}" type="slidenum">
              <a:rPr lang="ru-RU" altLang="en-US" smtClean="0"/>
              <a:pPr/>
              <a:t>16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Образ слайда 1">
            <a:extLst>
              <a:ext uri="{FF2B5EF4-FFF2-40B4-BE49-F238E27FC236}">
                <a16:creationId xmlns:a16="http://schemas.microsoft.com/office/drawing/2014/main" id="{98C5ADD5-C917-1C2E-55F4-5C7327E33A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Заметки 2">
            <a:extLst>
              <a:ext uri="{FF2B5EF4-FFF2-40B4-BE49-F238E27FC236}">
                <a16:creationId xmlns:a16="http://schemas.microsoft.com/office/drawing/2014/main" id="{E1F28D24-A6B8-9B34-BF87-627EAAEDC2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Номер слайда 3">
            <a:extLst>
              <a:ext uri="{FF2B5EF4-FFF2-40B4-BE49-F238E27FC236}">
                <a16:creationId xmlns:a16="http://schemas.microsoft.com/office/drawing/2014/main" id="{2E5BEE9F-ACC9-5984-42C3-7D5D3E59E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6C82C78-52E6-48E6-93AB-CB1208BCB7C8}" type="slidenum">
              <a:rPr lang="ru-RU" altLang="en-US" smtClean="0"/>
              <a:pPr/>
              <a:t>17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Образ слайда 1">
            <a:extLst>
              <a:ext uri="{FF2B5EF4-FFF2-40B4-BE49-F238E27FC236}">
                <a16:creationId xmlns:a16="http://schemas.microsoft.com/office/drawing/2014/main" id="{222C0A9B-E95E-D230-718B-968568B7DA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Заметки 2">
            <a:extLst>
              <a:ext uri="{FF2B5EF4-FFF2-40B4-BE49-F238E27FC236}">
                <a16:creationId xmlns:a16="http://schemas.microsoft.com/office/drawing/2014/main" id="{FEB3A08F-4C92-D453-3065-77CF492C68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7892" name="Номер слайда 3">
            <a:extLst>
              <a:ext uri="{FF2B5EF4-FFF2-40B4-BE49-F238E27FC236}">
                <a16:creationId xmlns:a16="http://schemas.microsoft.com/office/drawing/2014/main" id="{F013BBB2-19CB-712D-C705-2F6226CE9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8101656-E350-4CFE-BF95-6C1A0FE1E873}" type="slidenum">
              <a:rPr lang="ru-RU" altLang="en-US" smtClean="0"/>
              <a:pPr/>
              <a:t>18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>
            <a:extLst>
              <a:ext uri="{FF2B5EF4-FFF2-40B4-BE49-F238E27FC236}">
                <a16:creationId xmlns:a16="http://schemas.microsoft.com/office/drawing/2014/main" id="{E372E75E-49C3-0FAD-7FB6-4558A65759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>
            <a:extLst>
              <a:ext uri="{FF2B5EF4-FFF2-40B4-BE49-F238E27FC236}">
                <a16:creationId xmlns:a16="http://schemas.microsoft.com/office/drawing/2014/main" id="{41A66BD1-30F7-7514-863C-282204CD60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Номер слайда 3">
            <a:extLst>
              <a:ext uri="{FF2B5EF4-FFF2-40B4-BE49-F238E27FC236}">
                <a16:creationId xmlns:a16="http://schemas.microsoft.com/office/drawing/2014/main" id="{88C40CC5-A63F-435E-1166-7F0CDFBCA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9CAC5E7-4FBA-4C29-8CC3-99449E7C7826}" type="slidenum">
              <a:rPr lang="ru-RU" altLang="en-US" smtClean="0"/>
              <a:pPr/>
              <a:t>19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Образ слайда 1">
            <a:extLst>
              <a:ext uri="{FF2B5EF4-FFF2-40B4-BE49-F238E27FC236}">
                <a16:creationId xmlns:a16="http://schemas.microsoft.com/office/drawing/2014/main" id="{03FAFD4C-B8A8-8FCD-DC23-EC5412AA41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Заметки 2">
            <a:extLst>
              <a:ext uri="{FF2B5EF4-FFF2-40B4-BE49-F238E27FC236}">
                <a16:creationId xmlns:a16="http://schemas.microsoft.com/office/drawing/2014/main" id="{ED5425E7-C904-1570-352C-299DCC94D2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Номер слайда 3">
            <a:extLst>
              <a:ext uri="{FF2B5EF4-FFF2-40B4-BE49-F238E27FC236}">
                <a16:creationId xmlns:a16="http://schemas.microsoft.com/office/drawing/2014/main" id="{68233AFD-3816-7795-C616-E4D0A41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8E5FBDB-7667-4C4E-87B0-4B947960D978}" type="slidenum">
              <a:rPr lang="ru-RU" altLang="en-US" smtClean="0"/>
              <a:pPr/>
              <a:t>20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Образ слайда 1">
            <a:extLst>
              <a:ext uri="{FF2B5EF4-FFF2-40B4-BE49-F238E27FC236}">
                <a16:creationId xmlns:a16="http://schemas.microsoft.com/office/drawing/2014/main" id="{834612A6-1930-54A4-5985-11104B69EE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Заметки 2">
            <a:extLst>
              <a:ext uri="{FF2B5EF4-FFF2-40B4-BE49-F238E27FC236}">
                <a16:creationId xmlns:a16="http://schemas.microsoft.com/office/drawing/2014/main" id="{2AAA69C5-B664-AB0F-4C07-21E01F3642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Номер слайда 3">
            <a:extLst>
              <a:ext uri="{FF2B5EF4-FFF2-40B4-BE49-F238E27FC236}">
                <a16:creationId xmlns:a16="http://schemas.microsoft.com/office/drawing/2014/main" id="{C787FDCA-F411-6CBC-7170-AEAE13A4F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C6D0892-A5C1-45D4-80C4-221EAD9B6A32}" type="slidenum">
              <a:rPr lang="ru-RU" altLang="en-US" smtClean="0"/>
              <a:pPr/>
              <a:t>21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Образ слайда 1">
            <a:extLst>
              <a:ext uri="{FF2B5EF4-FFF2-40B4-BE49-F238E27FC236}">
                <a16:creationId xmlns:a16="http://schemas.microsoft.com/office/drawing/2014/main" id="{20F78096-B7CF-E4DD-1D9D-D06AE11520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Заметки 2">
            <a:extLst>
              <a:ext uri="{FF2B5EF4-FFF2-40B4-BE49-F238E27FC236}">
                <a16:creationId xmlns:a16="http://schemas.microsoft.com/office/drawing/2014/main" id="{55B21489-2E1D-0ECA-63A5-83512FA323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Номер слайда 3">
            <a:extLst>
              <a:ext uri="{FF2B5EF4-FFF2-40B4-BE49-F238E27FC236}">
                <a16:creationId xmlns:a16="http://schemas.microsoft.com/office/drawing/2014/main" id="{41A85EB6-D5B7-1698-C2D7-7DBB8C794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026055C-44CD-44A2-AED6-0967995BE0C1}" type="slidenum">
              <a:rPr lang="ru-RU" altLang="en-US" smtClean="0"/>
              <a:pPr/>
              <a:t>22</a:t>
            </a:fld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F92C46-E89D-5A31-6733-9824CAB9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E9B16-EF59-4909-A39B-5E7A7E3D0056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6CC4F2-1E8B-4D76-D3F6-0677A3CC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507BE7-350E-88E4-707C-CD62B6EE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99C1A-5799-417B-81A2-21BFD57F0B36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67211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FCE3B1-68BF-43BF-79CC-3908BF49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17216-559C-448D-A806-55216D889417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56B737-769D-B7B5-2256-B9976698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5AEAC2-B3EA-711B-B832-1AF7A39A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4E0A7-FED6-4B6A-B442-DDD935EF2CC7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144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F58AC0-7A12-00CE-0043-ECB9A8CE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6D111-4E19-469C-A80B-42C1EBB112C1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FE5C90-980F-DF6F-94C5-FE30E52E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2D3116-5CDF-365F-D79B-C977A66AF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C20EF-E16C-45BA-A500-195D1D6AA0AD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9170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E19E832-A5BE-56B8-2AFB-B831FC76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64860-A38A-477E-B884-1079FB1DC7AC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078566DB-7EB6-284E-02DD-AA18924F7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16CD778A-A99C-FCA2-C973-491C832FA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7C934-FFE4-4963-A961-7158A220FA17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37893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5091F5AE-CAAF-2BB1-B25A-10A05162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09C03-ADFA-40C9-9202-6946D159D248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2339B311-CCDD-C7E2-506B-EF27CF86E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6921BCA-7D68-9125-36E7-3682A9CE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1031-4724-41C7-9E57-7D16A318872B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1393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0CE9E5F7-1AA3-2CA4-2BD9-E659DE04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A57D0-AFF8-4FBD-B29F-C46F75B83687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ED5355B0-256C-83FB-A6DF-4E979B58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E05FFEB-8988-6D0D-4BD2-288E9E44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801D4-9A84-41C6-85B9-B679C61722B5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01786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B7C6658D-55A7-2F84-40CE-0B518D265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58CA8-A2E9-4103-8F4E-6F431B9E7D04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86286B04-E36E-9196-4125-299A8063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EA26EC0-467B-7A43-34C4-7F03D185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53705-3FB9-48F1-8432-61C80D7D04AA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668971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83C11E09-A6B4-F6D6-A621-1BC3BFE3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D5455-55CF-4E49-AF78-8043084A7F5A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B04342B-47CE-1CC8-FDBF-F49F44AB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07A64C4-2711-9970-8FE7-EC473E25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6526A-0651-4153-BC63-D9A79B80F677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95789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0CD71A26-8EA1-9970-4A35-ED44323F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A2AEB8-0AA1-455B-A686-01794035C4BB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7C468355-046A-9664-3782-D34B4E86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7E241491-1A2B-EA46-48AB-D32205A6E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F79365-F0FB-4250-AFF0-64F0545F93E9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901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B0FB3E-B419-BD81-05EC-96253D8D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F7931-DCF7-48C6-BC54-298F0EBF89A5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72FB1-8A5D-F0E3-40D7-72756612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F34579-F0B3-AD32-4A66-61F1C82A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B5BE1-FEC3-4881-8173-DC6FC91E1A73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43834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1A4162-4F1E-5B0E-756F-398FE246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E15E2-EE02-4A48-80ED-DBDBDC9519DC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46110-C715-6E22-8171-5A37D986C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1CBA5-3BD6-4314-4999-CB179AB8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112FD-12AD-4409-8937-4631CEE34B48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6440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3F91A5D8-D6C2-69A5-9C21-AB0EBD81D4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A6D1F905-1086-65B1-775A-226EE42139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Образец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38080E-A2EE-BD2A-87C2-79D5FE7D6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292628E-8831-4BED-89C5-9E665F52E6A4}" type="datetime1">
              <a:rPr lang="ru-RU"/>
              <a:pPr>
                <a:defRPr/>
              </a:pPr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739962-EBE2-35DE-3F41-97BF5FB40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0EA39E-1146-E877-C401-93832BC1D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057A206-02F1-4DF9-B0F8-95AA4645674F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4.png"/><Relationship Id="rId1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.png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2.xml"/><Relationship Id="rId10" Type="http://schemas.openxmlformats.org/officeDocument/2006/relationships/image" Target="../media/image2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eg"/><Relationship Id="rId1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user.iter.org/default.aspx?uid=AFPLNZ" TargetMode="External"/><Relationship Id="rId3" Type="http://schemas.openxmlformats.org/officeDocument/2006/relationships/image" Target="../media/image5.jpeg"/><Relationship Id="rId7" Type="http://schemas.openxmlformats.org/officeDocument/2006/relationships/hyperlink" Target="https://user.iter.org/default.aspx?uid=AFPL4Q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ser.iter.org/default.aspx?uid=AFPCTH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hyperlink" Target="https://user.iter.org/default.aspx?uid=B5VN3U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5.jpeg"/><Relationship Id="rId7" Type="http://schemas.openxmlformats.org/officeDocument/2006/relationships/hyperlink" Target="https://user.iter.org/default.aspx?uid=ARXHPQ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5.jpeg"/><Relationship Id="rId7" Type="http://schemas.openxmlformats.org/officeDocument/2006/relationships/hyperlink" Target="https://user.iter.org/default.aspx?uid=ARXHPQ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user.iter.org/default.aspx?uid=AU3RWH" TargetMode="External"/><Relationship Id="rId3" Type="http://schemas.openxmlformats.org/officeDocument/2006/relationships/image" Target="../media/image5.jpe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hyperlink" Target="https://user.iter.org/default.aspx?uid=AU3RWH" TargetMode="External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jpeg"/><Relationship Id="rId9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jpe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4.png"/><Relationship Id="rId3" Type="http://schemas.openxmlformats.org/officeDocument/2006/relationships/image" Target="../media/image27.png"/><Relationship Id="rId7" Type="http://schemas.openxmlformats.org/officeDocument/2006/relationships/hyperlink" Target="https://confluence.iter.org/x/GJ9MJw" TargetMode="External"/><Relationship Id="rId12" Type="http://schemas.openxmlformats.org/officeDocument/2006/relationships/hyperlink" Target="mailto:a.govorov@niaengineering.ru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hyperlink" Target="mailto:n.babinov@niaengineering.ru" TargetMode="External"/><Relationship Id="rId5" Type="http://schemas.openxmlformats.org/officeDocument/2006/relationships/image" Target="../media/image2.png"/><Relationship Id="rId10" Type="http://schemas.openxmlformats.org/officeDocument/2006/relationships/hyperlink" Target="mailto:ilya.smirnov@rosatom.fr" TargetMode="External"/><Relationship Id="rId4" Type="http://schemas.openxmlformats.org/officeDocument/2006/relationships/image" Target="../media/image5.jpeg"/><Relationship Id="rId9" Type="http://schemas.openxmlformats.org/officeDocument/2006/relationships/hyperlink" Target="mailto:arthur.leveque@iter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3">
            <a:extLst>
              <a:ext uri="{FF2B5EF4-FFF2-40B4-BE49-F238E27FC236}">
                <a16:creationId xmlns:a16="http://schemas.microsoft.com/office/drawing/2014/main" id="{214685C0-7FD0-9CD4-6635-3BD8E67BB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83"/>
          <a:stretch>
            <a:fillRect/>
          </a:stretch>
        </p:blipFill>
        <p:spPr bwMode="auto">
          <a:xfrm>
            <a:off x="387350" y="300038"/>
            <a:ext cx="10096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5CE8A2-D7BC-3762-C0CD-16ED54E402BF}"/>
              </a:ext>
            </a:extLst>
          </p:cNvPr>
          <p:cNvSpPr txBox="1"/>
          <p:nvPr/>
        </p:nvSpPr>
        <p:spPr>
          <a:xfrm>
            <a:off x="1549400" y="298450"/>
            <a:ext cx="290830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NIA ENGINEERING</a:t>
            </a:r>
            <a:endParaRPr lang="ru-RU" sz="2400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076" name="Object10">
            <a:extLst>
              <a:ext uri="{FF2B5EF4-FFF2-40B4-BE49-F238E27FC236}">
                <a16:creationId xmlns:a16="http://schemas.microsoft.com/office/drawing/2014/main" id="{7E0105EE-BBED-970D-E5E9-14D5BE02D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1704975"/>
            <a:ext cx="8650288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7200">
                <a:latin typeface="Montserrat Black" panose="00000A00000000000000" pitchFamily="2" charset="0"/>
              </a:rPr>
              <a:t>I&amp;C Common solutions – IA02</a:t>
            </a:r>
          </a:p>
        </p:txBody>
      </p:sp>
      <p:sp>
        <p:nvSpPr>
          <p:cNvPr id="7" name="Object8">
            <a:extLst>
              <a:ext uri="{FF2B5EF4-FFF2-40B4-BE49-F238E27FC236}">
                <a16:creationId xmlns:a16="http://schemas.microsoft.com/office/drawing/2014/main" id="{D5F86512-586F-1C77-8102-D84EA7C5E70F}"/>
              </a:ext>
            </a:extLst>
          </p:cNvPr>
          <p:cNvSpPr/>
          <p:nvPr/>
        </p:nvSpPr>
        <p:spPr>
          <a:xfrm>
            <a:off x="481013" y="4989513"/>
            <a:ext cx="4756150" cy="9017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spc="-75" dirty="0">
                <a:solidFill>
                  <a:srgbClr val="009FE3"/>
                </a:solidFill>
                <a:latin typeface="Montserrat Light" panose="00000400000000000000" pitchFamily="2" charset="-52"/>
                <a:ea typeface="TT Norms Bold" pitchFamily="34" charset="-122"/>
              </a:rPr>
              <a:t>9 October 2024</a:t>
            </a:r>
          </a:p>
        </p:txBody>
      </p:sp>
      <p:sp>
        <p:nvSpPr>
          <p:cNvPr id="3078" name="Object6">
            <a:extLst>
              <a:ext uri="{FF2B5EF4-FFF2-40B4-BE49-F238E27FC236}">
                <a16:creationId xmlns:a16="http://schemas.microsoft.com/office/drawing/2014/main" id="{4B3BA302-BFEB-951A-3466-0773BC170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800" y="4684713"/>
            <a:ext cx="7473950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latin typeface="Montserrat Light" panose="00000400000000000000" pitchFamily="2" charset="0"/>
                <a:ea typeface="TT Norms Bold"/>
                <a:cs typeface="TT Norms Bold"/>
              </a:rPr>
              <a:t>Prepared by: </a:t>
            </a: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latin typeface="Montserrat Light" panose="00000400000000000000" pitchFamily="2" charset="0"/>
                <a:ea typeface="TT Norms Bold"/>
                <a:cs typeface="TT Norms Bold"/>
              </a:rPr>
              <a:t>I. Smirnov, N. Babinov, A. Govorov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ru-RU" altLang="en-US" sz="1600">
              <a:latin typeface="TT Norms Regular"/>
              <a:ea typeface="TT Norms Regular"/>
              <a:cs typeface="TT Norms Regular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ru-RU" altLang="en-US" sz="1600">
              <a:latin typeface="TT Norms Regular"/>
              <a:ea typeface="TT Norms Regular"/>
              <a:cs typeface="TT Norms Regular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grpSp>
        <p:nvGrpSpPr>
          <p:cNvPr id="3079" name="Группа 21">
            <a:extLst>
              <a:ext uri="{FF2B5EF4-FFF2-40B4-BE49-F238E27FC236}">
                <a16:creationId xmlns:a16="http://schemas.microsoft.com/office/drawing/2014/main" id="{D3118AC8-1F73-B32B-60F7-38FF4D86E64E}"/>
              </a:ext>
            </a:extLst>
          </p:cNvPr>
          <p:cNvGrpSpPr>
            <a:grpSpLocks/>
          </p:cNvGrpSpPr>
          <p:nvPr/>
        </p:nvGrpSpPr>
        <p:grpSpPr bwMode="auto">
          <a:xfrm>
            <a:off x="6003925" y="4672013"/>
            <a:ext cx="6188075" cy="1397000"/>
            <a:chOff x="13064868" y="1553158"/>
            <a:chExt cx="4480182" cy="1750301"/>
          </a:xfrm>
        </p:grpSpPr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CB174575-0CEE-2968-B9C6-E702706E81F2}"/>
                </a:ext>
              </a:extLst>
            </p:cNvPr>
            <p:cNvCxnSpPr/>
            <p:nvPr/>
          </p:nvCxnSpPr>
          <p:spPr>
            <a:xfrm>
              <a:off x="13064868" y="1553158"/>
              <a:ext cx="44801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F2984C32-3A74-962C-6496-C57FD6693CAE}"/>
                </a:ext>
              </a:extLst>
            </p:cNvPr>
            <p:cNvCxnSpPr/>
            <p:nvPr/>
          </p:nvCxnSpPr>
          <p:spPr>
            <a:xfrm>
              <a:off x="13064868" y="3303459"/>
              <a:ext cx="44801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80" name="Google Shape;285;p1" descr="ITER — Wikipédia">
            <a:extLst>
              <a:ext uri="{FF2B5EF4-FFF2-40B4-BE49-F238E27FC236}">
                <a16:creationId xmlns:a16="http://schemas.microsoft.com/office/drawing/2014/main" id="{D69D4EE3-DBDF-A6B2-11B6-3E785F49808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133350"/>
            <a:ext cx="1978025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Рисунок 4">
            <a:extLst>
              <a:ext uri="{FF2B5EF4-FFF2-40B4-BE49-F238E27FC236}">
                <a16:creationId xmlns:a16="http://schemas.microsoft.com/office/drawing/2014/main" id="{448B9C68-45E0-61DE-6245-1BD42293A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65138"/>
            <a:ext cx="17970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">
            <a:extLst>
              <a:ext uri="{FF2B5EF4-FFF2-40B4-BE49-F238E27FC236}">
                <a16:creationId xmlns:a16="http://schemas.microsoft.com/office/drawing/2014/main" id="{D3211EE4-7FA3-2210-4A6B-0E11ABFC4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50" y="346075"/>
            <a:ext cx="27940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15">
            <a:extLst>
              <a:ext uri="{FF2B5EF4-FFF2-40B4-BE49-F238E27FC236}">
                <a16:creationId xmlns:a16="http://schemas.microsoft.com/office/drawing/2014/main" id="{65EBD9C7-48D9-0437-5002-5C536B68D9B7}"/>
              </a:ext>
            </a:extLst>
          </p:cNvPr>
          <p:cNvSpPr/>
          <p:nvPr/>
        </p:nvSpPr>
        <p:spPr>
          <a:xfrm>
            <a:off x="187325" y="776288"/>
            <a:ext cx="7964488" cy="633412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ts val="570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kern="0" spc="-226" dirty="0">
                <a:solidFill>
                  <a:srgbClr val="32363A"/>
                </a:solidFill>
                <a:latin typeface="Montserrat Black" panose="00000A00000000000000" pitchFamily="2" charset="-52"/>
              </a:rPr>
              <a:t>Agenda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44661B3-952F-C946-8E3C-9A98A1F035C8}"/>
              </a:ext>
            </a:extLst>
          </p:cNvPr>
          <p:cNvGraphicFramePr>
            <a:graphicFrameLocks noGrp="1"/>
          </p:cNvGraphicFramePr>
          <p:nvPr/>
        </p:nvGraphicFramePr>
        <p:xfrm>
          <a:off x="0" y="1662113"/>
          <a:ext cx="12192000" cy="411179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011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3715">
                <a:tc>
                  <a:txBody>
                    <a:bodyPr/>
                    <a:lstStyle/>
                    <a:p>
                      <a:r>
                        <a:rPr lang="en-US" sz="3100" b="0" dirty="0">
                          <a:latin typeface="Montserrat Light" panose="00000400000000000000" pitchFamily="2" charset="-52"/>
                        </a:rPr>
                        <a:t>Brief introduction </a:t>
                      </a:r>
                    </a:p>
                  </a:txBody>
                  <a:tcPr marT="50941" marB="50941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000" b="0" dirty="0">
                        <a:latin typeface="Montserrat Light" panose="00000400000000000000" pitchFamily="2" charset="-52"/>
                      </a:endParaRPr>
                    </a:p>
                  </a:txBody>
                  <a:tcPr marT="50941" marB="5094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454">
                <a:tc>
                  <a:txBody>
                    <a:bodyPr/>
                    <a:lstStyle/>
                    <a:p>
                      <a:r>
                        <a:rPr lang="en-US" sz="3100" b="0" dirty="0">
                          <a:latin typeface="Montserrat Light" panose="00000400000000000000" pitchFamily="2" charset="-52"/>
                        </a:rPr>
                        <a:t>Idea of common solution</a:t>
                      </a:r>
                    </a:p>
                  </a:txBody>
                  <a:tcPr marT="50941" marB="50941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000" b="0" dirty="0">
                        <a:latin typeface="Montserrat Light" panose="00000400000000000000" pitchFamily="2" charset="-52"/>
                      </a:endParaRPr>
                    </a:p>
                  </a:txBody>
                  <a:tcPr marT="50941" marB="5094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083">
                <a:tc>
                  <a:txBody>
                    <a:bodyPr/>
                    <a:lstStyle/>
                    <a:p>
                      <a:r>
                        <a:rPr lang="en-US" sz="3100" b="0" dirty="0">
                          <a:latin typeface="Montserrat Light" panose="00000400000000000000" pitchFamily="2" charset="-52"/>
                        </a:rPr>
                        <a:t>Currently available and planned common solutions</a:t>
                      </a:r>
                    </a:p>
                  </a:txBody>
                  <a:tcPr marT="50941" marB="50941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000" b="0" dirty="0">
                        <a:latin typeface="Montserrat Light" panose="00000400000000000000" pitchFamily="2" charset="-52"/>
                      </a:endParaRPr>
                    </a:p>
                  </a:txBody>
                  <a:tcPr marT="50941" marB="5094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588">
                <a:tc>
                  <a:txBody>
                    <a:bodyPr/>
                    <a:lstStyle/>
                    <a:p>
                      <a:r>
                        <a:rPr lang="en-US" sz="3100" b="0" dirty="0">
                          <a:latin typeface="Montserrat Light" panose="00000400000000000000" pitchFamily="2" charset="-52"/>
                        </a:rPr>
                        <a:t>How to integrate a common solution into an existing project</a:t>
                      </a:r>
                    </a:p>
                  </a:txBody>
                  <a:tcPr marT="50941" marB="50941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000" b="0" dirty="0">
                        <a:latin typeface="Montserrat Light" panose="00000400000000000000" pitchFamily="2" charset="-52"/>
                      </a:endParaRPr>
                    </a:p>
                  </a:txBody>
                  <a:tcPr marT="50941" marB="5094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dirty="0">
                          <a:latin typeface="Montserrat Light" panose="00000400000000000000" pitchFamily="2" charset="-52"/>
                        </a:rPr>
                        <a:t>Conclusion</a:t>
                      </a:r>
                    </a:p>
                    <a:p>
                      <a:endParaRPr lang="en-US" sz="3100" b="0" dirty="0">
                        <a:latin typeface="Montserrat Light" panose="00000400000000000000" pitchFamily="2" charset="-52"/>
                      </a:endParaRPr>
                    </a:p>
                  </a:txBody>
                  <a:tcPr marT="50941" marB="50941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000" b="0" dirty="0">
                        <a:latin typeface="Montserrat Light" panose="00000400000000000000" pitchFamily="2" charset="-52"/>
                      </a:endParaRPr>
                    </a:p>
                  </a:txBody>
                  <a:tcPr marT="50941" marB="5094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A80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15" name="Номер слайда 3">
            <a:extLst>
              <a:ext uri="{FF2B5EF4-FFF2-40B4-BE49-F238E27FC236}">
                <a16:creationId xmlns:a16="http://schemas.microsoft.com/office/drawing/2014/main" id="{B7381EE4-1D17-2E7E-6D28-2D09537B6E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332AC4D-7B03-48F0-9E4B-D0E91FE66F91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pic>
        <p:nvPicPr>
          <p:cNvPr id="4116" name="Рисунок 4">
            <a:extLst>
              <a:ext uri="{FF2B5EF4-FFF2-40B4-BE49-F238E27FC236}">
                <a16:creationId xmlns:a16="http://schemas.microsoft.com/office/drawing/2014/main" id="{16BADF2F-F13A-EB74-471F-BDF25D1FE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0" y="130175"/>
            <a:ext cx="17970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7" name="TextBox 10">
            <a:extLst>
              <a:ext uri="{FF2B5EF4-FFF2-40B4-BE49-F238E27FC236}">
                <a16:creationId xmlns:a16="http://schemas.microsoft.com/office/drawing/2014/main" id="{BB2655A2-EA1F-2179-00C1-BA7819871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5445125"/>
            <a:ext cx="52752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Montserrat Light" panose="00000400000000000000" pitchFamily="2" charset="0"/>
              </a:rPr>
              <a:t>Number of slides </a:t>
            </a:r>
            <a:r>
              <a:rPr lang="en-US" altLang="en-US" sz="1800" i="1">
                <a:latin typeface="Montserrat Light" panose="00000400000000000000" pitchFamily="2" charset="0"/>
              </a:rPr>
              <a:t>- </a:t>
            </a:r>
            <a:r>
              <a:rPr lang="ru-RU" altLang="en-US" sz="1800" i="1">
                <a:latin typeface="Montserrat Light" panose="00000400000000000000" pitchFamily="2" charset="0"/>
              </a:rPr>
              <a:t>20</a:t>
            </a:r>
            <a:endParaRPr lang="en-US" altLang="en-US" sz="1800" i="1">
              <a:latin typeface="Montserrat Light" panose="00000400000000000000" pitchFamily="2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Montserrat Light" panose="00000400000000000000" pitchFamily="2" charset="0"/>
              </a:rPr>
              <a:t>Duration of the presentation </a:t>
            </a:r>
            <a:r>
              <a:rPr lang="en-US" altLang="en-US" sz="1800" i="1">
                <a:latin typeface="Montserrat Light" panose="00000400000000000000" pitchFamily="2" charset="0"/>
              </a:rPr>
              <a:t>~ 15 min</a:t>
            </a:r>
          </a:p>
        </p:txBody>
      </p:sp>
      <p:grpSp>
        <p:nvGrpSpPr>
          <p:cNvPr id="4118" name="Группа 4">
            <a:extLst>
              <a:ext uri="{FF2B5EF4-FFF2-40B4-BE49-F238E27FC236}">
                <a16:creationId xmlns:a16="http://schemas.microsoft.com/office/drawing/2014/main" id="{BF50F27A-980E-F715-3C64-51BD03B2B531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4120" name="Рисунок 21">
              <a:extLst>
                <a:ext uri="{FF2B5EF4-FFF2-40B4-BE49-F238E27FC236}">
                  <a16:creationId xmlns:a16="http://schemas.microsoft.com/office/drawing/2014/main" id="{65DE5D39-3CC7-BD18-289C-28D1DABDA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B50293-C94D-72F1-982E-34BC61AA7BBB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4122" name="Google Shape;285;p1" descr="ITER — Wikipédia">
              <a:extLst>
                <a:ext uri="{FF2B5EF4-FFF2-40B4-BE49-F238E27FC236}">
                  <a16:creationId xmlns:a16="http://schemas.microsoft.com/office/drawing/2014/main" id="{DE9E2763-6720-4B2F-8F38-B9DEBE4558FB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23" name="Рисунок 4">
              <a:extLst>
                <a:ext uri="{FF2B5EF4-FFF2-40B4-BE49-F238E27FC236}">
                  <a16:creationId xmlns:a16="http://schemas.microsoft.com/office/drawing/2014/main" id="{308B3EF5-2CC9-37BB-3F0C-661670F3F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19" name="Picture 1">
            <a:extLst>
              <a:ext uri="{FF2B5EF4-FFF2-40B4-BE49-F238E27FC236}">
                <a16:creationId xmlns:a16="http://schemas.microsoft.com/office/drawing/2014/main" id="{F4E3508A-3359-E796-EE17-FD8864A4A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267CDC11-9ABF-E158-82B3-CB314D50F313}"/>
              </a:ext>
            </a:extLst>
          </p:cNvPr>
          <p:cNvSpPr/>
          <p:nvPr/>
        </p:nvSpPr>
        <p:spPr>
          <a:xfrm>
            <a:off x="160338" y="823913"/>
            <a:ext cx="5167312" cy="120015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OUR TEAM AND </a:t>
            </a:r>
            <a:r>
              <a:rPr lang="en-US" sz="48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RESPONSIBILITY</a:t>
            </a: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147" name="Номер слайда 1">
            <a:extLst>
              <a:ext uri="{FF2B5EF4-FFF2-40B4-BE49-F238E27FC236}">
                <a16:creationId xmlns:a16="http://schemas.microsoft.com/office/drawing/2014/main" id="{AA78B201-B971-41A5-6762-BAC44E6D9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3AA00DE-6B38-41B9-AE72-7879350BA4D3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sp>
        <p:nvSpPr>
          <p:cNvPr id="6148" name="Прямоугольник 19">
            <a:extLst>
              <a:ext uri="{FF2B5EF4-FFF2-40B4-BE49-F238E27FC236}">
                <a16:creationId xmlns:a16="http://schemas.microsoft.com/office/drawing/2014/main" id="{058A53D1-291D-4CA4-1357-29F65550D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2474913"/>
            <a:ext cx="566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Montserrat Light" panose="00000400000000000000" pitchFamily="2" charset="0"/>
              </a:rPr>
              <a:t>Our responsibility</a:t>
            </a:r>
          </a:p>
        </p:txBody>
      </p:sp>
      <p:sp>
        <p:nvSpPr>
          <p:cNvPr id="6149" name="Прямоугольник 20">
            <a:extLst>
              <a:ext uri="{FF2B5EF4-FFF2-40B4-BE49-F238E27FC236}">
                <a16:creationId xmlns:a16="http://schemas.microsoft.com/office/drawing/2014/main" id="{793D590F-9293-41E3-4094-E6780002B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3228975"/>
            <a:ext cx="5664200" cy="257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Montserrat Light" panose="00000400000000000000" pitchFamily="2" charset="0"/>
              </a:rPr>
              <a:t>V&amp;V activities – inspection of SMS, MIP, wiring diagrams, software and on-site manufacturing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 dirty="0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Montserrat Light" panose="00000400000000000000" pitchFamily="2" charset="0"/>
              </a:rPr>
              <a:t>Preparation of manufacturing progress reports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 dirty="0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Montserrat Light" panose="00000400000000000000" pitchFamily="2" charset="0"/>
              </a:rPr>
              <a:t>Preparation of the common solutions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B040583B-3BAD-1A00-6B3B-A8FE199EAF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134760"/>
              </p:ext>
            </p:extLst>
          </p:nvPr>
        </p:nvGraphicFramePr>
        <p:xfrm>
          <a:off x="5991278" y="1366796"/>
          <a:ext cx="5815600" cy="1692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51465BD-719A-41B7-87E9-27A6D9C73365}"/>
              </a:ext>
            </a:extLst>
          </p:cNvPr>
          <p:cNvGrpSpPr/>
          <p:nvPr/>
        </p:nvGrpSpPr>
        <p:grpSpPr>
          <a:xfrm>
            <a:off x="5991278" y="4609197"/>
            <a:ext cx="5813099" cy="1649559"/>
            <a:chOff x="5991278" y="4609197"/>
            <a:chExt cx="5813099" cy="164955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B779BA8-2227-5FD7-954B-3D21AA5C98CD}"/>
                </a:ext>
              </a:extLst>
            </p:cNvPr>
            <p:cNvSpPr/>
            <p:nvPr/>
          </p:nvSpPr>
          <p:spPr>
            <a:xfrm>
              <a:off x="5991278" y="4609197"/>
              <a:ext cx="2930697" cy="1649559"/>
            </a:xfrm>
            <a:custGeom>
              <a:avLst/>
              <a:gdLst>
                <a:gd name="connsiteX0" fmla="*/ 0 w 2862366"/>
                <a:gd name="connsiteY0" fmla="*/ 164956 h 1649559"/>
                <a:gd name="connsiteX1" fmla="*/ 164956 w 2862366"/>
                <a:gd name="connsiteY1" fmla="*/ 0 h 1649559"/>
                <a:gd name="connsiteX2" fmla="*/ 2697410 w 2862366"/>
                <a:gd name="connsiteY2" fmla="*/ 0 h 1649559"/>
                <a:gd name="connsiteX3" fmla="*/ 2862366 w 2862366"/>
                <a:gd name="connsiteY3" fmla="*/ 164956 h 1649559"/>
                <a:gd name="connsiteX4" fmla="*/ 2862366 w 2862366"/>
                <a:gd name="connsiteY4" fmla="*/ 1484603 h 1649559"/>
                <a:gd name="connsiteX5" fmla="*/ 2697410 w 2862366"/>
                <a:gd name="connsiteY5" fmla="*/ 1649559 h 1649559"/>
                <a:gd name="connsiteX6" fmla="*/ 164956 w 2862366"/>
                <a:gd name="connsiteY6" fmla="*/ 1649559 h 1649559"/>
                <a:gd name="connsiteX7" fmla="*/ 0 w 2862366"/>
                <a:gd name="connsiteY7" fmla="*/ 1484603 h 1649559"/>
                <a:gd name="connsiteX8" fmla="*/ 0 w 2862366"/>
                <a:gd name="connsiteY8" fmla="*/ 164956 h 1649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62366" h="1649559">
                  <a:moveTo>
                    <a:pt x="0" y="164956"/>
                  </a:moveTo>
                  <a:cubicBezTo>
                    <a:pt x="0" y="73853"/>
                    <a:pt x="73853" y="0"/>
                    <a:pt x="164956" y="0"/>
                  </a:cubicBezTo>
                  <a:lnTo>
                    <a:pt x="2697410" y="0"/>
                  </a:lnTo>
                  <a:cubicBezTo>
                    <a:pt x="2788513" y="0"/>
                    <a:pt x="2862366" y="73853"/>
                    <a:pt x="2862366" y="164956"/>
                  </a:cubicBezTo>
                  <a:lnTo>
                    <a:pt x="2862366" y="1484603"/>
                  </a:lnTo>
                  <a:cubicBezTo>
                    <a:pt x="2862366" y="1575706"/>
                    <a:pt x="2788513" y="1649559"/>
                    <a:pt x="2697410" y="1649559"/>
                  </a:cubicBezTo>
                  <a:lnTo>
                    <a:pt x="164956" y="1649559"/>
                  </a:lnTo>
                  <a:cubicBezTo>
                    <a:pt x="73853" y="1649559"/>
                    <a:pt x="0" y="1575706"/>
                    <a:pt x="0" y="1484603"/>
                  </a:cubicBezTo>
                  <a:lnTo>
                    <a:pt x="0" y="164956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568" tIns="759392" rIns="99568" bIns="429479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b="1" kern="1200" dirty="0">
                <a:latin typeface="Montserrat Light" panose="00000400000000000000" pitchFamily="2" charset="-52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dirty="0">
                  <a:latin typeface="Montserrat Light" panose="00000400000000000000" pitchFamily="2" charset="-52"/>
                </a:rPr>
                <a:t>Nikita Babinov </a:t>
              </a:r>
              <a:r>
                <a:rPr lang="en-US" sz="1400" kern="1200" dirty="0">
                  <a:latin typeface="Montserrat Light" panose="00000400000000000000" pitchFamily="2" charset="-52"/>
                </a:rPr>
                <a:t>– General manager of NIA Engineering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91BF0BE-6A9D-277E-AE75-AA93E620F450}"/>
                </a:ext>
              </a:extLst>
            </p:cNvPr>
            <p:cNvSpPr/>
            <p:nvPr/>
          </p:nvSpPr>
          <p:spPr>
            <a:xfrm>
              <a:off x="8942011" y="4609197"/>
              <a:ext cx="2862366" cy="1649559"/>
            </a:xfrm>
            <a:custGeom>
              <a:avLst/>
              <a:gdLst>
                <a:gd name="connsiteX0" fmla="*/ 0 w 2862366"/>
                <a:gd name="connsiteY0" fmla="*/ 164956 h 1649559"/>
                <a:gd name="connsiteX1" fmla="*/ 164956 w 2862366"/>
                <a:gd name="connsiteY1" fmla="*/ 0 h 1649559"/>
                <a:gd name="connsiteX2" fmla="*/ 2697410 w 2862366"/>
                <a:gd name="connsiteY2" fmla="*/ 0 h 1649559"/>
                <a:gd name="connsiteX3" fmla="*/ 2862366 w 2862366"/>
                <a:gd name="connsiteY3" fmla="*/ 164956 h 1649559"/>
                <a:gd name="connsiteX4" fmla="*/ 2862366 w 2862366"/>
                <a:gd name="connsiteY4" fmla="*/ 1484603 h 1649559"/>
                <a:gd name="connsiteX5" fmla="*/ 2697410 w 2862366"/>
                <a:gd name="connsiteY5" fmla="*/ 1649559 h 1649559"/>
                <a:gd name="connsiteX6" fmla="*/ 164956 w 2862366"/>
                <a:gd name="connsiteY6" fmla="*/ 1649559 h 1649559"/>
                <a:gd name="connsiteX7" fmla="*/ 0 w 2862366"/>
                <a:gd name="connsiteY7" fmla="*/ 1484603 h 1649559"/>
                <a:gd name="connsiteX8" fmla="*/ 0 w 2862366"/>
                <a:gd name="connsiteY8" fmla="*/ 164956 h 1649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62366" h="1649559">
                  <a:moveTo>
                    <a:pt x="0" y="164956"/>
                  </a:moveTo>
                  <a:cubicBezTo>
                    <a:pt x="0" y="73853"/>
                    <a:pt x="73853" y="0"/>
                    <a:pt x="164956" y="0"/>
                  </a:cubicBezTo>
                  <a:lnTo>
                    <a:pt x="2697410" y="0"/>
                  </a:lnTo>
                  <a:cubicBezTo>
                    <a:pt x="2788513" y="0"/>
                    <a:pt x="2862366" y="73853"/>
                    <a:pt x="2862366" y="164956"/>
                  </a:cubicBezTo>
                  <a:lnTo>
                    <a:pt x="2862366" y="1484603"/>
                  </a:lnTo>
                  <a:cubicBezTo>
                    <a:pt x="2862366" y="1575706"/>
                    <a:pt x="2788513" y="1649559"/>
                    <a:pt x="2697410" y="1649559"/>
                  </a:cubicBezTo>
                  <a:lnTo>
                    <a:pt x="164956" y="1649559"/>
                  </a:lnTo>
                  <a:cubicBezTo>
                    <a:pt x="73853" y="1649559"/>
                    <a:pt x="0" y="1575706"/>
                    <a:pt x="0" y="1484603"/>
                  </a:cubicBezTo>
                  <a:lnTo>
                    <a:pt x="0" y="164956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shade val="80000"/>
                <a:hueOff val="271263"/>
                <a:satOff val="5175"/>
                <a:lumOff val="22855"/>
                <a:alphaOff val="0"/>
              </a:schemeClr>
            </a:fillRef>
            <a:effectRef idx="3">
              <a:schemeClr val="accent1">
                <a:shade val="80000"/>
                <a:hueOff val="271263"/>
                <a:satOff val="5175"/>
                <a:lumOff val="228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680" tIns="766504" rIns="106680" bIns="436591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 dirty="0">
                  <a:latin typeface="Montserrat Light" panose="00000400000000000000" pitchFamily="2" charset="-52"/>
                </a:rPr>
                <a:t>Alexey </a:t>
              </a:r>
              <a:r>
                <a:rPr lang="en-US" sz="1500" b="1" kern="1200" dirty="0" err="1">
                  <a:latin typeface="Montserrat Light" panose="00000400000000000000" pitchFamily="2" charset="-52"/>
                </a:rPr>
                <a:t>Govorov</a:t>
              </a:r>
              <a:r>
                <a:rPr lang="en-US" sz="1500" b="1" kern="1200" dirty="0">
                  <a:latin typeface="Montserrat Light" panose="00000400000000000000" pitchFamily="2" charset="-52"/>
                </a:rPr>
                <a:t> </a:t>
              </a:r>
              <a:r>
                <a:rPr lang="en-US" sz="1500" kern="1200" dirty="0">
                  <a:latin typeface="Montserrat Light" panose="00000400000000000000" pitchFamily="2" charset="-52"/>
                </a:rPr>
                <a:t>– Technical coordinator of NIA team</a:t>
              </a:r>
              <a:endParaRPr lang="ru-RU" sz="1500" kern="1200" dirty="0">
                <a:latin typeface="Montserrat Light" panose="00000400000000000000" pitchFamily="2" charset="-52"/>
              </a:endParaRPr>
            </a:p>
          </p:txBody>
        </p:sp>
        <p:sp>
          <p:nvSpPr>
            <p:cNvPr id="11" name="Arrow: Left-Right 10">
              <a:extLst>
                <a:ext uri="{FF2B5EF4-FFF2-40B4-BE49-F238E27FC236}">
                  <a16:creationId xmlns:a16="http://schemas.microsoft.com/office/drawing/2014/main" id="{7E837DC7-5BB8-288A-8788-83C8ACBC3126}"/>
                </a:ext>
              </a:extLst>
            </p:cNvPr>
            <p:cNvSpPr/>
            <p:nvPr/>
          </p:nvSpPr>
          <p:spPr>
            <a:xfrm>
              <a:off x="6223900" y="5928845"/>
              <a:ext cx="5350352" cy="247434"/>
            </a:xfrm>
            <a:prstGeom prst="leftRightArrow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48136B1-CFC0-F976-9BB3-67FF7B77C9F0}"/>
                </a:ext>
              </a:extLst>
            </p:cNvPr>
            <p:cNvSpPr/>
            <p:nvPr/>
          </p:nvSpPr>
          <p:spPr>
            <a:xfrm>
              <a:off x="8652935" y="4669717"/>
              <a:ext cx="549303" cy="549303"/>
            </a:xfrm>
            <a:prstGeom prst="ellipse">
              <a:avLst/>
            </a:prstGeom>
            <a:blipFill rotWithShape="1">
              <a:blip r:embed="rId8"/>
              <a:srcRect/>
              <a:stretch>
                <a:fillRect l="-20000" r="-20000"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3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6151" name="Группа 38">
            <a:extLst>
              <a:ext uri="{FF2B5EF4-FFF2-40B4-BE49-F238E27FC236}">
                <a16:creationId xmlns:a16="http://schemas.microsoft.com/office/drawing/2014/main" id="{6846D9BE-0C30-8E0F-CEDB-B7258601658F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6154" name="Рисунок 39">
              <a:extLst>
                <a:ext uri="{FF2B5EF4-FFF2-40B4-BE49-F238E27FC236}">
                  <a16:creationId xmlns:a16="http://schemas.microsoft.com/office/drawing/2014/main" id="{63B1E275-CAD4-C9CB-006C-980589C78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66D51F-E350-8E83-BD44-E4808C241B94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6156" name="Google Shape;285;p1" descr="ITER — Wikipédia">
              <a:extLst>
                <a:ext uri="{FF2B5EF4-FFF2-40B4-BE49-F238E27FC236}">
                  <a16:creationId xmlns:a16="http://schemas.microsoft.com/office/drawing/2014/main" id="{D12852DB-6ED9-C988-BCFD-45DE31F4F867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7" name="Рисунок 4">
              <a:extLst>
                <a:ext uri="{FF2B5EF4-FFF2-40B4-BE49-F238E27FC236}">
                  <a16:creationId xmlns:a16="http://schemas.microsoft.com/office/drawing/2014/main" id="{0863DE22-23CF-44CD-0F29-F4EE0B51B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059E0CC-161F-8AF1-9F46-E9BCC5D7760B}"/>
              </a:ext>
            </a:extLst>
          </p:cNvPr>
          <p:cNvSpPr/>
          <p:nvPr/>
        </p:nvSpPr>
        <p:spPr>
          <a:xfrm>
            <a:off x="6864350" y="803275"/>
            <a:ext cx="4824413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-52"/>
              </a:rPr>
              <a:t>Responsible organizations</a:t>
            </a:r>
          </a:p>
        </p:txBody>
      </p:sp>
      <p:pic>
        <p:nvPicPr>
          <p:cNvPr id="6153" name="Picture 2">
            <a:extLst>
              <a:ext uri="{FF2B5EF4-FFF2-40B4-BE49-F238E27FC236}">
                <a16:creationId xmlns:a16="http://schemas.microsoft.com/office/drawing/2014/main" id="{6B3A0933-E81C-FE2E-6FFD-72C64D5C7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Схема 3">
            <a:extLst>
              <a:ext uri="{FF2B5EF4-FFF2-40B4-BE49-F238E27FC236}">
                <a16:creationId xmlns:a16="http://schemas.microsoft.com/office/drawing/2014/main" id="{685DBD93-0503-FD8A-F122-D1ECB41C7B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2071168"/>
              </p:ext>
            </p:extLst>
          </p:nvPr>
        </p:nvGraphicFramePr>
        <p:xfrm>
          <a:off x="5991279" y="3105126"/>
          <a:ext cx="5809916" cy="1458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1BFA40C6-CF86-AAA6-4ABE-406B53CA4CC7}"/>
              </a:ext>
            </a:extLst>
          </p:cNvPr>
          <p:cNvSpPr/>
          <p:nvPr/>
        </p:nvSpPr>
        <p:spPr>
          <a:xfrm>
            <a:off x="246063" y="660400"/>
            <a:ext cx="5716587" cy="120015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IDEA OF COMMON </a:t>
            </a:r>
            <a:r>
              <a:rPr lang="en-US" sz="48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SOLUTION</a:t>
            </a: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8195" name="Номер слайда 1">
            <a:extLst>
              <a:ext uri="{FF2B5EF4-FFF2-40B4-BE49-F238E27FC236}">
                <a16:creationId xmlns:a16="http://schemas.microsoft.com/office/drawing/2014/main" id="{A1726D37-F3B6-C65A-371C-E9D8BE38E4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8016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77BDB8-95BA-49E5-859B-3B8F470ED460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8196" name="Группа 38">
            <a:extLst>
              <a:ext uri="{FF2B5EF4-FFF2-40B4-BE49-F238E27FC236}">
                <a16:creationId xmlns:a16="http://schemas.microsoft.com/office/drawing/2014/main" id="{58AF800C-8A44-2400-95BA-8BE9185CF187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8208" name="Рисунок 39">
              <a:extLst>
                <a:ext uri="{FF2B5EF4-FFF2-40B4-BE49-F238E27FC236}">
                  <a16:creationId xmlns:a16="http://schemas.microsoft.com/office/drawing/2014/main" id="{75BFD46C-2E8B-C62A-C3E0-C8C603B83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4450C2B-7730-089A-1170-2944BEC43252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8210" name="Google Shape;285;p1" descr="ITER — Wikipédia">
              <a:extLst>
                <a:ext uri="{FF2B5EF4-FFF2-40B4-BE49-F238E27FC236}">
                  <a16:creationId xmlns:a16="http://schemas.microsoft.com/office/drawing/2014/main" id="{DD178E63-205B-A196-F859-F1B4C5C527E1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11" name="Рисунок 4">
              <a:extLst>
                <a:ext uri="{FF2B5EF4-FFF2-40B4-BE49-F238E27FC236}">
                  <a16:creationId xmlns:a16="http://schemas.microsoft.com/office/drawing/2014/main" id="{97F342AC-0AF7-8BD2-5050-BBF16D0DD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197" name="Рисунок 16">
            <a:extLst>
              <a:ext uri="{FF2B5EF4-FFF2-40B4-BE49-F238E27FC236}">
                <a16:creationId xmlns:a16="http://schemas.microsoft.com/office/drawing/2014/main" id="{74C6612C-6E0C-F551-FED9-6EB3856A2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3224213"/>
            <a:ext cx="348615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Рисунок 17">
            <a:extLst>
              <a:ext uri="{FF2B5EF4-FFF2-40B4-BE49-F238E27FC236}">
                <a16:creationId xmlns:a16="http://schemas.microsoft.com/office/drawing/2014/main" id="{14DEC5B2-2BCD-C26A-A04C-CE5978FB5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138" y="2640013"/>
            <a:ext cx="264160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18EE0E8E-B685-B343-ACCF-EA982DB20E01}"/>
              </a:ext>
            </a:extLst>
          </p:cNvPr>
          <p:cNvCxnSpPr>
            <a:cxnSpLocks/>
            <a:endCxn id="22" idx="2"/>
          </p:cNvCxnSpPr>
          <p:nvPr/>
        </p:nvCxnSpPr>
        <p:spPr>
          <a:xfrm flipH="1">
            <a:off x="996950" y="4957763"/>
            <a:ext cx="544513" cy="304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37217C3-2629-6ABB-F9FD-AB4EBF5598C9}"/>
              </a:ext>
            </a:extLst>
          </p:cNvPr>
          <p:cNvSpPr txBox="1"/>
          <p:nvPr/>
        </p:nvSpPr>
        <p:spPr>
          <a:xfrm>
            <a:off x="84138" y="2954338"/>
            <a:ext cx="1824037" cy="23082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-52"/>
              </a:rPr>
              <a:t>Solution (A)  prepared by the I&amp;C team that potentially can be used by other I&amp;C teams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CFDAF-B8EE-966F-9CCE-31AD1B01A112}"/>
              </a:ext>
            </a:extLst>
          </p:cNvPr>
          <p:cNvSpPr txBox="1"/>
          <p:nvPr/>
        </p:nvSpPr>
        <p:spPr>
          <a:xfrm>
            <a:off x="5459413" y="4972050"/>
            <a:ext cx="3267075" cy="13239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-52"/>
              </a:rPr>
              <a:t>Integration of the solution (A) into I&amp;C project taking into account specific for this I&amp;C project PBS and CBS</a:t>
            </a:r>
          </a:p>
        </p:txBody>
      </p:sp>
      <p:sp>
        <p:nvSpPr>
          <p:cNvPr id="28" name="Стрелка вправо 26">
            <a:extLst>
              <a:ext uri="{FF2B5EF4-FFF2-40B4-BE49-F238E27FC236}">
                <a16:creationId xmlns:a16="http://schemas.microsoft.com/office/drawing/2014/main" id="{594AAD08-339F-5A33-8211-C5720FABDB15}"/>
              </a:ext>
            </a:extLst>
          </p:cNvPr>
          <p:cNvSpPr/>
          <p:nvPr/>
        </p:nvSpPr>
        <p:spPr>
          <a:xfrm>
            <a:off x="5459413" y="4108450"/>
            <a:ext cx="3148012" cy="468313"/>
          </a:xfrm>
          <a:prstGeom prst="rightArrow">
            <a:avLst>
              <a:gd name="adj1" fmla="val 50000"/>
              <a:gd name="adj2" fmla="val 17220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7892D7-ADDF-BA2F-FFF9-EB6945AC9E99}"/>
              </a:ext>
            </a:extLst>
          </p:cNvPr>
          <p:cNvSpPr txBox="1"/>
          <p:nvPr/>
        </p:nvSpPr>
        <p:spPr>
          <a:xfrm>
            <a:off x="5453063" y="3681413"/>
            <a:ext cx="3881437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-52"/>
              </a:rPr>
              <a:t>Common solution package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6050E5-2B01-4442-B332-9AD73A040142}"/>
              </a:ext>
            </a:extLst>
          </p:cNvPr>
          <p:cNvSpPr txBox="1"/>
          <p:nvPr/>
        </p:nvSpPr>
        <p:spPr>
          <a:xfrm>
            <a:off x="2662238" y="2132013"/>
            <a:ext cx="2643187" cy="101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Montserrat Light" panose="00000400000000000000" pitchFamily="2" charset="-52"/>
              </a:rPr>
              <a:t>I&amp;C project where solution (A) can be used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D3D2DA55-BA35-9628-5AC4-1DACEBEDBAE3}"/>
              </a:ext>
            </a:extLst>
          </p:cNvPr>
          <p:cNvCxnSpPr>
            <a:stCxn id="22" idx="3"/>
          </p:cNvCxnSpPr>
          <p:nvPr/>
        </p:nvCxnSpPr>
        <p:spPr>
          <a:xfrm>
            <a:off x="1908175" y="4108450"/>
            <a:ext cx="122238" cy="1474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ED9E433-D92F-E181-778F-BB1D511204DC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8726488" y="5256213"/>
            <a:ext cx="754062" cy="37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07" name="Picture 2">
            <a:extLst>
              <a:ext uri="{FF2B5EF4-FFF2-40B4-BE49-F238E27FC236}">
                <a16:creationId xmlns:a16="http://schemas.microsoft.com/office/drawing/2014/main" id="{6225F763-2895-F8A1-BAC6-3AA00A8A8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6DC1B5D8-0429-683B-3BDB-A2960C7963AC}"/>
              </a:ext>
            </a:extLst>
          </p:cNvPr>
          <p:cNvSpPr/>
          <p:nvPr/>
        </p:nvSpPr>
        <p:spPr>
          <a:xfrm>
            <a:off x="246063" y="660400"/>
            <a:ext cx="7329487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BENEFITS OF COMMON SOLUTIONS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FOR I&amp;C PRODUCTION TEAMS</a:t>
            </a: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10243" name="Номер слайда 1">
            <a:extLst>
              <a:ext uri="{FF2B5EF4-FFF2-40B4-BE49-F238E27FC236}">
                <a16:creationId xmlns:a16="http://schemas.microsoft.com/office/drawing/2014/main" id="{5B638D51-785F-FA8A-4225-67B5A4D70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8016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74ECAD8-4B07-4D24-AC52-D5C36A8C613D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10244" name="Группа 38">
            <a:extLst>
              <a:ext uri="{FF2B5EF4-FFF2-40B4-BE49-F238E27FC236}">
                <a16:creationId xmlns:a16="http://schemas.microsoft.com/office/drawing/2014/main" id="{CA0FDB06-1798-9B32-B5D9-D8FE26AE9511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10253" name="Рисунок 39">
              <a:extLst>
                <a:ext uri="{FF2B5EF4-FFF2-40B4-BE49-F238E27FC236}">
                  <a16:creationId xmlns:a16="http://schemas.microsoft.com/office/drawing/2014/main" id="{254C2CD1-2D26-49F0-6680-51444AC38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190D456-1D0F-BDB5-7143-D90B0CABFA93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0255" name="Google Shape;285;p1" descr="ITER — Wikipédia">
              <a:extLst>
                <a:ext uri="{FF2B5EF4-FFF2-40B4-BE49-F238E27FC236}">
                  <a16:creationId xmlns:a16="http://schemas.microsoft.com/office/drawing/2014/main" id="{EFDC961A-49D2-11C9-F0CD-72C7E5E387A2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6" name="Рисунок 4">
              <a:extLst>
                <a:ext uri="{FF2B5EF4-FFF2-40B4-BE49-F238E27FC236}">
                  <a16:creationId xmlns:a16="http://schemas.microsoft.com/office/drawing/2014/main" id="{925DFE9F-C0DA-C743-71B2-3E74813C8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335FC04-F0EF-2875-0083-6711270D6C64}"/>
              </a:ext>
            </a:extLst>
          </p:cNvPr>
          <p:cNvSpPr txBox="1"/>
          <p:nvPr/>
        </p:nvSpPr>
        <p:spPr>
          <a:xfrm>
            <a:off x="3044825" y="3175000"/>
            <a:ext cx="6657975" cy="3970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b="1" dirty="0">
              <a:solidFill>
                <a:schemeClr val="accent1">
                  <a:lumMod val="50000"/>
                </a:schemeClr>
              </a:solidFill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-52"/>
              </a:rPr>
              <a:t>Decrease of the production time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ru-RU" sz="2000" dirty="0">
              <a:solidFill>
                <a:schemeClr val="accent1">
                  <a:lumMod val="50000"/>
                </a:schemeClr>
              </a:solidFill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ru-RU" sz="2000" dirty="0">
              <a:solidFill>
                <a:schemeClr val="accent1">
                  <a:lumMod val="50000"/>
                </a:schemeClr>
              </a:solidFill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-52"/>
              </a:rPr>
              <a:t>More attention can be paid to the complex parts of the I&amp;C project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dirty="0">
              <a:solidFill>
                <a:srgbClr val="00B050"/>
              </a:solidFill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dirty="0">
              <a:solidFill>
                <a:srgbClr val="00B050"/>
              </a:solidFill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b="1" dirty="0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FD0A9B-1D5E-E947-672A-5669EE9ACDD9}"/>
              </a:ext>
            </a:extLst>
          </p:cNvPr>
          <p:cNvSpPr txBox="1"/>
          <p:nvPr/>
        </p:nvSpPr>
        <p:spPr>
          <a:xfrm>
            <a:off x="898525" y="4289425"/>
            <a:ext cx="2212975" cy="6461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Montserrat Light" panose="00000400000000000000" pitchFamily="2" charset="-52"/>
              </a:rPr>
              <a:t>Ready for use solution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3BBFDB-3A8F-EEF5-7FEC-B068DDEC9742}"/>
              </a:ext>
            </a:extLst>
          </p:cNvPr>
          <p:cNvSpPr txBox="1"/>
          <p:nvPr/>
        </p:nvSpPr>
        <p:spPr>
          <a:xfrm>
            <a:off x="3730625" y="4289425"/>
            <a:ext cx="2513013" cy="6461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Montserrat Light" panose="00000400000000000000" pitchFamily="2" charset="-52"/>
              </a:rPr>
              <a:t>Clear parameters of HW and SW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3F35EA-CB0C-CD8B-8C86-355A2D9E417A}"/>
              </a:ext>
            </a:extLst>
          </p:cNvPr>
          <p:cNvSpPr txBox="1"/>
          <p:nvPr/>
        </p:nvSpPr>
        <p:spPr>
          <a:xfrm>
            <a:off x="6831013" y="4279900"/>
            <a:ext cx="4127500" cy="6461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Montserrat Light" panose="00000400000000000000" pitchFamily="2" charset="-52"/>
              </a:rPr>
              <a:t>Automation of a significant part of the integration process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3DDB3025-83D0-572A-4656-F7D84338E5FA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2005013" y="3792538"/>
            <a:ext cx="2981325" cy="496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2BD82FF8-DD81-0A41-B7EF-F7C1B5F59595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4986338" y="3792538"/>
            <a:ext cx="0" cy="496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C1D117EA-3D2E-EF2C-1FFF-EB1490B415D5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4986338" y="3783013"/>
            <a:ext cx="3908425" cy="496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52" name="Picture 2">
            <a:extLst>
              <a:ext uri="{FF2B5EF4-FFF2-40B4-BE49-F238E27FC236}">
                <a16:creationId xmlns:a16="http://schemas.microsoft.com/office/drawing/2014/main" id="{9EE03BB8-527C-5498-A65B-4258ED05D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ACE8087D-9C48-DA40-F931-664CC561744E}"/>
              </a:ext>
            </a:extLst>
          </p:cNvPr>
          <p:cNvSpPr/>
          <p:nvPr/>
        </p:nvSpPr>
        <p:spPr>
          <a:xfrm>
            <a:off x="246063" y="660400"/>
            <a:ext cx="7329487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EXISTING COMMON </a:t>
            </a:r>
            <a:r>
              <a:rPr lang="en-US" sz="48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SOLUTIONS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12291" name="Номер слайда 1">
            <a:extLst>
              <a:ext uri="{FF2B5EF4-FFF2-40B4-BE49-F238E27FC236}">
                <a16:creationId xmlns:a16="http://schemas.microsoft.com/office/drawing/2014/main" id="{53882E02-18E6-6740-4C84-1B0033A58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8016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EF98E45-1774-411C-9804-648B933EFC24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12292" name="Группа 38">
            <a:extLst>
              <a:ext uri="{FF2B5EF4-FFF2-40B4-BE49-F238E27FC236}">
                <a16:creationId xmlns:a16="http://schemas.microsoft.com/office/drawing/2014/main" id="{830E6BA9-D6D3-FD29-1CC9-27DD298B2D59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12302" name="Рисунок 39">
              <a:extLst>
                <a:ext uri="{FF2B5EF4-FFF2-40B4-BE49-F238E27FC236}">
                  <a16:creationId xmlns:a16="http://schemas.microsoft.com/office/drawing/2014/main" id="{50584356-F319-7782-941B-11AB58823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A5909F7-87EB-54CF-6C06-5BC2A3A50EEC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2304" name="Google Shape;285;p1" descr="ITER — Wikipédia">
              <a:extLst>
                <a:ext uri="{FF2B5EF4-FFF2-40B4-BE49-F238E27FC236}">
                  <a16:creationId xmlns:a16="http://schemas.microsoft.com/office/drawing/2014/main" id="{55714BAE-3DB9-9505-4ED0-5294F181EB18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5" name="Рисунок 4">
              <a:extLst>
                <a:ext uri="{FF2B5EF4-FFF2-40B4-BE49-F238E27FC236}">
                  <a16:creationId xmlns:a16="http://schemas.microsoft.com/office/drawing/2014/main" id="{2C7F27FF-5AD5-E687-CEC8-645435F77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FAF447F-CE32-4ECB-AF2E-92A59A45251C}"/>
              </a:ext>
            </a:extLst>
          </p:cNvPr>
          <p:cNvSpPr txBox="1"/>
          <p:nvPr/>
        </p:nvSpPr>
        <p:spPr>
          <a:xfrm>
            <a:off x="246063" y="2081213"/>
            <a:ext cx="5991225" cy="4586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atin typeface="Montserrat Light" panose="00000400000000000000" pitchFamily="2" charset="-52"/>
              </a:rPr>
              <a:t>List of Common solution that are defined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Montserrat Light" panose="00000400000000000000" pitchFamily="2" charset="-52"/>
              </a:rPr>
              <a:t>Thermocouple monitoring [</a:t>
            </a:r>
            <a:r>
              <a:rPr lang="en-GB" dirty="0">
                <a:latin typeface="Montserrat Light" panose="00000400000000000000" pitchFamily="2" charset="-52"/>
                <a:hlinkClick r:id="rId6"/>
              </a:rPr>
              <a:t>AFPCTH</a:t>
            </a:r>
            <a:r>
              <a:rPr lang="en-GB" dirty="0">
                <a:latin typeface="Montserrat Light" panose="00000400000000000000" pitchFamily="2" charset="-52"/>
              </a:rPr>
              <a:t>]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Montserrat Light" panose="00000400000000000000" pitchFamily="2" charset="-52"/>
              </a:rPr>
              <a:t>Mirror Cleaning Operation Scheme [</a:t>
            </a:r>
            <a:r>
              <a:rPr lang="en-GB" dirty="0">
                <a:latin typeface="Montserrat Light" panose="00000400000000000000" pitchFamily="2" charset="-52"/>
                <a:hlinkClick r:id="rId7"/>
              </a:rPr>
              <a:t>AFPL4Q</a:t>
            </a:r>
            <a:r>
              <a:rPr lang="en-GB" dirty="0">
                <a:latin typeface="Montserrat Light" panose="00000400000000000000" pitchFamily="2" charset="-52"/>
              </a:rPr>
              <a:t>]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Montserrat Light" panose="00000400000000000000" pitchFamily="2" charset="-52"/>
              </a:rPr>
              <a:t>Temperature control through Baking Jacket [</a:t>
            </a:r>
            <a:r>
              <a:rPr lang="en-GB" dirty="0">
                <a:latin typeface="Montserrat Light" panose="00000400000000000000" pitchFamily="2" charset="-52"/>
                <a:hlinkClick r:id="rId8"/>
              </a:rPr>
              <a:t>AFPLNZ</a:t>
            </a:r>
            <a:r>
              <a:rPr lang="en-GB" dirty="0">
                <a:latin typeface="Montserrat Light" panose="00000400000000000000" pitchFamily="2" charset="-52"/>
              </a:rPr>
              <a:t>]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Montserrat Light" panose="00000400000000000000" pitchFamily="2" charset="-52"/>
              </a:rPr>
              <a:t>Piezo motor controller [</a:t>
            </a:r>
            <a:r>
              <a:rPr lang="en-GB" dirty="0">
                <a:latin typeface="Montserrat Light" panose="00000400000000000000" pitchFamily="2" charset="-52"/>
                <a:hlinkClick r:id="rId9"/>
              </a:rPr>
              <a:t>B5VN3U</a:t>
            </a:r>
            <a:r>
              <a:rPr lang="en-GB" dirty="0">
                <a:latin typeface="Montserrat Light" panose="00000400000000000000" pitchFamily="2" charset="-52"/>
              </a:rPr>
              <a:t>]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Montserrat Light" panose="00000400000000000000" pitchFamily="2" charset="-52"/>
              </a:rPr>
              <a:t>Imaging System</a:t>
            </a:r>
            <a:endParaRPr lang="en-US" dirty="0">
              <a:latin typeface="Montserrat Light" panose="00000400000000000000" pitchFamily="2" charset="-52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Montserrat Light" panose="00000400000000000000" pitchFamily="2" charset="-52"/>
              </a:rPr>
              <a:t>ADC with FPGA in </a:t>
            </a:r>
            <a:r>
              <a:rPr lang="en-GB" dirty="0" err="1">
                <a:latin typeface="Montserrat Light" panose="00000400000000000000" pitchFamily="2" charset="-52"/>
              </a:rPr>
              <a:t>μTCA</a:t>
            </a:r>
            <a:r>
              <a:rPr lang="en-GB" dirty="0">
                <a:latin typeface="Montserrat Light" panose="00000400000000000000" pitchFamily="2" charset="-52"/>
              </a:rPr>
              <a:t> form factor</a:t>
            </a:r>
            <a:endParaRPr lang="en-US" dirty="0">
              <a:latin typeface="Montserrat Light" panose="000004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CD573-F63B-3960-AA2D-A2DDAC095502}"/>
              </a:ext>
            </a:extLst>
          </p:cNvPr>
          <p:cNvSpPr txBox="1"/>
          <p:nvPr/>
        </p:nvSpPr>
        <p:spPr>
          <a:xfrm>
            <a:off x="6232506" y="3177484"/>
            <a:ext cx="2210909" cy="10772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1" dirty="0">
                <a:solidFill>
                  <a:schemeClr val="tx1"/>
                </a:solidFill>
                <a:latin typeface="Montserrat Light" panose="00000400000000000000" pitchFamily="2" charset="-52"/>
              </a:rPr>
              <a:t>Being updated according to new prototype prepared by 55.E6 team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1A6D27A-F0DE-E2E0-6B82-F1D50508A865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752730" y="3716093"/>
            <a:ext cx="479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9C8D2BF-DF9A-59EC-D109-DE94C66F335C}"/>
              </a:ext>
            </a:extLst>
          </p:cNvPr>
          <p:cNvSpPr txBox="1"/>
          <p:nvPr/>
        </p:nvSpPr>
        <p:spPr>
          <a:xfrm>
            <a:off x="6237288" y="5121275"/>
            <a:ext cx="2219325" cy="1077218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1" dirty="0">
                <a:solidFill>
                  <a:schemeClr val="tx1"/>
                </a:solidFill>
                <a:latin typeface="Montserrat Light" panose="00000400000000000000" pitchFamily="2" charset="-52"/>
              </a:rPr>
              <a:t>These common solutions will be prepared later in the project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9A81A2C-0896-7E07-339C-D4E86C8F8687}"/>
              </a:ext>
            </a:extLst>
          </p:cNvPr>
          <p:cNvCxnSpPr>
            <a:cxnSpLocks/>
          </p:cNvCxnSpPr>
          <p:nvPr/>
        </p:nvCxnSpPr>
        <p:spPr>
          <a:xfrm>
            <a:off x="2530475" y="5646738"/>
            <a:ext cx="370681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0A7FF79-0080-0947-1659-EA753584520F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4678363" y="5659884"/>
            <a:ext cx="1558925" cy="280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299" name="Picture 3">
            <a:extLst>
              <a:ext uri="{FF2B5EF4-FFF2-40B4-BE49-F238E27FC236}">
                <a16:creationId xmlns:a16="http://schemas.microsoft.com/office/drawing/2014/main" id="{278C00EB-8E00-908E-2A7D-F8E6716AB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0" name="TextBox 10">
            <a:extLst>
              <a:ext uri="{FF2B5EF4-FFF2-40B4-BE49-F238E27FC236}">
                <a16:creationId xmlns:a16="http://schemas.microsoft.com/office/drawing/2014/main" id="{96E511D0-E0D0-F6E6-2208-C20BF60C2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5" y="1903413"/>
            <a:ext cx="3355975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000" b="1">
                <a:latin typeface="Montserrat Light" panose="00000400000000000000" pitchFamily="2" charset="0"/>
              </a:rPr>
              <a:t>Elements of the Common solution package:</a:t>
            </a:r>
            <a:endParaRPr lang="ru-RU" altLang="en-US" sz="2000">
              <a:latin typeface="Montserrat Light" panose="000004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 Light" panose="00000400000000000000" pitchFamily="2" charset="0"/>
              </a:rPr>
              <a:t>Guideline for implementation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 Light" panose="00000400000000000000" pitchFamily="2" charset="0"/>
              </a:rPr>
              <a:t>FBS/NDS generation tool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 Light" panose="00000400000000000000" pitchFamily="2" charset="0"/>
              </a:rPr>
              <a:t>FBS/NDS specification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 Light" panose="00000400000000000000" pitchFamily="2" charset="0"/>
              </a:rPr>
              <a:t>BOM if applicable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 Light" panose="00000400000000000000" pitchFamily="2" charset="0"/>
              </a:rPr>
              <a:t>Set of HMI objects</a:t>
            </a:r>
          </a:p>
          <a:p>
            <a:endParaRPr lang="en-GB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FADAF8-D706-E599-88D0-F326CC0ABDF6}"/>
              </a:ext>
            </a:extLst>
          </p:cNvPr>
          <p:cNvSpPr/>
          <p:nvPr/>
        </p:nvSpPr>
        <p:spPr>
          <a:xfrm>
            <a:off x="8474075" y="1927225"/>
            <a:ext cx="3355975" cy="9493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E422A0E7-DB9A-DF8E-54DB-B52B125B76A5}"/>
              </a:ext>
            </a:extLst>
          </p:cNvPr>
          <p:cNvSpPr/>
          <p:nvPr/>
        </p:nvSpPr>
        <p:spPr>
          <a:xfrm>
            <a:off x="246063" y="660400"/>
            <a:ext cx="7329487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THERMOCOUPLE </a:t>
            </a:r>
            <a:r>
              <a:rPr lang="en-US" sz="48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MONITORING SYSTEM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14339" name="Номер слайда 1">
            <a:extLst>
              <a:ext uri="{FF2B5EF4-FFF2-40B4-BE49-F238E27FC236}">
                <a16:creationId xmlns:a16="http://schemas.microsoft.com/office/drawing/2014/main" id="{8C186A5A-5586-E40D-4969-3312FCFFFA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8B4588F-0637-41C0-B8D9-7D5813F3605D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14340" name="Группа 38">
            <a:extLst>
              <a:ext uri="{FF2B5EF4-FFF2-40B4-BE49-F238E27FC236}">
                <a16:creationId xmlns:a16="http://schemas.microsoft.com/office/drawing/2014/main" id="{5BAECE22-061E-0E98-4CC8-138B744450E3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14345" name="Рисунок 39">
              <a:extLst>
                <a:ext uri="{FF2B5EF4-FFF2-40B4-BE49-F238E27FC236}">
                  <a16:creationId xmlns:a16="http://schemas.microsoft.com/office/drawing/2014/main" id="{B2F99985-D557-B7C9-4ED7-CCDB26657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7F5537C-3F1C-7FD0-BD6B-F280B2D23C25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4347" name="Google Shape;285;p1" descr="ITER — Wikipédia">
              <a:extLst>
                <a:ext uri="{FF2B5EF4-FFF2-40B4-BE49-F238E27FC236}">
                  <a16:creationId xmlns:a16="http://schemas.microsoft.com/office/drawing/2014/main" id="{657A28F2-AA0A-39F1-3CC5-0257AEBE1326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8" name="Рисунок 4">
              <a:extLst>
                <a:ext uri="{FF2B5EF4-FFF2-40B4-BE49-F238E27FC236}">
                  <a16:creationId xmlns:a16="http://schemas.microsoft.com/office/drawing/2014/main" id="{F2EF5833-F649-C6E7-1124-A55C71AC9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341" name="TextBox 15">
            <a:extLst>
              <a:ext uri="{FF2B5EF4-FFF2-40B4-BE49-F238E27FC236}">
                <a16:creationId xmlns:a16="http://schemas.microsoft.com/office/drawing/2014/main" id="{0B9E7358-0351-9AE7-5E73-828B068F4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2081213"/>
            <a:ext cx="5991225" cy="486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Purpose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 b="1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Montserrat Light" panose="00000400000000000000" pitchFamily="2" charset="0"/>
              </a:rPr>
              <a:t>Almost all diagnostic systems will need to monitor temperature at various locations. The goal of this package is to provide an existing solution with a slow controller that can be quickly adapted to all systems.</a:t>
            </a:r>
            <a:endParaRPr lang="ru-RU" altLang="en-US" sz="1800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Montserrat Light" panose="00000400000000000000" pitchFamily="2" charset="0"/>
              </a:rPr>
              <a:t>Hardware used</a:t>
            </a:r>
            <a:endParaRPr lang="ru-RU" altLang="en-US" sz="1800" b="1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Montserrat Light" panose="00000400000000000000" pitchFamily="2" charset="0"/>
              </a:rPr>
              <a:t>This solution uses the Siemens S7-1500 slow controller.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Montserrat Light" panose="00000400000000000000" pitchFamily="2" charset="0"/>
              </a:rPr>
              <a:t>More information about Hardware used can be found in the FBS specification for thermocouple monitoring system [ADAVQH]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14342" name="Picture 3">
            <a:extLst>
              <a:ext uri="{FF2B5EF4-FFF2-40B4-BE49-F238E27FC236}">
                <a16:creationId xmlns:a16="http://schemas.microsoft.com/office/drawing/2014/main" id="{ADD7C22D-EC83-592F-8873-ADB43BFE9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975" y="2081213"/>
            <a:ext cx="6218238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Box 18">
            <a:extLst>
              <a:ext uri="{FF2B5EF4-FFF2-40B4-BE49-F238E27FC236}">
                <a16:creationId xmlns:a16="http://schemas.microsoft.com/office/drawing/2014/main" id="{EB55F7B9-5090-BAE1-C6CA-A40372196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200" y="5359400"/>
            <a:ext cx="45291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i="1"/>
              <a:t>Communication scheme of the 55.Q0 solution for thermocouple monitoring system </a:t>
            </a:r>
          </a:p>
        </p:txBody>
      </p:sp>
      <p:pic>
        <p:nvPicPr>
          <p:cNvPr id="14344" name="Picture 2">
            <a:extLst>
              <a:ext uri="{FF2B5EF4-FFF2-40B4-BE49-F238E27FC236}">
                <a16:creationId xmlns:a16="http://schemas.microsoft.com/office/drawing/2014/main" id="{9C490225-EDF2-2749-5A29-03D383A54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D037B8F5-35D6-F9F6-2132-37D736425962}"/>
              </a:ext>
            </a:extLst>
          </p:cNvPr>
          <p:cNvSpPr/>
          <p:nvPr/>
        </p:nvSpPr>
        <p:spPr>
          <a:xfrm>
            <a:off x="246063" y="660400"/>
            <a:ext cx="7329487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MIRROR CLEANING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OPERATION SCHEME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16387" name="Номер слайда 1">
            <a:extLst>
              <a:ext uri="{FF2B5EF4-FFF2-40B4-BE49-F238E27FC236}">
                <a16:creationId xmlns:a16="http://schemas.microsoft.com/office/drawing/2014/main" id="{A7A4A241-4BC8-869A-D11C-B8C8DDE158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4AED57B-C90F-4C24-8EF0-A444672777F4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16388" name="Группа 38">
            <a:extLst>
              <a:ext uri="{FF2B5EF4-FFF2-40B4-BE49-F238E27FC236}">
                <a16:creationId xmlns:a16="http://schemas.microsoft.com/office/drawing/2014/main" id="{9BE2301E-3B65-C91A-FA08-C91579FD735D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16393" name="Рисунок 39">
              <a:extLst>
                <a:ext uri="{FF2B5EF4-FFF2-40B4-BE49-F238E27FC236}">
                  <a16:creationId xmlns:a16="http://schemas.microsoft.com/office/drawing/2014/main" id="{E8D29F77-8244-51FE-5E07-C3A8C98F0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00A012E-81C5-7726-274E-87E8242D227C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6395" name="Google Shape;285;p1" descr="ITER — Wikipédia">
              <a:extLst>
                <a:ext uri="{FF2B5EF4-FFF2-40B4-BE49-F238E27FC236}">
                  <a16:creationId xmlns:a16="http://schemas.microsoft.com/office/drawing/2014/main" id="{45E440D6-342B-0C3E-04ED-A6411FD7C2A4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6" name="Рисунок 4">
              <a:extLst>
                <a:ext uri="{FF2B5EF4-FFF2-40B4-BE49-F238E27FC236}">
                  <a16:creationId xmlns:a16="http://schemas.microsoft.com/office/drawing/2014/main" id="{9D94F957-2465-E12D-4706-93D695909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389" name="TextBox 15">
            <a:extLst>
              <a:ext uri="{FF2B5EF4-FFF2-40B4-BE49-F238E27FC236}">
                <a16:creationId xmlns:a16="http://schemas.microsoft.com/office/drawing/2014/main" id="{C5B3A1A9-B7CD-808B-1A39-0EE78D535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2081213"/>
            <a:ext cx="5991225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Purpose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Montserrat Light" panose="00000400000000000000" pitchFamily="2" charset="0"/>
              </a:rPr>
              <a:t>Each Diagnostic operator will monitor the status of their System mirrors and decide when a mirror cleaning request shall be issued. The Main Diagnostic Operator will collect all requests from the individual systems and provide a unique consolidated request to get a Tokamak Operation slot.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There is no Hardware used in this common solution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 b="1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All the variables are deployed on PSH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16390" name="Рисунок 11">
            <a:extLst>
              <a:ext uri="{FF2B5EF4-FFF2-40B4-BE49-F238E27FC236}">
                <a16:creationId xmlns:a16="http://schemas.microsoft.com/office/drawing/2014/main" id="{92DE3E34-81C6-7F8B-B5AF-68E72FD463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2241550"/>
            <a:ext cx="5903912" cy="33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TextBox 12">
            <a:extLst>
              <a:ext uri="{FF2B5EF4-FFF2-40B4-BE49-F238E27FC236}">
                <a16:creationId xmlns:a16="http://schemas.microsoft.com/office/drawing/2014/main" id="{5AF33678-E40A-935B-29EB-C4EDDB4EB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475" y="5665788"/>
            <a:ext cx="4362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i="1"/>
              <a:t>Main HMI screen for Mirror cleaning prepared by the Cosylab team </a:t>
            </a:r>
          </a:p>
        </p:txBody>
      </p:sp>
      <p:pic>
        <p:nvPicPr>
          <p:cNvPr id="16392" name="Picture 2">
            <a:extLst>
              <a:ext uri="{FF2B5EF4-FFF2-40B4-BE49-F238E27FC236}">
                <a16:creationId xmlns:a16="http://schemas.microsoft.com/office/drawing/2014/main" id="{2AB658C0-25CC-EE3E-62E5-3BB33755D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00322F70-A096-8E2C-2356-81F009BEA3F6}"/>
              </a:ext>
            </a:extLst>
          </p:cNvPr>
          <p:cNvSpPr/>
          <p:nvPr/>
        </p:nvSpPr>
        <p:spPr>
          <a:xfrm>
            <a:off x="246063" y="452438"/>
            <a:ext cx="6283325" cy="26035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TEMPERATURE CONTROL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THROUGH BAKING JACKET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18435" name="Номер слайда 1">
            <a:extLst>
              <a:ext uri="{FF2B5EF4-FFF2-40B4-BE49-F238E27FC236}">
                <a16:creationId xmlns:a16="http://schemas.microsoft.com/office/drawing/2014/main" id="{C2C855A4-3EE3-D396-9B78-65426A17E8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565C288-3533-4BE2-8C1F-696CA963E90B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18436" name="Группа 38">
            <a:extLst>
              <a:ext uri="{FF2B5EF4-FFF2-40B4-BE49-F238E27FC236}">
                <a16:creationId xmlns:a16="http://schemas.microsoft.com/office/drawing/2014/main" id="{C45BD962-339B-D239-1653-854C7DB2AEA9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18443" name="Рисунок 39">
              <a:extLst>
                <a:ext uri="{FF2B5EF4-FFF2-40B4-BE49-F238E27FC236}">
                  <a16:creationId xmlns:a16="http://schemas.microsoft.com/office/drawing/2014/main" id="{1FAB734E-28A7-5BE8-B261-008448E2D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76D647-63FE-BACF-CCD7-5FFD401B705C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8445" name="Google Shape;285;p1" descr="ITER — Wikipédia">
              <a:extLst>
                <a:ext uri="{FF2B5EF4-FFF2-40B4-BE49-F238E27FC236}">
                  <a16:creationId xmlns:a16="http://schemas.microsoft.com/office/drawing/2014/main" id="{02383792-B777-E02D-F652-D90C982B4833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6" name="Рисунок 4">
              <a:extLst>
                <a:ext uri="{FF2B5EF4-FFF2-40B4-BE49-F238E27FC236}">
                  <a16:creationId xmlns:a16="http://schemas.microsoft.com/office/drawing/2014/main" id="{3A66A9DC-D404-028A-765E-AAED94005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C370F51-8E33-0FC4-226C-9315CC1780A0}"/>
              </a:ext>
            </a:extLst>
          </p:cNvPr>
          <p:cNvSpPr txBox="1"/>
          <p:nvPr/>
        </p:nvSpPr>
        <p:spPr>
          <a:xfrm>
            <a:off x="241300" y="2332038"/>
            <a:ext cx="4884738" cy="4276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atin typeface="Montserrat Light" panose="00000400000000000000" pitchFamily="2" charset="-52"/>
              </a:rPr>
              <a:t>Purpose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Montserrat Light" panose="00000400000000000000" pitchFamily="2" charset="-52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Montserrat Light" panose="00000400000000000000" pitchFamily="2" charset="-52"/>
              </a:rPr>
              <a:t>Several Diagnostics systems need to control the temperature of some of their pipes to follow the Temperature of the vacuum.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Montserrat Light" panose="00000400000000000000" pitchFamily="2" charset="-52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Montserrat Light" panose="00000400000000000000" pitchFamily="2" charset="-52"/>
              </a:rPr>
              <a:t>Hardware used</a:t>
            </a:r>
            <a:endParaRPr lang="ru-RU" b="1" dirty="0">
              <a:latin typeface="Montserrat Light" panose="00000400000000000000" pitchFamily="2" charset="-52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Montserrat Light" panose="00000400000000000000" pitchFamily="2" charset="-52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Montserrat Light" panose="00000400000000000000" pitchFamily="2" charset="-52"/>
              </a:rPr>
              <a:t>There are 2 COTS controllers used in the solution: 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>
                <a:latin typeface="Montserrat Light" panose="00000400000000000000" pitchFamily="2" charset="-52"/>
              </a:rPr>
              <a:t>EPC2000 Temperature controller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>
                <a:latin typeface="Montserrat Light" panose="00000400000000000000" pitchFamily="2" charset="-52"/>
              </a:rPr>
              <a:t>EPACK Heating Power controller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8438" name="TextBox 12">
            <a:extLst>
              <a:ext uri="{FF2B5EF4-FFF2-40B4-BE49-F238E27FC236}">
                <a16:creationId xmlns:a16="http://schemas.microsoft.com/office/drawing/2014/main" id="{0986916F-B1F6-FF16-347B-7BDD13352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388" y="5684838"/>
            <a:ext cx="43640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i="1"/>
              <a:t>Main HMI screen for Temperature control through Backing Jacket prepared by the 55.G3.50 team</a:t>
            </a:r>
          </a:p>
        </p:txBody>
      </p:sp>
      <p:pic>
        <p:nvPicPr>
          <p:cNvPr id="18439" name="Рисунок 13">
            <a:extLst>
              <a:ext uri="{FF2B5EF4-FFF2-40B4-BE49-F238E27FC236}">
                <a16:creationId xmlns:a16="http://schemas.microsoft.com/office/drawing/2014/main" id="{5E8F103D-6C77-239A-5823-8F838258EC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0" y="2062163"/>
            <a:ext cx="6805613" cy="357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CBCE809-CD76-DAC7-5C79-CDD24D4561E5}"/>
              </a:ext>
            </a:extLst>
          </p:cNvPr>
          <p:cNvSpPr txBox="1"/>
          <p:nvPr/>
        </p:nvSpPr>
        <p:spPr>
          <a:xfrm>
            <a:off x="6797675" y="1614488"/>
            <a:ext cx="1058863" cy="3698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EPC2000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F4A58C-F3FB-9146-5E06-E8AEABBA2954}"/>
              </a:ext>
            </a:extLst>
          </p:cNvPr>
          <p:cNvSpPr txBox="1"/>
          <p:nvPr/>
        </p:nvSpPr>
        <p:spPr>
          <a:xfrm>
            <a:off x="9825038" y="1633538"/>
            <a:ext cx="804862" cy="3698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EPACK</a:t>
            </a:r>
          </a:p>
        </p:txBody>
      </p:sp>
      <p:pic>
        <p:nvPicPr>
          <p:cNvPr id="18442" name="Picture 2">
            <a:extLst>
              <a:ext uri="{FF2B5EF4-FFF2-40B4-BE49-F238E27FC236}">
                <a16:creationId xmlns:a16="http://schemas.microsoft.com/office/drawing/2014/main" id="{D0B76200-F1CC-1AE9-A5F7-74302332D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3D1EDB48-D5CE-8BFF-4A59-647A55F55D3C}"/>
              </a:ext>
            </a:extLst>
          </p:cNvPr>
          <p:cNvSpPr/>
          <p:nvPr/>
        </p:nvSpPr>
        <p:spPr>
          <a:xfrm>
            <a:off x="246063" y="660400"/>
            <a:ext cx="7329487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PIEZO MOTOR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CONTROLLER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20483" name="Номер слайда 1">
            <a:extLst>
              <a:ext uri="{FF2B5EF4-FFF2-40B4-BE49-F238E27FC236}">
                <a16:creationId xmlns:a16="http://schemas.microsoft.com/office/drawing/2014/main" id="{563F7118-A974-40A0-574E-68E30624BA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D53BE31-875B-4697-B0E9-5523DA15F53B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20484" name="Группа 38">
            <a:extLst>
              <a:ext uri="{FF2B5EF4-FFF2-40B4-BE49-F238E27FC236}">
                <a16:creationId xmlns:a16="http://schemas.microsoft.com/office/drawing/2014/main" id="{AA47128F-E5FF-9355-DB7C-B8953CB9BD2E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20490" name="Рисунок 39">
              <a:extLst>
                <a:ext uri="{FF2B5EF4-FFF2-40B4-BE49-F238E27FC236}">
                  <a16:creationId xmlns:a16="http://schemas.microsoft.com/office/drawing/2014/main" id="{1E79CF6B-20EC-2A88-FB8A-D6B717D73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A76795F-C5DB-D9A3-B5DB-2D8C4D8E3054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0492" name="Google Shape;285;p1" descr="ITER — Wikipédia">
              <a:extLst>
                <a:ext uri="{FF2B5EF4-FFF2-40B4-BE49-F238E27FC236}">
                  <a16:creationId xmlns:a16="http://schemas.microsoft.com/office/drawing/2014/main" id="{F6382D84-C584-B264-4337-4EBE8AB5B7FB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3" name="Рисунок 4">
              <a:extLst>
                <a:ext uri="{FF2B5EF4-FFF2-40B4-BE49-F238E27FC236}">
                  <a16:creationId xmlns:a16="http://schemas.microsoft.com/office/drawing/2014/main" id="{D50D6180-BA9C-3D5B-3322-A6B0BEF57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485" name="TextBox 15">
            <a:extLst>
              <a:ext uri="{FF2B5EF4-FFF2-40B4-BE49-F238E27FC236}">
                <a16:creationId xmlns:a16="http://schemas.microsoft.com/office/drawing/2014/main" id="{1FC94699-B9E8-AF98-26CC-639752C6A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2212975"/>
            <a:ext cx="5849937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Purpose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Montserrat Light" panose="00000400000000000000" pitchFamily="2" charset="0"/>
              </a:rPr>
              <a:t>To provide a fully CODAC-integrated solution for Piezo motor controller.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en-US" sz="1800" b="1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Montserrat Light" panose="00000400000000000000" pitchFamily="2" charset="0"/>
              </a:rPr>
              <a:t>Hardware used</a:t>
            </a:r>
            <a:endParaRPr lang="ru-RU" altLang="en-US" sz="1800" b="1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Montserrat Light" panose="00000400000000000000" pitchFamily="2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Montserrat Light" panose="00000400000000000000" pitchFamily="2" charset="0"/>
              </a:rPr>
              <a:t>Piezo motor controller Newport 8742 is used in this common solution.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6" name="TextBox 12">
            <a:extLst>
              <a:ext uri="{FF2B5EF4-FFF2-40B4-BE49-F238E27FC236}">
                <a16:creationId xmlns:a16="http://schemas.microsoft.com/office/drawing/2014/main" id="{3A7C1AEE-06E1-C524-823E-B21369A64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188" y="5994400"/>
            <a:ext cx="4362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i="1"/>
              <a:t>HMI screens for setting and controlling piezo motor controller Newport 8742</a:t>
            </a:r>
          </a:p>
        </p:txBody>
      </p:sp>
      <p:pic>
        <p:nvPicPr>
          <p:cNvPr id="20487" name="Рисунок 14">
            <a:extLst>
              <a:ext uri="{FF2B5EF4-FFF2-40B4-BE49-F238E27FC236}">
                <a16:creationId xmlns:a16="http://schemas.microsoft.com/office/drawing/2014/main" id="{B64B899C-565A-685A-2A94-80D8630EFC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800" y="996950"/>
            <a:ext cx="4467225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Рисунок 18">
            <a:extLst>
              <a:ext uri="{FF2B5EF4-FFF2-40B4-BE49-F238E27FC236}">
                <a16:creationId xmlns:a16="http://schemas.microsoft.com/office/drawing/2014/main" id="{0869CCD1-C85B-E28C-B102-72CDCDAB31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481388"/>
            <a:ext cx="4464050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9" name="Picture 2">
            <a:extLst>
              <a:ext uri="{FF2B5EF4-FFF2-40B4-BE49-F238E27FC236}">
                <a16:creationId xmlns:a16="http://schemas.microsoft.com/office/drawing/2014/main" id="{8A0B045B-B46B-92F8-7568-060E6D44B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0694F9AC-8299-8D63-690A-A6EABD5084C3}"/>
              </a:ext>
            </a:extLst>
          </p:cNvPr>
          <p:cNvSpPr/>
          <p:nvPr/>
        </p:nvSpPr>
        <p:spPr>
          <a:xfrm>
            <a:off x="246063" y="660400"/>
            <a:ext cx="12363450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EXISTING PROJECTS -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GENERAL APPROACH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22531" name="Номер слайда 1">
            <a:extLst>
              <a:ext uri="{FF2B5EF4-FFF2-40B4-BE49-F238E27FC236}">
                <a16:creationId xmlns:a16="http://schemas.microsoft.com/office/drawing/2014/main" id="{AD7B7788-18DF-252E-A6D6-79AD1981C0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E2C2440-8492-4AE6-B5B6-132C3769AA47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22532" name="Группа 38">
            <a:extLst>
              <a:ext uri="{FF2B5EF4-FFF2-40B4-BE49-F238E27FC236}">
                <a16:creationId xmlns:a16="http://schemas.microsoft.com/office/drawing/2014/main" id="{DD20CA47-3F3F-3206-903C-11F3C7AEF491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22556" name="Рисунок 39">
              <a:extLst>
                <a:ext uri="{FF2B5EF4-FFF2-40B4-BE49-F238E27FC236}">
                  <a16:creationId xmlns:a16="http://schemas.microsoft.com/office/drawing/2014/main" id="{80BE7593-78C7-111B-3775-B8C12D76A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B41CB2-D68A-99BA-8EDE-879D72DA1A60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2558" name="Google Shape;285;p1" descr="ITER — Wikipédia">
              <a:extLst>
                <a:ext uri="{FF2B5EF4-FFF2-40B4-BE49-F238E27FC236}">
                  <a16:creationId xmlns:a16="http://schemas.microsoft.com/office/drawing/2014/main" id="{B299E25D-35E0-8297-2E97-1C1FE5BA5346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9" name="Рисунок 4">
              <a:extLst>
                <a:ext uri="{FF2B5EF4-FFF2-40B4-BE49-F238E27FC236}">
                  <a16:creationId xmlns:a16="http://schemas.microsoft.com/office/drawing/2014/main" id="{02C631CE-9033-6BDE-3822-E3C02A111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33" name="Группа 13">
            <a:extLst>
              <a:ext uri="{FF2B5EF4-FFF2-40B4-BE49-F238E27FC236}">
                <a16:creationId xmlns:a16="http://schemas.microsoft.com/office/drawing/2014/main" id="{51D57FF9-F368-B009-4875-C86B9C6E4061}"/>
              </a:ext>
            </a:extLst>
          </p:cNvPr>
          <p:cNvGrpSpPr>
            <a:grpSpLocks/>
          </p:cNvGrpSpPr>
          <p:nvPr/>
        </p:nvGrpSpPr>
        <p:grpSpPr bwMode="auto">
          <a:xfrm>
            <a:off x="241300" y="2008188"/>
            <a:ext cx="11764963" cy="4019550"/>
            <a:chOff x="269963" y="1362723"/>
            <a:chExt cx="11765283" cy="4019399"/>
          </a:xfrm>
        </p:grpSpPr>
        <p:sp>
          <p:nvSpPr>
            <p:cNvPr id="22535" name="TextBox 16">
              <a:extLst>
                <a:ext uri="{FF2B5EF4-FFF2-40B4-BE49-F238E27FC236}">
                  <a16:creationId xmlns:a16="http://schemas.microsoft.com/office/drawing/2014/main" id="{4E006017-7CA0-AF04-24D9-C993B35B2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63" y="2020390"/>
              <a:ext cx="1933305" cy="923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Download the Common solution package from IDM </a:t>
              </a:r>
            </a:p>
          </p:txBody>
        </p:sp>
        <p:sp>
          <p:nvSpPr>
            <p:cNvPr id="22536" name="TextBox 17">
              <a:extLst>
                <a:ext uri="{FF2B5EF4-FFF2-40B4-BE49-F238E27FC236}">
                  <a16:creationId xmlns:a16="http://schemas.microsoft.com/office/drawing/2014/main" id="{513A50B2-E77F-7966-A8B7-410A3E1F4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530" y="2020389"/>
              <a:ext cx="1767840" cy="923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Generate FBS/NDS templates </a:t>
              </a:r>
            </a:p>
          </p:txBody>
        </p:sp>
        <p:sp>
          <p:nvSpPr>
            <p:cNvPr id="22537" name="TextBox 19">
              <a:extLst>
                <a:ext uri="{FF2B5EF4-FFF2-40B4-BE49-F238E27FC236}">
                  <a16:creationId xmlns:a16="http://schemas.microsoft.com/office/drawing/2014/main" id="{1E97BE54-D0EB-2ADD-6B06-B04F19E6F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548" y="1362723"/>
              <a:ext cx="62701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latin typeface="Montserrat Light" panose="00000400000000000000" pitchFamily="2" charset="0"/>
                </a:rPr>
                <a:t>Actions to be performed on Windows environment</a:t>
              </a:r>
            </a:p>
          </p:txBody>
        </p:sp>
        <p:sp>
          <p:nvSpPr>
            <p:cNvPr id="22538" name="TextBox 20">
              <a:extLst>
                <a:ext uri="{FF2B5EF4-FFF2-40B4-BE49-F238E27FC236}">
                  <a16:creationId xmlns:a16="http://schemas.microsoft.com/office/drawing/2014/main" id="{37C0058A-135B-CDBB-C6BE-801F99A51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566" y="2020389"/>
              <a:ext cx="1767840" cy="923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Import into existing FBS/NDS templates</a:t>
              </a:r>
            </a:p>
          </p:txBody>
        </p:sp>
        <p:sp>
          <p:nvSpPr>
            <p:cNvPr id="22539" name="TextBox 21">
              <a:extLst>
                <a:ext uri="{FF2B5EF4-FFF2-40B4-BE49-F238E27FC236}">
                  <a16:creationId xmlns:a16="http://schemas.microsoft.com/office/drawing/2014/main" id="{13D66D8F-99EA-0239-8477-111C07B70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6269" y="2020389"/>
              <a:ext cx="1767840" cy="923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Import FBS/NDS template into EA project</a:t>
              </a:r>
            </a:p>
          </p:txBody>
        </p:sp>
        <p:sp>
          <p:nvSpPr>
            <p:cNvPr id="22540" name="TextBox 22">
              <a:extLst>
                <a:ext uri="{FF2B5EF4-FFF2-40B4-BE49-F238E27FC236}">
                  <a16:creationId xmlns:a16="http://schemas.microsoft.com/office/drawing/2014/main" id="{B3A3E11A-E4D9-70F8-0CB9-28A7CD095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8973" y="2020390"/>
              <a:ext cx="2067635" cy="923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Convert EA project to .xml using EA2SDD script</a:t>
              </a:r>
            </a:p>
          </p:txBody>
        </p:sp>
        <p:sp>
          <p:nvSpPr>
            <p:cNvPr id="22541" name="TextBox 23">
              <a:extLst>
                <a:ext uri="{FF2B5EF4-FFF2-40B4-BE49-F238E27FC236}">
                  <a16:creationId xmlns:a16="http://schemas.microsoft.com/office/drawing/2014/main" id="{34A60806-342C-BEF5-CD01-67CB76C7E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63" y="4624254"/>
              <a:ext cx="1767840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Import .xml into SDD project</a:t>
              </a:r>
            </a:p>
          </p:txBody>
        </p:sp>
        <p:sp>
          <p:nvSpPr>
            <p:cNvPr id="22542" name="TextBox 24">
              <a:extLst>
                <a:ext uri="{FF2B5EF4-FFF2-40B4-BE49-F238E27FC236}">
                  <a16:creationId xmlns:a16="http://schemas.microsoft.com/office/drawing/2014/main" id="{5CEB79B8-25B6-9B5D-E029-A46A934B8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432" y="4596883"/>
              <a:ext cx="1767840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Generate configuration file</a:t>
              </a:r>
            </a:p>
          </p:txBody>
        </p:sp>
        <p:sp>
          <p:nvSpPr>
            <p:cNvPr id="22543" name="TextBox 25">
              <a:extLst>
                <a:ext uri="{FF2B5EF4-FFF2-40B4-BE49-F238E27FC236}">
                  <a16:creationId xmlns:a16="http://schemas.microsoft.com/office/drawing/2014/main" id="{B198CD0A-8EC9-3E80-E397-907D8B836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668" y="4458791"/>
              <a:ext cx="1767840" cy="923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Import the .opi files into CS project </a:t>
              </a:r>
            </a:p>
          </p:txBody>
        </p:sp>
        <p:sp>
          <p:nvSpPr>
            <p:cNvPr id="22544" name="TextBox 26">
              <a:extLst>
                <a:ext uri="{FF2B5EF4-FFF2-40B4-BE49-F238E27FC236}">
                  <a16:creationId xmlns:a16="http://schemas.microsoft.com/office/drawing/2014/main" id="{AFEAF2F5-713A-57BB-B2F8-6E4515796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7239" y="4458792"/>
              <a:ext cx="2455167" cy="923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Change the common macros to specific data for the I&amp;C project</a:t>
              </a:r>
            </a:p>
          </p:txBody>
        </p:sp>
        <p:sp>
          <p:nvSpPr>
            <p:cNvPr id="22545" name="TextBox 27">
              <a:extLst>
                <a:ext uri="{FF2B5EF4-FFF2-40B4-BE49-F238E27FC236}">
                  <a16:creationId xmlns:a16="http://schemas.microsoft.com/office/drawing/2014/main" id="{3E0BDEFF-2FB6-BD39-82D3-5FBDCDA9C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3669" y="4458792"/>
              <a:ext cx="2821577" cy="923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Run the SDD project and test the HMI with integrated common solution</a:t>
              </a:r>
            </a:p>
          </p:txBody>
        </p:sp>
        <p:sp>
          <p:nvSpPr>
            <p:cNvPr id="22546" name="TextBox 28">
              <a:extLst>
                <a:ext uri="{FF2B5EF4-FFF2-40B4-BE49-F238E27FC236}">
                  <a16:creationId xmlns:a16="http://schemas.microsoft.com/office/drawing/2014/main" id="{22D96827-191A-97AB-3618-3D2257BDE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840" y="3627794"/>
              <a:ext cx="66022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latin typeface="Montserrat Light" panose="00000400000000000000" pitchFamily="2" charset="0"/>
                </a:rPr>
                <a:t>Actions to be performed on CODAC environment</a:t>
              </a:r>
            </a:p>
          </p:txBody>
        </p: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D04B7554-D67D-9F6F-9501-B17B4DA42549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>
              <a:off x="2203268" y="2481741"/>
              <a:ext cx="470262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1572028E-AE97-E4C6-D8DA-98B67326A614}"/>
                </a:ext>
              </a:extLst>
            </p:cNvPr>
            <p:cNvCxnSpPr>
              <a:stCxn id="18" idx="3"/>
              <a:endCxn id="21" idx="1"/>
            </p:cNvCxnSpPr>
            <p:nvPr/>
          </p:nvCxnSpPr>
          <p:spPr>
            <a:xfrm>
              <a:off x="4441370" y="2481741"/>
              <a:ext cx="457196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23A54011-B38D-C164-D28D-1F3FB4399E93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>
            <a:xfrm>
              <a:off x="6666406" y="2481741"/>
              <a:ext cx="4898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B5069454-9F6F-767B-3D5E-F6518107BB11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>
              <a:off x="8924109" y="2482054"/>
              <a:ext cx="494864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DDF49FBC-4B31-5EC0-FC47-CBEA01B8D3E6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>
              <a:off x="2037803" y="4944432"/>
              <a:ext cx="33962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4BE23098-0A47-0F97-4EDA-3F97A1177497}"/>
                </a:ext>
              </a:extLst>
            </p:cNvPr>
            <p:cNvCxnSpPr>
              <a:cxnSpLocks/>
              <a:stCxn id="22542" idx="3"/>
            </p:cNvCxnSpPr>
            <p:nvPr/>
          </p:nvCxnSpPr>
          <p:spPr>
            <a:xfrm>
              <a:off x="4145272" y="4920049"/>
              <a:ext cx="324396" cy="40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12EFFEBB-C095-CE37-B88E-57FFD00D5DCE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>
              <a:off x="6237508" y="4920456"/>
              <a:ext cx="259731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2A6BD798-CC45-A57C-60DB-69DBCE9E6106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>
              <a:off x="8952406" y="4920049"/>
              <a:ext cx="2612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Соединительная линия уступом 42">
              <a:extLst>
                <a:ext uri="{FF2B5EF4-FFF2-40B4-BE49-F238E27FC236}">
                  <a16:creationId xmlns:a16="http://schemas.microsoft.com/office/drawing/2014/main" id="{C2D8118B-2D53-C4A5-7E8D-3AFF26517813}"/>
                </a:ext>
              </a:extLst>
            </p:cNvPr>
            <p:cNvCxnSpPr>
              <a:stCxn id="23" idx="2"/>
              <a:endCxn id="24" idx="0"/>
            </p:cNvCxnSpPr>
            <p:nvPr/>
          </p:nvCxnSpPr>
          <p:spPr>
            <a:xfrm rot="5400000">
              <a:off x="4963070" y="-865467"/>
              <a:ext cx="1680534" cy="9298908"/>
            </a:xfrm>
            <a:prstGeom prst="bentConnector3">
              <a:avLst>
                <a:gd name="adj1" fmla="val 69001"/>
              </a:avLst>
            </a:prstGeom>
            <a:ln w="38100">
              <a:solidFill>
                <a:srgbClr val="0070C0"/>
              </a:solidFill>
              <a:tailEnd type="triangle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534" name="Picture 2">
            <a:extLst>
              <a:ext uri="{FF2B5EF4-FFF2-40B4-BE49-F238E27FC236}">
                <a16:creationId xmlns:a16="http://schemas.microsoft.com/office/drawing/2014/main" id="{D95C22C0-EC85-78D9-259C-38C0001BF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81512B60-2C3B-432A-CAAA-0AAC7805D0F6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24579" name="Номер слайда 1">
            <a:extLst>
              <a:ext uri="{FF2B5EF4-FFF2-40B4-BE49-F238E27FC236}">
                <a16:creationId xmlns:a16="http://schemas.microsoft.com/office/drawing/2014/main" id="{09E926AB-FF86-061B-1B90-6BFF80BB45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BEB77DE-C3FB-4133-8B69-F78D2072405B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24580" name="Группа 38">
            <a:extLst>
              <a:ext uri="{FF2B5EF4-FFF2-40B4-BE49-F238E27FC236}">
                <a16:creationId xmlns:a16="http://schemas.microsoft.com/office/drawing/2014/main" id="{ED8327A9-2D70-ADDA-C4FF-9168CD6BE0B2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24587" name="Рисунок 39">
              <a:extLst>
                <a:ext uri="{FF2B5EF4-FFF2-40B4-BE49-F238E27FC236}">
                  <a16:creationId xmlns:a16="http://schemas.microsoft.com/office/drawing/2014/main" id="{C671C478-E4F5-0F76-7576-A0ECF4DDD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A6A944D-5CE2-04BD-A9A8-80BD5AC52C6F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4589" name="Google Shape;285;p1" descr="ITER — Wikipédia">
              <a:extLst>
                <a:ext uri="{FF2B5EF4-FFF2-40B4-BE49-F238E27FC236}">
                  <a16:creationId xmlns:a16="http://schemas.microsoft.com/office/drawing/2014/main" id="{3DA3AC5A-A787-7C42-CD3A-B29FAB66D7F7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0" name="Рисунок 4">
              <a:extLst>
                <a:ext uri="{FF2B5EF4-FFF2-40B4-BE49-F238E27FC236}">
                  <a16:creationId xmlns:a16="http://schemas.microsoft.com/office/drawing/2014/main" id="{DCCE2266-3AC7-1FA4-306F-BEE35C2A8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4581" name="Рисунок 13">
            <a:extLst>
              <a:ext uri="{FF2B5EF4-FFF2-40B4-BE49-F238E27FC236}">
                <a16:creationId xmlns:a16="http://schemas.microsoft.com/office/drawing/2014/main" id="{6A6C9F3D-BE36-3D1A-8BFD-36C0D2EE6F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3327400"/>
            <a:ext cx="3000375" cy="310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16">
            <a:extLst>
              <a:ext uri="{FF2B5EF4-FFF2-40B4-BE49-F238E27FC236}">
                <a16:creationId xmlns:a16="http://schemas.microsoft.com/office/drawing/2014/main" id="{5112FB48-004A-2D4B-B7EF-7DE061E47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820863"/>
            <a:ext cx="37322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Montserrat Light" panose="00000400000000000000" pitchFamily="2" charset="0"/>
              </a:rPr>
              <a:t>For demonstration Temperature control through Backing Jacket is used</a:t>
            </a:r>
          </a:p>
        </p:txBody>
      </p:sp>
      <p:sp>
        <p:nvSpPr>
          <p:cNvPr id="24583" name="TextBox 17">
            <a:extLst>
              <a:ext uri="{FF2B5EF4-FFF2-40B4-BE49-F238E27FC236}">
                <a16:creationId xmlns:a16="http://schemas.microsoft.com/office/drawing/2014/main" id="{76316407-B4F4-C14F-111E-5E54A0F07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562225"/>
            <a:ext cx="7934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/>
              <a:t>FBS/NDS generation using FBS_template_for_Temperature_Control_Com_ARXHPQ_v1_0.xlsm [</a:t>
            </a:r>
            <a:r>
              <a:rPr lang="en-US" altLang="en-US" sz="1800">
                <a:hlinkClick r:id="rId7"/>
              </a:rPr>
              <a:t>ARXHPQ</a:t>
            </a:r>
            <a:r>
              <a:rPr lang="en-US" altLang="en-US" sz="1800" b="1"/>
              <a:t>]</a:t>
            </a:r>
          </a:p>
        </p:txBody>
      </p:sp>
      <p:pic>
        <p:nvPicPr>
          <p:cNvPr id="24584" name="Рисунок 19">
            <a:extLst>
              <a:ext uri="{FF2B5EF4-FFF2-40B4-BE49-F238E27FC236}">
                <a16:creationId xmlns:a16="http://schemas.microsoft.com/office/drawing/2014/main" id="{6F406C48-3D42-4591-9EA0-CC6FE23A30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327400"/>
            <a:ext cx="3000375" cy="3106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CC066D6-611E-EF81-81A6-7DA7B69BE720}"/>
              </a:ext>
            </a:extLst>
          </p:cNvPr>
          <p:cNvSpPr/>
          <p:nvPr/>
        </p:nvSpPr>
        <p:spPr>
          <a:xfrm>
            <a:off x="8281988" y="4167188"/>
            <a:ext cx="1211262" cy="1058862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pic>
        <p:nvPicPr>
          <p:cNvPr id="24586" name="Picture 3">
            <a:extLst>
              <a:ext uri="{FF2B5EF4-FFF2-40B4-BE49-F238E27FC236}">
                <a16:creationId xmlns:a16="http://schemas.microsoft.com/office/drawing/2014/main" id="{9C792596-2520-F1F9-4311-90632D48F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C275FD6B-DD5E-12A9-2056-5D1DDFBAF456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26627" name="Номер слайда 1">
            <a:extLst>
              <a:ext uri="{FF2B5EF4-FFF2-40B4-BE49-F238E27FC236}">
                <a16:creationId xmlns:a16="http://schemas.microsoft.com/office/drawing/2014/main" id="{E89C5C67-77F1-48FE-7C9C-8FFD20FA56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C62CE2D-80D0-48F9-B741-1667391C7782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26628" name="Группа 38">
            <a:extLst>
              <a:ext uri="{FF2B5EF4-FFF2-40B4-BE49-F238E27FC236}">
                <a16:creationId xmlns:a16="http://schemas.microsoft.com/office/drawing/2014/main" id="{5C18159F-47EE-88A9-29C0-6893C3C479EA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26637" name="Рисунок 39">
              <a:extLst>
                <a:ext uri="{FF2B5EF4-FFF2-40B4-BE49-F238E27FC236}">
                  <a16:creationId xmlns:a16="http://schemas.microsoft.com/office/drawing/2014/main" id="{9A715508-24BC-D26D-8144-44DF54AA8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B70B7CE-85D8-3084-B76E-3C015DB74162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6639" name="Google Shape;285;p1" descr="ITER — Wikipédia">
              <a:extLst>
                <a:ext uri="{FF2B5EF4-FFF2-40B4-BE49-F238E27FC236}">
                  <a16:creationId xmlns:a16="http://schemas.microsoft.com/office/drawing/2014/main" id="{E6F7B9F2-A052-85BE-32E6-C86222539FE7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0" name="Рисунок 4">
              <a:extLst>
                <a:ext uri="{FF2B5EF4-FFF2-40B4-BE49-F238E27FC236}">
                  <a16:creationId xmlns:a16="http://schemas.microsoft.com/office/drawing/2014/main" id="{5A2AB291-3533-9ED8-3960-467F4FA5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6629" name="Рисунок 13">
            <a:extLst>
              <a:ext uri="{FF2B5EF4-FFF2-40B4-BE49-F238E27FC236}">
                <a16:creationId xmlns:a16="http://schemas.microsoft.com/office/drawing/2014/main" id="{9666BFD3-DDB0-320F-4A4E-0968D09AAB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3327400"/>
            <a:ext cx="3000375" cy="310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Box 16">
            <a:extLst>
              <a:ext uri="{FF2B5EF4-FFF2-40B4-BE49-F238E27FC236}">
                <a16:creationId xmlns:a16="http://schemas.microsoft.com/office/drawing/2014/main" id="{5F1B48F2-0C47-A668-37AE-42AD8AD9D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820863"/>
            <a:ext cx="37322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Montserrat Light" panose="00000400000000000000" pitchFamily="2" charset="0"/>
              </a:rPr>
              <a:t>For demonstration Temperature control through Backing Jacket is used</a:t>
            </a:r>
          </a:p>
        </p:txBody>
      </p:sp>
      <p:sp>
        <p:nvSpPr>
          <p:cNvPr id="26631" name="TextBox 17">
            <a:extLst>
              <a:ext uri="{FF2B5EF4-FFF2-40B4-BE49-F238E27FC236}">
                <a16:creationId xmlns:a16="http://schemas.microsoft.com/office/drawing/2014/main" id="{F57A41E4-B50B-2099-A66D-D369CF9EB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562225"/>
            <a:ext cx="80406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/>
              <a:t>FBS/NDS generation using FBS_template_for_Temperature_Control_Com_ARXHPQ_v1_0.xlsm [</a:t>
            </a:r>
            <a:r>
              <a:rPr lang="en-US" altLang="en-US" sz="1800">
                <a:hlinkClick r:id="rId7"/>
              </a:rPr>
              <a:t>ARXHPQ</a:t>
            </a:r>
            <a:r>
              <a:rPr lang="en-US" altLang="en-US" sz="1800" b="1"/>
              <a:t>]</a:t>
            </a:r>
          </a:p>
        </p:txBody>
      </p:sp>
      <p:pic>
        <p:nvPicPr>
          <p:cNvPr id="26632" name="Рисунок 19">
            <a:extLst>
              <a:ext uri="{FF2B5EF4-FFF2-40B4-BE49-F238E27FC236}">
                <a16:creationId xmlns:a16="http://schemas.microsoft.com/office/drawing/2014/main" id="{42ADB997-0F58-4B16-2A69-C2D7B04A6A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413" y="3327400"/>
            <a:ext cx="3000375" cy="3106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E2FC442-0F9A-35B3-C09A-6776831DE9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163" y="2343150"/>
            <a:ext cx="3525837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A79ABE-E31A-756A-EFC4-D0ED921417D5}"/>
              </a:ext>
            </a:extLst>
          </p:cNvPr>
          <p:cNvSpPr/>
          <p:nvPr/>
        </p:nvSpPr>
        <p:spPr>
          <a:xfrm>
            <a:off x="8769350" y="4167188"/>
            <a:ext cx="1209675" cy="1058862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865587E-43E1-BA99-EF71-440A06F7E401}"/>
              </a:ext>
            </a:extLst>
          </p:cNvPr>
          <p:cNvSpPr/>
          <p:nvPr/>
        </p:nvSpPr>
        <p:spPr>
          <a:xfrm>
            <a:off x="4395788" y="4684713"/>
            <a:ext cx="1211262" cy="647700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pic>
        <p:nvPicPr>
          <p:cNvPr id="26636" name="Picture 3">
            <a:extLst>
              <a:ext uri="{FF2B5EF4-FFF2-40B4-BE49-F238E27FC236}">
                <a16:creationId xmlns:a16="http://schemas.microsoft.com/office/drawing/2014/main" id="{D2F55726-A453-9173-0E4C-C0AEAC7DA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3B8809E-902A-D992-13F9-A556BB3E6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59013"/>
            <a:ext cx="1219200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15">
            <a:extLst>
              <a:ext uri="{FF2B5EF4-FFF2-40B4-BE49-F238E27FC236}">
                <a16:creationId xmlns:a16="http://schemas.microsoft.com/office/drawing/2014/main" id="{480AF5CB-AB77-0C4F-8DF9-05F856555652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2</a:t>
            </a:r>
            <a:endParaRPr lang="en-US" sz="40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28676" name="Номер слайда 1">
            <a:extLst>
              <a:ext uri="{FF2B5EF4-FFF2-40B4-BE49-F238E27FC236}">
                <a16:creationId xmlns:a16="http://schemas.microsoft.com/office/drawing/2014/main" id="{EC069508-AA6E-8C35-F338-0E1AF11EAC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8AF2E1C-7F17-4053-9B6E-DAD831DA7AFB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28677" name="Группа 38">
            <a:extLst>
              <a:ext uri="{FF2B5EF4-FFF2-40B4-BE49-F238E27FC236}">
                <a16:creationId xmlns:a16="http://schemas.microsoft.com/office/drawing/2014/main" id="{C3940DFC-5665-A40D-0F64-984999918C35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28682" name="Рисунок 39">
              <a:extLst>
                <a:ext uri="{FF2B5EF4-FFF2-40B4-BE49-F238E27FC236}">
                  <a16:creationId xmlns:a16="http://schemas.microsoft.com/office/drawing/2014/main" id="{13F8CA24-AE1A-6EDC-AAAB-C784403F7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F19D886-ADD4-0635-C5BF-130823A47E96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8684" name="Google Shape;285;p1" descr="ITER — Wikipédia">
              <a:extLst>
                <a:ext uri="{FF2B5EF4-FFF2-40B4-BE49-F238E27FC236}">
                  <a16:creationId xmlns:a16="http://schemas.microsoft.com/office/drawing/2014/main" id="{3909C27A-B7A7-BD27-D1C7-5C883589C8EE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85" name="Рисунок 4">
              <a:extLst>
                <a:ext uri="{FF2B5EF4-FFF2-40B4-BE49-F238E27FC236}">
                  <a16:creationId xmlns:a16="http://schemas.microsoft.com/office/drawing/2014/main" id="{3B9414E0-6692-FA2F-4CDF-C7C5B9010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E27B493-4EFA-800A-DC80-9FD5B5B9C39B}"/>
              </a:ext>
            </a:extLst>
          </p:cNvPr>
          <p:cNvSpPr/>
          <p:nvPr/>
        </p:nvSpPr>
        <p:spPr>
          <a:xfrm>
            <a:off x="3022600" y="2771775"/>
            <a:ext cx="1914525" cy="461963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C144337-1A91-9F86-41F2-B68EA3846D07}"/>
              </a:ext>
            </a:extLst>
          </p:cNvPr>
          <p:cNvSpPr/>
          <p:nvPr/>
        </p:nvSpPr>
        <p:spPr>
          <a:xfrm>
            <a:off x="6692900" y="3213100"/>
            <a:ext cx="2743200" cy="3433763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8680" name="TextBox 23">
            <a:extLst>
              <a:ext uri="{FF2B5EF4-FFF2-40B4-BE49-F238E27FC236}">
                <a16:creationId xmlns:a16="http://schemas.microsoft.com/office/drawing/2014/main" id="{344ED8DA-453A-A5C0-E263-3B8DFF7C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813" y="1858963"/>
            <a:ext cx="9115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i="1"/>
              <a:t>Generated FBS template ready for integration</a:t>
            </a:r>
          </a:p>
        </p:txBody>
      </p:sp>
      <p:pic>
        <p:nvPicPr>
          <p:cNvPr id="28681" name="Picture 2">
            <a:extLst>
              <a:ext uri="{FF2B5EF4-FFF2-40B4-BE49-F238E27FC236}">
                <a16:creationId xmlns:a16="http://schemas.microsoft.com/office/drawing/2014/main" id="{1B458DD7-D695-1C30-A83D-0E4B65F5B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7AC07C85-A9A5-4611-19CC-0F36FE83CA1C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3</a:t>
            </a:r>
            <a:endParaRPr lang="en-US" sz="40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30723" name="Номер слайда 1">
            <a:extLst>
              <a:ext uri="{FF2B5EF4-FFF2-40B4-BE49-F238E27FC236}">
                <a16:creationId xmlns:a16="http://schemas.microsoft.com/office/drawing/2014/main" id="{7710B0C9-F013-ED41-720F-19C5996DFF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C13097A-B48B-4744-985E-80AA6A353AA2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30724" name="Группа 38">
            <a:extLst>
              <a:ext uri="{FF2B5EF4-FFF2-40B4-BE49-F238E27FC236}">
                <a16:creationId xmlns:a16="http://schemas.microsoft.com/office/drawing/2014/main" id="{61C42C19-107D-EE70-BE44-F05D1BE8989A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30728" name="Рисунок 39">
              <a:extLst>
                <a:ext uri="{FF2B5EF4-FFF2-40B4-BE49-F238E27FC236}">
                  <a16:creationId xmlns:a16="http://schemas.microsoft.com/office/drawing/2014/main" id="{7AC44A32-7244-A6E0-1DD0-BE80289DF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403D126-ACEE-DE86-B19E-8AE798619890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30730" name="Google Shape;285;p1" descr="ITER — Wikipédia">
              <a:extLst>
                <a:ext uri="{FF2B5EF4-FFF2-40B4-BE49-F238E27FC236}">
                  <a16:creationId xmlns:a16="http://schemas.microsoft.com/office/drawing/2014/main" id="{3E0A4C64-DED4-96DF-6033-E60867A92475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31" name="Рисунок 4">
              <a:extLst>
                <a:ext uri="{FF2B5EF4-FFF2-40B4-BE49-F238E27FC236}">
                  <a16:creationId xmlns:a16="http://schemas.microsoft.com/office/drawing/2014/main" id="{026C8A15-6727-5659-492E-484B29963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725" name="Рисунок 12">
            <a:extLst>
              <a:ext uri="{FF2B5EF4-FFF2-40B4-BE49-F238E27FC236}">
                <a16:creationId xmlns:a16="http://schemas.microsoft.com/office/drawing/2014/main" id="{383BF112-9BAB-F8BB-FC8C-9ED89B94FF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1936750"/>
            <a:ext cx="4603750" cy="476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2A080A9-4E86-9603-3241-D542F0E9E4F1}"/>
              </a:ext>
            </a:extLst>
          </p:cNvPr>
          <p:cNvSpPr/>
          <p:nvPr/>
        </p:nvSpPr>
        <p:spPr>
          <a:xfrm>
            <a:off x="6146800" y="5534025"/>
            <a:ext cx="1476375" cy="577850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pic>
        <p:nvPicPr>
          <p:cNvPr id="30727" name="Picture 2">
            <a:extLst>
              <a:ext uri="{FF2B5EF4-FFF2-40B4-BE49-F238E27FC236}">
                <a16:creationId xmlns:a16="http://schemas.microsoft.com/office/drawing/2014/main" id="{C513FD80-E5B6-1970-864F-30A13A369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0ED9AB99-A753-F357-0B60-5F9EF0162081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4</a:t>
            </a:r>
            <a:endParaRPr lang="en-US" sz="40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32771" name="Номер слайда 1">
            <a:extLst>
              <a:ext uri="{FF2B5EF4-FFF2-40B4-BE49-F238E27FC236}">
                <a16:creationId xmlns:a16="http://schemas.microsoft.com/office/drawing/2014/main" id="{C7F39033-01FD-6099-13A8-52B1DC5CE6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16AF421-FB40-4BA5-9B02-DB79DDB1ABC7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32772" name="Группа 38">
            <a:extLst>
              <a:ext uri="{FF2B5EF4-FFF2-40B4-BE49-F238E27FC236}">
                <a16:creationId xmlns:a16="http://schemas.microsoft.com/office/drawing/2014/main" id="{E8494D8C-E7CE-1BF2-0603-760B34F0E309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32778" name="Рисунок 39">
              <a:extLst>
                <a:ext uri="{FF2B5EF4-FFF2-40B4-BE49-F238E27FC236}">
                  <a16:creationId xmlns:a16="http://schemas.microsoft.com/office/drawing/2014/main" id="{2D2D629E-EEC8-53E8-7A65-41A618C04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758EC38-2D9E-5790-283B-3EE7E4FB5964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32780" name="Google Shape;285;p1" descr="ITER — Wikipédia">
              <a:extLst>
                <a:ext uri="{FF2B5EF4-FFF2-40B4-BE49-F238E27FC236}">
                  <a16:creationId xmlns:a16="http://schemas.microsoft.com/office/drawing/2014/main" id="{1A3586AD-172A-AAA1-4AE7-A1996D41B0BC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81" name="Рисунок 4">
              <a:extLst>
                <a:ext uri="{FF2B5EF4-FFF2-40B4-BE49-F238E27FC236}">
                  <a16:creationId xmlns:a16="http://schemas.microsoft.com/office/drawing/2014/main" id="{2C801743-1EF5-DE82-D6F7-C1A07A20E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773" name="Рисунок 10">
            <a:extLst>
              <a:ext uri="{FF2B5EF4-FFF2-40B4-BE49-F238E27FC236}">
                <a16:creationId xmlns:a16="http://schemas.microsoft.com/office/drawing/2014/main" id="{31B4AA2D-C84A-3983-3DE1-CE0F0F2D0F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0" y="2763838"/>
            <a:ext cx="3932238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Рисунок 11">
            <a:extLst>
              <a:ext uri="{FF2B5EF4-FFF2-40B4-BE49-F238E27FC236}">
                <a16:creationId xmlns:a16="http://schemas.microsoft.com/office/drawing/2014/main" id="{60381163-846A-DF7A-EEB2-39139DB2CD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50" y="2763838"/>
            <a:ext cx="3933825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133C618-A445-6BC2-19F9-BC25B31C9039}"/>
              </a:ext>
            </a:extLst>
          </p:cNvPr>
          <p:cNvSpPr/>
          <p:nvPr/>
        </p:nvSpPr>
        <p:spPr>
          <a:xfrm>
            <a:off x="6570663" y="4291013"/>
            <a:ext cx="3965575" cy="1401762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776" name="TextBox 18">
            <a:extLst>
              <a:ext uri="{FF2B5EF4-FFF2-40B4-BE49-F238E27FC236}">
                <a16:creationId xmlns:a16="http://schemas.microsoft.com/office/drawing/2014/main" id="{8FED01E6-A3EB-0B1B-D1CB-BEEB22EDF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2241550"/>
            <a:ext cx="1009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/>
              <a:t>NDS variables EPACK and EPC2000 for Temperature Control Common Solution [</a:t>
            </a:r>
            <a:r>
              <a:rPr lang="en-US" altLang="en-US" sz="1800">
                <a:hlinkClick r:id="rId8"/>
              </a:rPr>
              <a:t>AU3RWH</a:t>
            </a:r>
            <a:r>
              <a:rPr lang="en-US" altLang="en-US" sz="1800" b="1"/>
              <a:t>]</a:t>
            </a:r>
          </a:p>
        </p:txBody>
      </p:sp>
      <p:pic>
        <p:nvPicPr>
          <p:cNvPr id="32777" name="Picture 2">
            <a:extLst>
              <a:ext uri="{FF2B5EF4-FFF2-40B4-BE49-F238E27FC236}">
                <a16:creationId xmlns:a16="http://schemas.microsoft.com/office/drawing/2014/main" id="{74201B6E-9ADE-00D0-3104-8D0427D06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8">
            <a:extLst>
              <a:ext uri="{FF2B5EF4-FFF2-40B4-BE49-F238E27FC236}">
                <a16:creationId xmlns:a16="http://schemas.microsoft.com/office/drawing/2014/main" id="{94BD95DC-1480-4BC2-D942-3E6181BB6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2241550"/>
            <a:ext cx="1009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/>
              <a:t>NDS variables EPACK and EPC2000 for Temperature Control Common Solution [</a:t>
            </a:r>
            <a:r>
              <a:rPr lang="en-US" altLang="en-US" sz="1800">
                <a:hlinkClick r:id="rId3"/>
              </a:rPr>
              <a:t>AU3RWH</a:t>
            </a:r>
            <a:r>
              <a:rPr lang="en-US" altLang="en-US" sz="1800" b="1"/>
              <a:t>]</a:t>
            </a:r>
          </a:p>
        </p:txBody>
      </p:sp>
      <p:sp>
        <p:nvSpPr>
          <p:cNvPr id="8" name="Object15">
            <a:extLst>
              <a:ext uri="{FF2B5EF4-FFF2-40B4-BE49-F238E27FC236}">
                <a16:creationId xmlns:a16="http://schemas.microsoft.com/office/drawing/2014/main" id="{EBCF7F94-9F6D-D826-53DE-58CE5E1F3F0F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4</a:t>
            </a:r>
            <a:endParaRPr lang="en-US" sz="40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34820" name="Номер слайда 1">
            <a:extLst>
              <a:ext uri="{FF2B5EF4-FFF2-40B4-BE49-F238E27FC236}">
                <a16:creationId xmlns:a16="http://schemas.microsoft.com/office/drawing/2014/main" id="{11EC4E03-B881-F4CD-CDBB-084556849F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0097BAC-2C80-4EBE-8C29-3644D4690BFC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34821" name="Группа 38">
            <a:extLst>
              <a:ext uri="{FF2B5EF4-FFF2-40B4-BE49-F238E27FC236}">
                <a16:creationId xmlns:a16="http://schemas.microsoft.com/office/drawing/2014/main" id="{BC1503E6-69D9-AAD9-A4BA-AE7ECD635D89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34829" name="Рисунок 39">
              <a:extLst>
                <a:ext uri="{FF2B5EF4-FFF2-40B4-BE49-F238E27FC236}">
                  <a16:creationId xmlns:a16="http://schemas.microsoft.com/office/drawing/2014/main" id="{03DFAE5F-15DA-3725-D3EA-22BD223AD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40C2A16-F53F-A8D1-ACD9-73979792E738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34831" name="Google Shape;285;p1" descr="ITER — Wikipédia">
              <a:extLst>
                <a:ext uri="{FF2B5EF4-FFF2-40B4-BE49-F238E27FC236}">
                  <a16:creationId xmlns:a16="http://schemas.microsoft.com/office/drawing/2014/main" id="{338BE8C6-56D8-EB27-0480-9E4CCCAD844A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32" name="Рисунок 4">
              <a:extLst>
                <a:ext uri="{FF2B5EF4-FFF2-40B4-BE49-F238E27FC236}">
                  <a16:creationId xmlns:a16="http://schemas.microsoft.com/office/drawing/2014/main" id="{A4D3D551-1AC1-3E51-63AC-2B847BDA3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4822" name="Рисунок 10">
            <a:extLst>
              <a:ext uri="{FF2B5EF4-FFF2-40B4-BE49-F238E27FC236}">
                <a16:creationId xmlns:a16="http://schemas.microsoft.com/office/drawing/2014/main" id="{9165705A-A438-95C3-FD84-2A28CEBAD1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0" y="2763838"/>
            <a:ext cx="3932238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Рисунок 11">
            <a:extLst>
              <a:ext uri="{FF2B5EF4-FFF2-40B4-BE49-F238E27FC236}">
                <a16:creationId xmlns:a16="http://schemas.microsoft.com/office/drawing/2014/main" id="{5128621C-6D75-F752-99C1-7AF4027791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50" y="2763838"/>
            <a:ext cx="3933825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A4CD29A-5B2C-0E88-54D9-60230134BEC7}"/>
              </a:ext>
            </a:extLst>
          </p:cNvPr>
          <p:cNvSpPr/>
          <p:nvPr/>
        </p:nvSpPr>
        <p:spPr>
          <a:xfrm>
            <a:off x="6273800" y="4291013"/>
            <a:ext cx="4187825" cy="1401762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1C86F7A-7622-0751-C299-D990DB326F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863" y="2201863"/>
            <a:ext cx="4497387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FAE9431-2373-C7CC-7541-34B1D34AB6A1}"/>
              </a:ext>
            </a:extLst>
          </p:cNvPr>
          <p:cNvSpPr/>
          <p:nvPr/>
        </p:nvSpPr>
        <p:spPr>
          <a:xfrm>
            <a:off x="3236913" y="5454650"/>
            <a:ext cx="1895475" cy="742950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E68D7A1-3C82-2FB3-6A5B-7E9FDF29037F}"/>
              </a:ext>
            </a:extLst>
          </p:cNvPr>
          <p:cNvSpPr/>
          <p:nvPr/>
        </p:nvSpPr>
        <p:spPr>
          <a:xfrm>
            <a:off x="5800725" y="5454650"/>
            <a:ext cx="1895475" cy="742950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4828" name="Picture 2">
            <a:extLst>
              <a:ext uri="{FF2B5EF4-FFF2-40B4-BE49-F238E27FC236}">
                <a16:creationId xmlns:a16="http://schemas.microsoft.com/office/drawing/2014/main" id="{C1C16588-825D-26B7-29FE-2ADC47E9A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E3063120-A92E-4805-6017-A97E314EDE49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5</a:t>
            </a:r>
            <a:endParaRPr lang="en-US" sz="40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36867" name="Номер слайда 1">
            <a:extLst>
              <a:ext uri="{FF2B5EF4-FFF2-40B4-BE49-F238E27FC236}">
                <a16:creationId xmlns:a16="http://schemas.microsoft.com/office/drawing/2014/main" id="{376013BD-3934-98EE-45CA-909D068B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7605B2-97AF-4F9F-AA58-D62A5DB6882C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36868" name="Группа 38">
            <a:extLst>
              <a:ext uri="{FF2B5EF4-FFF2-40B4-BE49-F238E27FC236}">
                <a16:creationId xmlns:a16="http://schemas.microsoft.com/office/drawing/2014/main" id="{468B3D13-4058-AD55-4E0D-23AA85EA8414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36875" name="Рисунок 39">
              <a:extLst>
                <a:ext uri="{FF2B5EF4-FFF2-40B4-BE49-F238E27FC236}">
                  <a16:creationId xmlns:a16="http://schemas.microsoft.com/office/drawing/2014/main" id="{91A39668-DC01-6027-B1DC-29DE6B699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B7958B8-629D-E2A2-5C03-A14E51711A2C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36877" name="Google Shape;285;p1" descr="ITER — Wikipédia">
              <a:extLst>
                <a:ext uri="{FF2B5EF4-FFF2-40B4-BE49-F238E27FC236}">
                  <a16:creationId xmlns:a16="http://schemas.microsoft.com/office/drawing/2014/main" id="{DA175B14-21FD-BAFD-64BF-601AC975FF1C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8" name="Рисунок 4">
              <a:extLst>
                <a:ext uri="{FF2B5EF4-FFF2-40B4-BE49-F238E27FC236}">
                  <a16:creationId xmlns:a16="http://schemas.microsoft.com/office/drawing/2014/main" id="{2609898B-2E23-E088-FA7F-0E64C0BE2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869" name="TextBox 24">
            <a:extLst>
              <a:ext uri="{FF2B5EF4-FFF2-40B4-BE49-F238E27FC236}">
                <a16:creationId xmlns:a16="http://schemas.microsoft.com/office/drawing/2014/main" id="{4263FD7E-3462-22A4-5993-2B1616BD2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8075" y="1598613"/>
            <a:ext cx="3217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i="1"/>
              <a:t>Generated NDS template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9E0A55-4E70-25E0-405A-EC69CD40F480}"/>
              </a:ext>
            </a:extLst>
          </p:cNvPr>
          <p:cNvSpPr/>
          <p:nvPr/>
        </p:nvSpPr>
        <p:spPr>
          <a:xfrm>
            <a:off x="4624388" y="5791200"/>
            <a:ext cx="2943225" cy="476250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44707D2-7148-BE3A-CC59-C8CBC89E57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968500"/>
            <a:ext cx="10963275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6F60D24-1BC3-8970-B974-2BE99A72A0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5" y="5853113"/>
            <a:ext cx="27368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175ADC3-915C-7826-4179-125D2DA5E038}"/>
              </a:ext>
            </a:extLst>
          </p:cNvPr>
          <p:cNvSpPr/>
          <p:nvPr/>
        </p:nvSpPr>
        <p:spPr>
          <a:xfrm>
            <a:off x="9979025" y="2497138"/>
            <a:ext cx="1290638" cy="3355975"/>
          </a:xfrm>
          <a:prstGeom prst="rect">
            <a:avLst/>
          </a:prstGeom>
          <a:noFill/>
          <a:ln w="57150">
            <a:solidFill>
              <a:srgbClr val="025E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6874" name="Picture 2">
            <a:extLst>
              <a:ext uri="{FF2B5EF4-FFF2-40B4-BE49-F238E27FC236}">
                <a16:creationId xmlns:a16="http://schemas.microsoft.com/office/drawing/2014/main" id="{1C2F84B5-5968-0806-767E-0A56EF3AA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3D9E2362-3151-94CB-E9C4-6BE075DC49CC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6</a:t>
            </a:r>
            <a:endParaRPr lang="en-US" sz="40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38915" name="Номер слайда 1">
            <a:extLst>
              <a:ext uri="{FF2B5EF4-FFF2-40B4-BE49-F238E27FC236}">
                <a16:creationId xmlns:a16="http://schemas.microsoft.com/office/drawing/2014/main" id="{36CFC617-A2A1-5156-8EAA-DF8FD64E8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BF6138A-F732-4645-BEEF-D35A9ADF4975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38916" name="Группа 38">
            <a:extLst>
              <a:ext uri="{FF2B5EF4-FFF2-40B4-BE49-F238E27FC236}">
                <a16:creationId xmlns:a16="http://schemas.microsoft.com/office/drawing/2014/main" id="{EFB1204F-AEB3-95E5-552F-85CDB9A1077D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38921" name="Рисунок 39">
              <a:extLst>
                <a:ext uri="{FF2B5EF4-FFF2-40B4-BE49-F238E27FC236}">
                  <a16:creationId xmlns:a16="http://schemas.microsoft.com/office/drawing/2014/main" id="{F20F2F83-8460-9DD4-589C-A30243460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676001-C96F-1659-ECE6-65C7FB24345D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38923" name="Google Shape;285;p1" descr="ITER — Wikipédia">
              <a:extLst>
                <a:ext uri="{FF2B5EF4-FFF2-40B4-BE49-F238E27FC236}">
                  <a16:creationId xmlns:a16="http://schemas.microsoft.com/office/drawing/2014/main" id="{488A7076-51DF-DBFC-B3BA-C5BBE514CD4E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24" name="Рисунок 4">
              <a:extLst>
                <a:ext uri="{FF2B5EF4-FFF2-40B4-BE49-F238E27FC236}">
                  <a16:creationId xmlns:a16="http://schemas.microsoft.com/office/drawing/2014/main" id="{7718C816-00B2-8BFA-15B6-277667478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917" name="TextBox 12">
            <a:extLst>
              <a:ext uri="{FF2B5EF4-FFF2-40B4-BE49-F238E27FC236}">
                <a16:creationId xmlns:a16="http://schemas.microsoft.com/office/drawing/2014/main" id="{09303CA7-AFC6-D3CB-0E7A-E465E9B31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673350" y="2132013"/>
            <a:ext cx="9115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/>
              <a:t>Importing into EA project</a:t>
            </a:r>
          </a:p>
        </p:txBody>
      </p:sp>
      <p:pic>
        <p:nvPicPr>
          <p:cNvPr id="38918" name="Рисунок 13">
            <a:extLst>
              <a:ext uri="{FF2B5EF4-FFF2-40B4-BE49-F238E27FC236}">
                <a16:creationId xmlns:a16="http://schemas.microsoft.com/office/drawing/2014/main" id="{38059ADD-2167-1FB7-F512-E85E06176B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75" y="1914525"/>
            <a:ext cx="5040313" cy="4806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9" name="TextBox 14">
            <a:extLst>
              <a:ext uri="{FF2B5EF4-FFF2-40B4-BE49-F238E27FC236}">
                <a16:creationId xmlns:a16="http://schemas.microsoft.com/office/drawing/2014/main" id="{5C2B3576-8AF2-5080-7DC2-FA57DB3A1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3" y="2809875"/>
            <a:ext cx="5237162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i="1">
                <a:latin typeface="Montserrat Light" panose="00000400000000000000" pitchFamily="2" charset="0"/>
              </a:rPr>
              <a:t>Using the standard procedure for importing data into EA project through the “Functional analysis” EA Add-in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 i="1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 i="1"/>
          </a:p>
        </p:txBody>
      </p:sp>
      <p:pic>
        <p:nvPicPr>
          <p:cNvPr id="38920" name="Picture 2">
            <a:extLst>
              <a:ext uri="{FF2B5EF4-FFF2-40B4-BE49-F238E27FC236}">
                <a16:creationId xmlns:a16="http://schemas.microsoft.com/office/drawing/2014/main" id="{E6CDA406-DAC4-8281-B0E3-58D57719D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AD067ECD-DDD2-6092-28E7-46410147546A}"/>
              </a:ext>
            </a:extLst>
          </p:cNvPr>
          <p:cNvSpPr/>
          <p:nvPr/>
        </p:nvSpPr>
        <p:spPr>
          <a:xfrm>
            <a:off x="246063" y="660400"/>
            <a:ext cx="10717212" cy="12049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7</a:t>
            </a:r>
            <a:endParaRPr lang="en-US" sz="40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40963" name="Номер слайда 1">
            <a:extLst>
              <a:ext uri="{FF2B5EF4-FFF2-40B4-BE49-F238E27FC236}">
                <a16:creationId xmlns:a16="http://schemas.microsoft.com/office/drawing/2014/main" id="{934A8531-BE9B-684D-B77B-9EF9E3BD8F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D0AD941-9D07-468D-B81A-563B26CD48A0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40964" name="Группа 38">
            <a:extLst>
              <a:ext uri="{FF2B5EF4-FFF2-40B4-BE49-F238E27FC236}">
                <a16:creationId xmlns:a16="http://schemas.microsoft.com/office/drawing/2014/main" id="{A1ABE3DD-E814-1E13-4F3E-152628519065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40969" name="Рисунок 39">
              <a:extLst>
                <a:ext uri="{FF2B5EF4-FFF2-40B4-BE49-F238E27FC236}">
                  <a16:creationId xmlns:a16="http://schemas.microsoft.com/office/drawing/2014/main" id="{CAA67BB5-A0F4-2F34-33AB-A312EA9D7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24F08BF-BC85-CA4F-A3E6-0B75785F5D02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40971" name="Google Shape;285;p1" descr="ITER — Wikipédia">
              <a:extLst>
                <a:ext uri="{FF2B5EF4-FFF2-40B4-BE49-F238E27FC236}">
                  <a16:creationId xmlns:a16="http://schemas.microsoft.com/office/drawing/2014/main" id="{A39059CA-2F53-4691-0855-B3B848761E9F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72" name="Рисунок 4">
              <a:extLst>
                <a:ext uri="{FF2B5EF4-FFF2-40B4-BE49-F238E27FC236}">
                  <a16:creationId xmlns:a16="http://schemas.microsoft.com/office/drawing/2014/main" id="{714EC75D-C62A-800B-2DE1-E0914C480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0965" name="TextBox 12">
            <a:extLst>
              <a:ext uri="{FF2B5EF4-FFF2-40B4-BE49-F238E27FC236}">
                <a16:creationId xmlns:a16="http://schemas.microsoft.com/office/drawing/2014/main" id="{F12FA8B1-C07B-2B13-1A9F-DE7B5DE25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2051050"/>
            <a:ext cx="5114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/>
              <a:t>Importing generated .xml file into SDD</a:t>
            </a:r>
          </a:p>
        </p:txBody>
      </p:sp>
      <p:sp>
        <p:nvSpPr>
          <p:cNvPr id="40966" name="TextBox 14">
            <a:extLst>
              <a:ext uri="{FF2B5EF4-FFF2-40B4-BE49-F238E27FC236}">
                <a16:creationId xmlns:a16="http://schemas.microsoft.com/office/drawing/2014/main" id="{43CA5F99-6A4D-76C9-2E61-4633E5FC1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2565400"/>
            <a:ext cx="5114925" cy="3632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000" i="1" dirty="0">
                <a:latin typeface="Montserrat Light" panose="00000400000000000000" pitchFamily="2" charset="0"/>
              </a:rPr>
              <a:t>Standard procedure to import and run the project:</a:t>
            </a:r>
          </a:p>
          <a:p>
            <a:pPr marL="457200" indent="-457200" algn="just" eaLnBrk="1" hangingPunct="1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en-US" sz="2000" i="1" dirty="0">
                <a:latin typeface="Montserrat Light" panose="00000400000000000000" pitchFamily="2" charset="0"/>
              </a:rPr>
              <a:t>Prepare the .xml file using the ea2sdd script</a:t>
            </a:r>
          </a:p>
          <a:p>
            <a:pPr marL="457200" indent="-457200" algn="just" eaLnBrk="1" hangingPunct="1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en-US" sz="2000" i="1" dirty="0">
                <a:latin typeface="Montserrat Light" panose="00000400000000000000" pitchFamily="2" charset="0"/>
              </a:rPr>
              <a:t>Import .xml into SDD </a:t>
            </a:r>
          </a:p>
          <a:p>
            <a:pPr marL="457200" indent="-457200" algn="just" eaLnBrk="1" hangingPunct="1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en-US" sz="2000" i="1" dirty="0">
                <a:latin typeface="Montserrat Light" panose="00000400000000000000" pitchFamily="2" charset="0"/>
              </a:rPr>
              <a:t>Run the SDD from Maven Editor on target deployment units</a:t>
            </a:r>
            <a:endParaRPr lang="en-US" altLang="en-US" sz="2000" i="1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2000" i="1" dirty="0"/>
          </a:p>
        </p:txBody>
      </p:sp>
      <p:pic>
        <p:nvPicPr>
          <p:cNvPr id="40967" name="Рисунок 16">
            <a:extLst>
              <a:ext uri="{FF2B5EF4-FFF2-40B4-BE49-F238E27FC236}">
                <a16:creationId xmlns:a16="http://schemas.microsoft.com/office/drawing/2014/main" id="{1EF4F479-1892-E48D-F57C-F01E71D67F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825" y="2047875"/>
            <a:ext cx="6407150" cy="4308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2">
            <a:extLst>
              <a:ext uri="{FF2B5EF4-FFF2-40B4-BE49-F238E27FC236}">
                <a16:creationId xmlns:a16="http://schemas.microsoft.com/office/drawing/2014/main" id="{714AE51C-F99D-C32C-4611-A15444973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15">
            <a:extLst>
              <a:ext uri="{FF2B5EF4-FFF2-40B4-BE49-F238E27FC236}">
                <a16:creationId xmlns:a16="http://schemas.microsoft.com/office/drawing/2014/main" id="{B2B376F0-0958-20ED-0B0C-058014428476}"/>
              </a:ext>
            </a:extLst>
          </p:cNvPr>
          <p:cNvSpPr/>
          <p:nvPr/>
        </p:nvSpPr>
        <p:spPr>
          <a:xfrm>
            <a:off x="246063" y="660400"/>
            <a:ext cx="10717212" cy="28432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HOW TO INTEGRATE COMMON SOLUTION INTO AN EXISTING PROJECT</a:t>
            </a:r>
            <a:r>
              <a:rPr lang="ru-RU" sz="4000" b="1" kern="0" spc="-226" dirty="0">
                <a:solidFill>
                  <a:srgbClr val="0A80AD"/>
                </a:solidFill>
                <a:latin typeface="Montserrat Black" panose="00000A00000000000000" pitchFamily="2" charset="-52"/>
              </a:rPr>
              <a:t> </a:t>
            </a:r>
            <a:r>
              <a:rPr lang="en-US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STEP </a:t>
            </a:r>
            <a:r>
              <a:rPr lang="ru-RU" sz="4000" b="1" kern="0" spc="-226" dirty="0">
                <a:solidFill>
                  <a:srgbClr val="025EA6"/>
                </a:solidFill>
                <a:latin typeface="Montserrat Black" panose="00000A00000000000000" pitchFamily="2" charset="-52"/>
              </a:rPr>
              <a:t>8</a:t>
            </a:r>
            <a:endParaRPr lang="en-US" sz="40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25EA6"/>
              </a:solidFill>
              <a:latin typeface="Montserrat Black" panose="00000A00000000000000" pitchFamily="2" charset="-5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800" b="1" kern="0" spc="-226" dirty="0">
              <a:solidFill>
                <a:srgbClr val="0A80AD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43011" name="Номер слайда 1">
            <a:extLst>
              <a:ext uri="{FF2B5EF4-FFF2-40B4-BE49-F238E27FC236}">
                <a16:creationId xmlns:a16="http://schemas.microsoft.com/office/drawing/2014/main" id="{E19552BE-7BC2-032D-46FE-398BC18365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07425" y="63484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F685299-664C-4D3B-BB07-B607C3294EF5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grpSp>
        <p:nvGrpSpPr>
          <p:cNvPr id="43012" name="Группа 38">
            <a:extLst>
              <a:ext uri="{FF2B5EF4-FFF2-40B4-BE49-F238E27FC236}">
                <a16:creationId xmlns:a16="http://schemas.microsoft.com/office/drawing/2014/main" id="{93B18439-4344-9BDA-7412-6C00FA3D5E99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43018" name="Рисунок 39">
              <a:extLst>
                <a:ext uri="{FF2B5EF4-FFF2-40B4-BE49-F238E27FC236}">
                  <a16:creationId xmlns:a16="http://schemas.microsoft.com/office/drawing/2014/main" id="{CA871416-10F8-0E2E-CF4C-A8D36BAB7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1A2DB03-A74F-A417-C190-19C35D2BF67E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43020" name="Google Shape;285;p1" descr="ITER — Wikipédia">
              <a:extLst>
                <a:ext uri="{FF2B5EF4-FFF2-40B4-BE49-F238E27FC236}">
                  <a16:creationId xmlns:a16="http://schemas.microsoft.com/office/drawing/2014/main" id="{BF8C4932-BAFC-BE17-672C-9940316A227B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21" name="Рисунок 4">
              <a:extLst>
                <a:ext uri="{FF2B5EF4-FFF2-40B4-BE49-F238E27FC236}">
                  <a16:creationId xmlns:a16="http://schemas.microsoft.com/office/drawing/2014/main" id="{BF85E027-6F57-0679-50D8-DC1065BEA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3013" name="TextBox 12">
            <a:extLst>
              <a:ext uri="{FF2B5EF4-FFF2-40B4-BE49-F238E27FC236}">
                <a16:creationId xmlns:a16="http://schemas.microsoft.com/office/drawing/2014/main" id="{18C0E229-5FA5-85AF-4BE9-CE815EA78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1851025"/>
            <a:ext cx="9113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/>
              <a:t>Importing the .opi files into CS project</a:t>
            </a:r>
          </a:p>
        </p:txBody>
      </p:sp>
      <p:pic>
        <p:nvPicPr>
          <p:cNvPr id="43014" name="Рисунок 11">
            <a:extLst>
              <a:ext uri="{FF2B5EF4-FFF2-40B4-BE49-F238E27FC236}">
                <a16:creationId xmlns:a16="http://schemas.microsoft.com/office/drawing/2014/main" id="{639948EB-33C0-3E17-BA5E-2F85CC7EF8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300" y="2355850"/>
            <a:ext cx="4305300" cy="419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5" name="Рисунок 13">
            <a:extLst>
              <a:ext uri="{FF2B5EF4-FFF2-40B4-BE49-F238E27FC236}">
                <a16:creationId xmlns:a16="http://schemas.microsoft.com/office/drawing/2014/main" id="{E75F9CE7-7DC0-9D4B-73EE-3F73D365EB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2355850"/>
            <a:ext cx="2900363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Стрелка вправо 9">
            <a:extLst>
              <a:ext uri="{FF2B5EF4-FFF2-40B4-BE49-F238E27FC236}">
                <a16:creationId xmlns:a16="http://schemas.microsoft.com/office/drawing/2014/main" id="{EBC4A8D5-0FBB-CEE4-01C7-5426B007E147}"/>
              </a:ext>
            </a:extLst>
          </p:cNvPr>
          <p:cNvSpPr/>
          <p:nvPr/>
        </p:nvSpPr>
        <p:spPr>
          <a:xfrm>
            <a:off x="4356100" y="3878263"/>
            <a:ext cx="1739900" cy="373062"/>
          </a:xfrm>
          <a:prstGeom prst="rightArrow">
            <a:avLst>
              <a:gd name="adj1" fmla="val 50000"/>
              <a:gd name="adj2" fmla="val 22777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3017" name="Picture 2">
            <a:extLst>
              <a:ext uri="{FF2B5EF4-FFF2-40B4-BE49-F238E27FC236}">
                <a16:creationId xmlns:a16="http://schemas.microsoft.com/office/drawing/2014/main" id="{03ADD59F-60EE-B3FA-5A4A-BD7783B5A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Рисунок 4">
            <a:extLst>
              <a:ext uri="{FF2B5EF4-FFF2-40B4-BE49-F238E27FC236}">
                <a16:creationId xmlns:a16="http://schemas.microsoft.com/office/drawing/2014/main" id="{FA9087BB-F736-DFE3-D112-560A2F41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13" y="2563813"/>
            <a:ext cx="3201987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Номер слайда 1">
            <a:extLst>
              <a:ext uri="{FF2B5EF4-FFF2-40B4-BE49-F238E27FC236}">
                <a16:creationId xmlns:a16="http://schemas.microsoft.com/office/drawing/2014/main" id="{E8BEF043-D311-A4BC-6B07-2E27646BD4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9A1A5EA-F065-4015-813F-EEA1E97451E0}" type="slidenum">
              <a:rPr lang="ru-RU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ru-RU" altLang="en-US" sz="1200">
              <a:solidFill>
                <a:srgbClr val="898989"/>
              </a:solidFill>
            </a:endParaRPr>
          </a:p>
        </p:txBody>
      </p:sp>
      <p:sp>
        <p:nvSpPr>
          <p:cNvPr id="45060" name="TextBox 27">
            <a:extLst>
              <a:ext uri="{FF2B5EF4-FFF2-40B4-BE49-F238E27FC236}">
                <a16:creationId xmlns:a16="http://schemas.microsoft.com/office/drawing/2014/main" id="{D86C863B-036A-DF7A-EC66-78451ED1A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733425"/>
            <a:ext cx="47942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A80AD"/>
                </a:solidFill>
                <a:latin typeface="Montserrat ExtraBold" panose="00000900000000000000" pitchFamily="2" charset="0"/>
              </a:rPr>
              <a:t>CONCLUSION</a:t>
            </a:r>
          </a:p>
        </p:txBody>
      </p:sp>
      <p:sp>
        <p:nvSpPr>
          <p:cNvPr id="45061" name="Object6">
            <a:extLst>
              <a:ext uri="{FF2B5EF4-FFF2-40B4-BE49-F238E27FC236}">
                <a16:creationId xmlns:a16="http://schemas.microsoft.com/office/drawing/2014/main" id="{2D8FA433-B745-57D0-745C-3720A99ED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0" y="822325"/>
            <a:ext cx="4230688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513"/>
              </a:lnSpc>
              <a:spcBef>
                <a:spcPct val="0"/>
              </a:spcBef>
              <a:buFontTx/>
              <a:buNone/>
            </a:pPr>
            <a:endParaRPr lang="ru-RU" altLang="en-US" sz="1600">
              <a:latin typeface="TT Norms Regular"/>
              <a:ea typeface="TT Norms Regular"/>
              <a:cs typeface="TT Norms Regular"/>
            </a:endParaRPr>
          </a:p>
          <a:p>
            <a:pPr eaLnBrk="1" hangingPunct="1">
              <a:lnSpc>
                <a:spcPts val="1513"/>
              </a:lnSpc>
              <a:spcBef>
                <a:spcPct val="0"/>
              </a:spcBef>
              <a:buFontTx/>
              <a:buNone/>
            </a:pPr>
            <a:endParaRPr lang="ru-RU" altLang="en-US" sz="1600">
              <a:latin typeface="TT Norms Regular"/>
              <a:ea typeface="TT Norms Regular"/>
              <a:cs typeface="TT Norms Regular"/>
            </a:endParaRPr>
          </a:p>
          <a:p>
            <a:pPr eaLnBrk="1" hangingPunct="1">
              <a:lnSpc>
                <a:spcPts val="1513"/>
              </a:lnSpc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grpSp>
        <p:nvGrpSpPr>
          <p:cNvPr id="45062" name="Группа 12">
            <a:extLst>
              <a:ext uri="{FF2B5EF4-FFF2-40B4-BE49-F238E27FC236}">
                <a16:creationId xmlns:a16="http://schemas.microsoft.com/office/drawing/2014/main" id="{F2EC52B7-6D10-B27E-4F4B-01B5B942ABF7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57150"/>
            <a:ext cx="5435600" cy="541338"/>
            <a:chOff x="6651370" y="56654"/>
            <a:chExt cx="5435854" cy="541282"/>
          </a:xfrm>
        </p:grpSpPr>
        <p:pic>
          <p:nvPicPr>
            <p:cNvPr id="45068" name="Рисунок 13">
              <a:extLst>
                <a:ext uri="{FF2B5EF4-FFF2-40B4-BE49-F238E27FC236}">
                  <a16:creationId xmlns:a16="http://schemas.microsoft.com/office/drawing/2014/main" id="{F5A79B92-CB6A-E147-7700-2E5FFF6B5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983"/>
            <a:stretch>
              <a:fillRect/>
            </a:stretch>
          </p:blipFill>
          <p:spPr bwMode="auto">
            <a:xfrm>
              <a:off x="9979604" y="113485"/>
              <a:ext cx="650295" cy="48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3F9DCE-3F41-4A57-DBEC-4C988B48A102}"/>
                </a:ext>
              </a:extLst>
            </p:cNvPr>
            <p:cNvSpPr txBox="1"/>
            <p:nvPr/>
          </p:nvSpPr>
          <p:spPr>
            <a:xfrm>
              <a:off x="10629831" y="113798"/>
              <a:ext cx="1457393" cy="461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NIA ENGINEERING</a:t>
              </a:r>
              <a:endParaRPr lang="ru-RU" sz="1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45070" name="Google Shape;285;p1" descr="ITER — Wikipédia">
              <a:extLst>
                <a:ext uri="{FF2B5EF4-FFF2-40B4-BE49-F238E27FC236}">
                  <a16:creationId xmlns:a16="http://schemas.microsoft.com/office/drawing/2014/main" id="{73D365DA-D4C8-1A6E-8EB9-67FBC34A31FA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56654"/>
              <a:ext cx="1091571" cy="518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71" name="Рисунок 4">
              <a:extLst>
                <a:ext uri="{FF2B5EF4-FFF2-40B4-BE49-F238E27FC236}">
                  <a16:creationId xmlns:a16="http://schemas.microsoft.com/office/drawing/2014/main" id="{D18262EF-4FCD-429A-FF61-EBC469C3C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370" y="130679"/>
              <a:ext cx="1796656" cy="45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3" name="TextBox 19">
            <a:extLst>
              <a:ext uri="{FF2B5EF4-FFF2-40B4-BE49-F238E27FC236}">
                <a16:creationId xmlns:a16="http://schemas.microsoft.com/office/drawing/2014/main" id="{7A770B3E-51CF-23F3-3F6E-F37FB2849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425575"/>
            <a:ext cx="6097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Montserrat Light" panose="00000400000000000000" pitchFamily="2" charset="0"/>
              </a:rPr>
              <a:t>Please give us your feedback after using the Common solution on our Confluence page:</a:t>
            </a:r>
            <a:endParaRPr lang="ru-RU" altLang="en-US" sz="1800" b="1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Montserrat Light" panose="00000400000000000000" pitchFamily="2" charset="0"/>
                <a:hlinkClick r:id="rId7"/>
              </a:rPr>
              <a:t>https://confluence.iter.org/x/GJ9MJw</a:t>
            </a:r>
            <a:r>
              <a:rPr lang="en-US" altLang="en-US" sz="1800" b="1">
                <a:latin typeface="Montserrat Light" panose="00000400000000000000" pitchFamily="2" charset="0"/>
              </a:rPr>
              <a:t> </a:t>
            </a:r>
          </a:p>
        </p:txBody>
      </p:sp>
      <p:pic>
        <p:nvPicPr>
          <p:cNvPr id="45064" name="Рисунок 24">
            <a:extLst>
              <a:ext uri="{FF2B5EF4-FFF2-40B4-BE49-F238E27FC236}">
                <a16:creationId xmlns:a16="http://schemas.microsoft.com/office/drawing/2014/main" id="{17B1DD94-8F1F-40C5-D5E4-C82D27F1EB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538" y="947738"/>
            <a:ext cx="7488237" cy="508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5" name="TextBox 31">
            <a:extLst>
              <a:ext uri="{FF2B5EF4-FFF2-40B4-BE49-F238E27FC236}">
                <a16:creationId xmlns:a16="http://schemas.microsoft.com/office/drawing/2014/main" id="{771EBF1A-B142-708C-84CE-11744CD30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975" y="1847850"/>
            <a:ext cx="4316413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Arthur Leveque: </a:t>
            </a:r>
            <a:r>
              <a:rPr lang="en-US" altLang="en-US" sz="2000">
                <a:latin typeface="Montserrat Light" panose="00000400000000000000" pitchFamily="2" charset="0"/>
                <a:hlinkClick r:id="rId9"/>
              </a:rPr>
              <a:t>arthur.leveque@iter.org</a:t>
            </a:r>
            <a:r>
              <a:rPr lang="en-US" altLang="en-US" sz="2000">
                <a:latin typeface="Montserrat Light" panose="00000400000000000000" pitchFamily="2" charset="0"/>
              </a:rPr>
              <a:t> </a:t>
            </a:r>
            <a:r>
              <a:rPr lang="en-US" altLang="en-US" sz="2000" b="1">
                <a:latin typeface="Montserrat Light" panose="00000400000000000000" pitchFamily="2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Ilya Smirnov: </a:t>
            </a:r>
            <a:r>
              <a:rPr lang="en-US" altLang="en-US" sz="2000">
                <a:latin typeface="Montserrat Light" panose="00000400000000000000" pitchFamily="2" charset="0"/>
                <a:hlinkClick r:id="rId10"/>
              </a:rPr>
              <a:t>ilya.smirnov@rosatom.fr</a:t>
            </a:r>
            <a:r>
              <a:rPr lang="en-US" altLang="en-US" sz="2000">
                <a:latin typeface="Montserrat Light" panose="00000400000000000000" pitchFamily="2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Nikita Babinov: </a:t>
            </a:r>
            <a:r>
              <a:rPr lang="en-US" altLang="en-US" sz="2000">
                <a:latin typeface="Montserrat Light" panose="00000400000000000000" pitchFamily="2" charset="0"/>
                <a:hlinkClick r:id="rId11"/>
              </a:rPr>
              <a:t>n.babinov@niaengineering.ru</a:t>
            </a:r>
            <a:r>
              <a:rPr lang="en-US" altLang="en-US" sz="2000">
                <a:latin typeface="Montserrat Light" panose="00000400000000000000" pitchFamily="2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Montserrat Light" panose="00000400000000000000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Montserrat Light" panose="00000400000000000000" pitchFamily="2" charset="0"/>
              </a:rPr>
              <a:t>Alexey Govorov: </a:t>
            </a:r>
            <a:r>
              <a:rPr lang="en-US" altLang="en-US" sz="2000">
                <a:latin typeface="Montserrat Light" panose="00000400000000000000" pitchFamily="2" charset="0"/>
                <a:hlinkClick r:id="rId12"/>
              </a:rPr>
              <a:t>a.govorov@niaengineering.ru</a:t>
            </a:r>
            <a:r>
              <a:rPr lang="en-US" altLang="en-US" sz="2000">
                <a:latin typeface="Montserrat Light" panose="00000400000000000000" pitchFamily="2" charset="0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257BAE-F32B-E8B4-E285-C6E6E5B6B3C0}"/>
              </a:ext>
            </a:extLst>
          </p:cNvPr>
          <p:cNvSpPr txBox="1"/>
          <p:nvPr/>
        </p:nvSpPr>
        <p:spPr>
          <a:xfrm>
            <a:off x="498475" y="5870575"/>
            <a:ext cx="10961688" cy="3698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1" dirty="0">
                <a:latin typeface="Montserrat Light" panose="00000400000000000000" pitchFamily="2" charset="-52"/>
              </a:rPr>
              <a:t>If you have questions or suggestions to improve our Common solution, feel free to contact us </a:t>
            </a:r>
          </a:p>
        </p:txBody>
      </p:sp>
      <p:pic>
        <p:nvPicPr>
          <p:cNvPr id="45067" name="Picture 2">
            <a:extLst>
              <a:ext uri="{FF2B5EF4-FFF2-40B4-BE49-F238E27FC236}">
                <a16:creationId xmlns:a16="http://schemas.microsoft.com/office/drawing/2014/main" id="{89B9F20D-4B9D-7222-B6E9-BCAF6E799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92075"/>
            <a:ext cx="19129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1154</Words>
  <Application>Microsoft Office PowerPoint</Application>
  <PresentationFormat>Widescreen</PresentationFormat>
  <Paragraphs>226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Calibri</vt:lpstr>
      <vt:lpstr>Arial</vt:lpstr>
      <vt:lpstr>Calibri Light</vt:lpstr>
      <vt:lpstr>Arial Black</vt:lpstr>
      <vt:lpstr>Montserrat Black</vt:lpstr>
      <vt:lpstr>Montserrat Light</vt:lpstr>
      <vt:lpstr>TT Norms Bold</vt:lpstr>
      <vt:lpstr>TT Norms Regular</vt:lpstr>
      <vt:lpstr>Wingdings</vt:lpstr>
      <vt:lpstr>Montserrat ExtraBold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Yana Ibragimova</dc:creator>
  <cp:lastModifiedBy>Ilya Smirnov</cp:lastModifiedBy>
  <cp:revision>77</cp:revision>
  <dcterms:created xsi:type="dcterms:W3CDTF">2023-11-10T07:28:41Z</dcterms:created>
  <dcterms:modified xsi:type="dcterms:W3CDTF">2024-10-09T14:15:33Z</dcterms:modified>
</cp:coreProperties>
</file>