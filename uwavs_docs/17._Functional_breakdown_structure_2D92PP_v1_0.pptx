
<file path=[Content_Types].xml><?xml version="1.0" encoding="utf-8"?>
<Types xmlns="http://schemas.openxmlformats.org/package/2006/content-types">
  <Override PartName="/_rels/.rels" ContentType="application/vnd.openxmlformats-package.relationships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media/image12.jpeg" ContentType="image/jpeg"/>
  <Override PartName="/ppt/media/image11.png" ContentType="image/png"/>
  <Override PartName="/ppt/media/image10.png" ContentType="image/png"/>
  <Override PartName="/ppt/media/image9.png" ContentType="image/png"/>
  <Override PartName="/ppt/media/image8.png" ContentType="image/png"/>
  <Override PartName="/ppt/media/image7.png" ContentType="image/png"/>
  <Override PartName="/ppt/media/image2.png" ContentType="image/png"/>
  <Override PartName="/ppt/media/image1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presentation.xml" ContentType="application/vnd.openxmlformats-officedocument.presentationml.presentation.main+xml"/>
  <Override PartName="/ppt/theme/theme3.xml" ContentType="application/vnd.openxmlformats-officedocument.theme+xml"/>
  <Override PartName="/ppt/theme/theme1.xml" ContentType="application/vnd.openxmlformats-officedocument.theme+xml"/>
  <Override PartName="/ppt/theme/theme2.xml" ContentType="application/vnd.openxmlformats-officedocument.theme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Layouts/_rels/slideLayout24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6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x="9144000" cy="6858000"/>
  <p:notesSz cx="6858000" cy="9144000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</p:spPr>
        <p:txBody>
          <a:bodyPr lIns="0" rIns="0" tIns="0" bIns="0" anchor="ctr"/>
          <a:p>
            <a:pPr algn="ctr"/>
            <a:r>
              <a:rPr b="0" lang="en-US" sz="4400" spc="-1" strike="noStrike">
                <a:latin typeface="Arial"/>
              </a:rPr>
              <a:t>Click to move the slide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lIns="0" rIns="0" tIns="0" bIns="0"/>
          <a:p>
            <a:r>
              <a:rPr b="0" lang="en-US" sz="2000" spc="-1" strike="noStrike">
                <a:latin typeface="Arial"/>
              </a:rPr>
              <a:t>Click to edit the notes format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85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</p:spPr>
        <p:txBody>
          <a:bodyPr lIns="0" rIns="0" tIns="0" bIns="0"/>
          <a:p>
            <a:r>
              <a:rPr b="0" lang="en-US" sz="1400" spc="-1" strike="noStrike">
                <a:latin typeface="Times New Roman"/>
              </a:rPr>
              <a:t>&lt;header&gt;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86" name="PlaceHolder 4"/>
          <p:cNvSpPr>
            <a:spLocks noGrp="1"/>
          </p:cNvSpPr>
          <p:nvPr>
            <p:ph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</p:spPr>
        <p:txBody>
          <a:bodyPr lIns="0" rIns="0" tIns="0" bIns="0"/>
          <a:p>
            <a:pPr algn="r"/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87" name="PlaceHolder 5"/>
          <p:cNvSpPr>
            <a:spLocks noGrp="1"/>
          </p:cNvSpPr>
          <p:nvPr>
            <p:ph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</p:spPr>
        <p:txBody>
          <a:bodyPr lIns="0" rIns="0" tIns="0" bIns="0" anchor="b"/>
          <a:p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88" name="PlaceHolder 6"/>
          <p:cNvSpPr>
            <a:spLocks noGrp="1"/>
          </p:cNvSpPr>
          <p:nvPr>
            <p:ph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</p:spPr>
        <p:txBody>
          <a:bodyPr lIns="0" rIns="0" tIns="0" bIns="0" anchor="b"/>
          <a:p>
            <a:pPr algn="r"/>
            <a:fld id="{23A5E7B9-CE7A-4927-90CF-A00273D769E9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67680" cy="3424680"/>
          </a:xfrm>
          <a:prstGeom prst="rect">
            <a:avLst/>
          </a:prstGeom>
        </p:spPr>
      </p:sp>
      <p:sp>
        <p:nvSpPr>
          <p:cNvPr id="11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1360" cy="4109760"/>
          </a:xfrm>
          <a:prstGeom prst="rect">
            <a:avLst/>
          </a:prstGeom>
        </p:spPr>
        <p:txBody>
          <a:bodyPr lIns="0" rIns="0" tIns="0" bIns="0"/>
          <a:p>
            <a:endParaRPr b="0" lang="en-US" sz="2000" spc="-1" strike="noStrike">
              <a:latin typeface="Arial"/>
            </a:endParaRPr>
          </a:p>
        </p:txBody>
      </p:sp>
      <p:sp>
        <p:nvSpPr>
          <p:cNvPr id="120" name="CustomShape 3"/>
          <p:cNvSpPr/>
          <p:nvPr/>
        </p:nvSpPr>
        <p:spPr>
          <a:xfrm>
            <a:off x="3884760" y="8685360"/>
            <a:ext cx="2966760" cy="452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/>
          <a:p>
            <a:pPr algn="r">
              <a:lnSpc>
                <a:spcPct val="100000"/>
              </a:lnSpc>
            </a:pPr>
            <a:fld id="{E4F5701F-6234-4E47-BF39-87E7F72732D0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0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5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9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0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1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2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.xml"/><Relationship Id="rId5" Type="http://schemas.openxmlformats.org/officeDocument/2006/relationships/slideLayout" Target="../slideLayouts/slideLayout2.xml"/><Relationship Id="rId6" Type="http://schemas.openxmlformats.org/officeDocument/2006/relationships/slideLayout" Target="../slideLayouts/slideLayout3.xml"/><Relationship Id="rId7" Type="http://schemas.openxmlformats.org/officeDocument/2006/relationships/slideLayout" Target="../slideLayouts/slideLayout4.xml"/><Relationship Id="rId8" Type="http://schemas.openxmlformats.org/officeDocument/2006/relationships/slideLayout" Target="../slideLayouts/slideLayout5.xml"/><Relationship Id="rId9" Type="http://schemas.openxmlformats.org/officeDocument/2006/relationships/slideLayout" Target="../slideLayouts/slideLayout6.xml"/><Relationship Id="rId10" Type="http://schemas.openxmlformats.org/officeDocument/2006/relationships/slideLayout" Target="../slideLayouts/slideLayout7.xml"/><Relationship Id="rId11" Type="http://schemas.openxmlformats.org/officeDocument/2006/relationships/slideLayout" Target="../slideLayouts/slideLayout8.xml"/><Relationship Id="rId12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0.xml"/><Relationship Id="rId14" Type="http://schemas.openxmlformats.org/officeDocument/2006/relationships/slideLayout" Target="../slideLayouts/slideLayout11.xml"/><Relationship Id="rId15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5.xml"/><Relationship Id="rId8" Type="http://schemas.openxmlformats.org/officeDocument/2006/relationships/slideLayout" Target="../slideLayouts/slideLayout16.xml"/><Relationship Id="rId9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2.xml"/><Relationship Id="rId15" Type="http://schemas.openxmlformats.org/officeDocument/2006/relationships/slideLayout" Target="../slideLayouts/slideLayout23.xml"/><Relationship Id="rId16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e2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Line 1"/>
          <p:cNvSpPr/>
          <p:nvPr/>
        </p:nvSpPr>
        <p:spPr>
          <a:xfrm>
            <a:off x="0" y="836280"/>
            <a:ext cx="323640" cy="360"/>
          </a:xfrm>
          <a:prstGeom prst="line">
            <a:avLst/>
          </a:prstGeom>
          <a:ln>
            <a:solidFill>
              <a:srgbClr val="ee2e24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1" name="Picture 3" descr=""/>
          <p:cNvPicPr/>
          <p:nvPr/>
        </p:nvPicPr>
        <p:blipFill>
          <a:blip r:embed="rId2"/>
          <a:stretch/>
        </p:blipFill>
        <p:spPr>
          <a:xfrm>
            <a:off x="826920" y="6483240"/>
            <a:ext cx="2868480" cy="226800"/>
          </a:xfrm>
          <a:prstGeom prst="rect">
            <a:avLst/>
          </a:prstGeom>
          <a:ln w="9360">
            <a:noFill/>
          </a:ln>
        </p:spPr>
      </p:pic>
      <p:pic>
        <p:nvPicPr>
          <p:cNvPr id="2" name="Picture 2" descr=""/>
          <p:cNvPicPr/>
          <p:nvPr/>
        </p:nvPicPr>
        <p:blipFill>
          <a:blip r:embed="rId3"/>
          <a:stretch/>
        </p:blipFill>
        <p:spPr>
          <a:xfrm>
            <a:off x="6659640" y="6381720"/>
            <a:ext cx="2269800" cy="344160"/>
          </a:xfrm>
          <a:prstGeom prst="rect">
            <a:avLst/>
          </a:prstGeom>
          <a:ln w="936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r>
              <a:rPr b="0" lang="en-US" sz="4400" spc="-1" strike="noStrike">
                <a:latin typeface="Arial"/>
              </a:rPr>
              <a:t>Click </a:t>
            </a:r>
            <a:r>
              <a:rPr b="0" lang="en-US" sz="4400" spc="-1" strike="noStrike">
                <a:latin typeface="Arial"/>
              </a:rPr>
              <a:t>to edit </a:t>
            </a:r>
            <a:r>
              <a:rPr b="0" lang="en-US" sz="4400" spc="-1" strike="noStrike">
                <a:latin typeface="Arial"/>
              </a:rPr>
              <a:t>the </a:t>
            </a:r>
            <a:r>
              <a:rPr b="0" lang="en-US" sz="4400" spc="-1" strike="noStrike">
                <a:latin typeface="Arial"/>
              </a:rPr>
              <a:t>title </a:t>
            </a:r>
            <a:r>
              <a:rPr b="0" lang="en-US" sz="4400" spc="-1" strike="noStrike">
                <a:latin typeface="Arial"/>
              </a:rPr>
              <a:t>text </a:t>
            </a:r>
            <a:r>
              <a:rPr b="0" lang="en-US" sz="4400" spc="-1" strike="noStrike">
                <a:latin typeface="Arial"/>
              </a:rPr>
              <a:t>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  <p:sldLayoutId id="2147483660" r:id="rId15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Line 1"/>
          <p:cNvSpPr/>
          <p:nvPr/>
        </p:nvSpPr>
        <p:spPr>
          <a:xfrm>
            <a:off x="0" y="836280"/>
            <a:ext cx="323640" cy="360"/>
          </a:xfrm>
          <a:prstGeom prst="line">
            <a:avLst/>
          </a:prstGeom>
          <a:ln>
            <a:solidFill>
              <a:srgbClr val="ee2e24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42" name="Picture 3" descr=""/>
          <p:cNvPicPr/>
          <p:nvPr/>
        </p:nvPicPr>
        <p:blipFill>
          <a:blip r:embed="rId2"/>
          <a:stretch/>
        </p:blipFill>
        <p:spPr>
          <a:xfrm>
            <a:off x="826920" y="6483240"/>
            <a:ext cx="2868480" cy="226800"/>
          </a:xfrm>
          <a:prstGeom prst="rect">
            <a:avLst/>
          </a:prstGeom>
          <a:ln w="9360">
            <a:noFill/>
          </a:ln>
        </p:spPr>
      </p:pic>
      <p:pic>
        <p:nvPicPr>
          <p:cNvPr id="43" name="Picture 2" descr=""/>
          <p:cNvPicPr/>
          <p:nvPr/>
        </p:nvPicPr>
        <p:blipFill>
          <a:blip r:embed="rId3"/>
          <a:stretch/>
        </p:blipFill>
        <p:spPr>
          <a:xfrm>
            <a:off x="6732720" y="515880"/>
            <a:ext cx="2082600" cy="315720"/>
          </a:xfrm>
          <a:prstGeom prst="rect">
            <a:avLst/>
          </a:prstGeom>
          <a:ln w="9360">
            <a:noFill/>
          </a:ln>
        </p:spPr>
      </p:pic>
      <p:pic>
        <p:nvPicPr>
          <p:cNvPr id="44" name="Picture 2" descr=""/>
          <p:cNvPicPr/>
          <p:nvPr/>
        </p:nvPicPr>
        <p:blipFill>
          <a:blip r:embed="rId4"/>
          <a:stretch/>
        </p:blipFill>
        <p:spPr>
          <a:xfrm>
            <a:off x="6732720" y="515880"/>
            <a:ext cx="2082600" cy="315720"/>
          </a:xfrm>
          <a:prstGeom prst="rect">
            <a:avLst/>
          </a:prstGeom>
          <a:ln w="9360">
            <a:noFill/>
          </a:ln>
        </p:spPr>
      </p:pic>
      <p:sp>
        <p:nvSpPr>
          <p:cNvPr id="45" name="PlaceHolder 2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  <p:sldLayoutId id="2147483671" r:id="rId14"/>
    <p:sldLayoutId id="2147483672" r:id="rId15"/>
    <p:sldLayoutId id="2147483673" r:id="rId16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2.jpeg"/><Relationship Id="rId2" Type="http://schemas.openxmlformats.org/officeDocument/2006/relationships/slideLayout" Target="../slideLayouts/slideLayout1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CustomShape 1"/>
          <p:cNvSpPr/>
          <p:nvPr/>
        </p:nvSpPr>
        <p:spPr>
          <a:xfrm>
            <a:off x="914400" y="3017520"/>
            <a:ext cx="8129520" cy="107532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0" name="CustomShape 2"/>
          <p:cNvSpPr/>
          <p:nvPr/>
        </p:nvSpPr>
        <p:spPr>
          <a:xfrm>
            <a:off x="685800" y="1196640"/>
            <a:ext cx="7338600" cy="452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1" name="CustomShape 3"/>
          <p:cNvSpPr/>
          <p:nvPr/>
        </p:nvSpPr>
        <p:spPr>
          <a:xfrm>
            <a:off x="731520" y="731520"/>
            <a:ext cx="7631640" cy="1825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US" sz="6000" spc="-1" strike="noStrike">
                <a:solidFill>
                  <a:srgbClr val="ffffff"/>
                </a:solidFill>
                <a:latin typeface="Arial"/>
                <a:ea typeface="DejaVu Sans"/>
              </a:rPr>
              <a:t>55.G2 Divertor thermocouples</a:t>
            </a:r>
            <a:endParaRPr b="0" lang="en-US" sz="6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2600" spc="-1" strike="noStrike">
                <a:solidFill>
                  <a:srgbClr val="ffffff"/>
                </a:solidFill>
                <a:latin typeface="Arial"/>
                <a:ea typeface="DejaVu Sans"/>
              </a:rPr>
              <a:t>Functional breakdown</a:t>
            </a:r>
            <a:endParaRPr b="0" lang="en-US" sz="2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ffffff"/>
                </a:solidFill>
                <a:latin typeface="Arial"/>
                <a:ea typeface="DejaVu Sans"/>
              </a:rPr>
              <a:t>M.Salmic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92" name="CustomShape 4"/>
          <p:cNvSpPr/>
          <p:nvPr/>
        </p:nvSpPr>
        <p:spPr>
          <a:xfrm>
            <a:off x="868680" y="3291840"/>
            <a:ext cx="5437080" cy="636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latin typeface="Arial"/>
            </a:endParaRPr>
          </a:p>
        </p:txBody>
      </p:sp>
    </p:spTree>
  </p:cSld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CustomShape 1"/>
          <p:cNvSpPr/>
          <p:nvPr/>
        </p:nvSpPr>
        <p:spPr>
          <a:xfrm>
            <a:off x="427680" y="1124640"/>
            <a:ext cx="8224560" cy="5395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rmAutofit/>
          </a:bodyPr>
          <a:p>
            <a:pPr marL="360360" indent="-355320">
              <a:lnSpc>
                <a:spcPct val="100000"/>
              </a:lnSpc>
              <a:spcBef>
                <a:spcPts val="479"/>
              </a:spcBef>
              <a:buClr>
                <a:srgbClr val="ed1c24"/>
              </a:buClr>
              <a:buFont typeface="Wingdings" charset="2"/>
              <a:buChar char=""/>
            </a:pPr>
            <a:r>
              <a:rPr b="0" lang="en-US" sz="2400" spc="-1" strike="noStrike">
                <a:solidFill>
                  <a:srgbClr val="7f7f7f"/>
                </a:solidFill>
                <a:latin typeface="Arial"/>
                <a:ea typeface="DejaVu Sans"/>
              </a:rPr>
              <a:t>Signal chain</a:t>
            </a:r>
            <a:endParaRPr b="0" lang="en-US" sz="2400" spc="-1" strike="noStrike">
              <a:latin typeface="Arial"/>
            </a:endParaRPr>
          </a:p>
          <a:p>
            <a:pPr marL="360360" indent="-355320">
              <a:lnSpc>
                <a:spcPct val="100000"/>
              </a:lnSpc>
              <a:spcBef>
                <a:spcPts val="479"/>
              </a:spcBef>
              <a:buClr>
                <a:srgbClr val="ed1c24"/>
              </a:buClr>
              <a:buFont typeface="Wingdings" charset="2"/>
              <a:buChar char=""/>
            </a:pPr>
            <a:r>
              <a:rPr b="0" lang="en-US" sz="2400" spc="-1" strike="noStrike">
                <a:solidFill>
                  <a:srgbClr val="7f7f7f"/>
                </a:solidFill>
                <a:latin typeface="Arial"/>
                <a:ea typeface="DejaVu Sans"/>
              </a:rPr>
              <a:t>FPGA functions</a:t>
            </a:r>
            <a:endParaRPr b="0" lang="en-US" sz="2400" spc="-1" strike="noStrike">
              <a:latin typeface="Arial"/>
            </a:endParaRPr>
          </a:p>
          <a:p>
            <a:pPr marL="360360" indent="-355320">
              <a:lnSpc>
                <a:spcPct val="100000"/>
              </a:lnSpc>
              <a:spcBef>
                <a:spcPts val="479"/>
              </a:spcBef>
              <a:buClr>
                <a:srgbClr val="ed1c24"/>
              </a:buClr>
              <a:buFont typeface="Wingdings" charset="2"/>
              <a:buChar char=""/>
            </a:pPr>
            <a:r>
              <a:rPr b="0" lang="en-US" sz="2400" spc="-1" strike="noStrike">
                <a:solidFill>
                  <a:srgbClr val="7f7f7f"/>
                </a:solidFill>
                <a:latin typeface="Arial"/>
                <a:ea typeface="DejaVu Sans"/>
              </a:rPr>
              <a:t>Configuration objects</a:t>
            </a:r>
            <a:endParaRPr b="0" lang="en-US" sz="2400" spc="-1" strike="noStrike">
              <a:latin typeface="Arial"/>
            </a:endParaRPr>
          </a:p>
          <a:p>
            <a:pPr marL="360360" indent="-355320">
              <a:lnSpc>
                <a:spcPct val="100000"/>
              </a:lnSpc>
              <a:spcBef>
                <a:spcPts val="479"/>
              </a:spcBef>
              <a:buClr>
                <a:srgbClr val="ed1c24"/>
              </a:buClr>
              <a:buFont typeface="Wingdings" charset="2"/>
              <a:buChar char=""/>
            </a:pPr>
            <a:r>
              <a:rPr b="0" lang="en-US" sz="2400" spc="-1" strike="noStrike">
                <a:solidFill>
                  <a:srgbClr val="7f7f7f"/>
                </a:solidFill>
                <a:latin typeface="Arial"/>
                <a:ea typeface="DejaVu Sans"/>
              </a:rPr>
              <a:t>CODAC communication</a:t>
            </a:r>
            <a:endParaRPr b="0" lang="en-US" sz="2400" spc="-1" strike="noStrike">
              <a:latin typeface="Arial"/>
            </a:endParaRPr>
          </a:p>
          <a:p>
            <a:pPr marL="360360" indent="-355320">
              <a:lnSpc>
                <a:spcPct val="100000"/>
              </a:lnSpc>
              <a:spcBef>
                <a:spcPts val="479"/>
              </a:spcBef>
              <a:buClr>
                <a:srgbClr val="ed1c24"/>
              </a:buClr>
              <a:buFont typeface="Wingdings" charset="2"/>
              <a:buChar char=""/>
            </a:pPr>
            <a:r>
              <a:rPr b="0" lang="en-US" sz="2400" spc="-1" strike="noStrike">
                <a:solidFill>
                  <a:srgbClr val="7f7f7f"/>
                </a:solidFill>
                <a:latin typeface="Arial"/>
                <a:ea typeface="DejaVu Sans"/>
              </a:rPr>
              <a:t>Compliance matrix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94" name="CustomShape 2"/>
          <p:cNvSpPr/>
          <p:nvPr/>
        </p:nvSpPr>
        <p:spPr>
          <a:xfrm>
            <a:off x="457200" y="115920"/>
            <a:ext cx="6270480" cy="78696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/>
          <a:p>
            <a:pPr>
              <a:lnSpc>
                <a:spcPct val="100000"/>
              </a:lnSpc>
            </a:pPr>
            <a:r>
              <a:rPr b="1" lang="en-US" sz="3000" spc="-1" strike="noStrike">
                <a:solidFill>
                  <a:srgbClr val="ee2e24"/>
                </a:solidFill>
                <a:latin typeface="Arial"/>
                <a:ea typeface="DejaVu Sans"/>
              </a:rPr>
              <a:t>Outline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95" name="CustomShape 3"/>
          <p:cNvSpPr/>
          <p:nvPr/>
        </p:nvSpPr>
        <p:spPr>
          <a:xfrm>
            <a:off x="0" y="476280"/>
            <a:ext cx="436320" cy="360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/>
          <a:p>
            <a:pPr algn="ctr">
              <a:lnSpc>
                <a:spcPct val="100000"/>
              </a:lnSpc>
            </a:pPr>
            <a:fld id="{B89680C7-D604-4E2D-8B1B-D17C05E08379}" type="slidenum">
              <a:rPr b="1" lang="en-US" sz="1400" spc="-1" strike="noStrike">
                <a:solidFill>
                  <a:srgbClr val="808080"/>
                </a:solidFill>
                <a:latin typeface="Arial"/>
                <a:ea typeface="DejaVu Sans"/>
              </a:rPr>
              <a:t>&lt;number&gt;</a:t>
            </a:fld>
            <a:endParaRPr b="0" lang="en-US" sz="1400" spc="-1" strike="noStrike">
              <a:latin typeface="Arial"/>
            </a:endParaRPr>
          </a:p>
        </p:txBody>
      </p:sp>
    </p:spTree>
  </p:cSld>
  <p:timing>
    <p:tnLst>
      <p:par>
        <p:cTn id="3" dur="indefinite" restart="never" nodeType="tmRoot">
          <p:childTnLst>
            <p:seq>
              <p:cTn id="4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" descr=""/>
          <p:cNvPicPr/>
          <p:nvPr/>
        </p:nvPicPr>
        <p:blipFill>
          <a:blip r:embed="rId1"/>
          <a:stretch/>
        </p:blipFill>
        <p:spPr>
          <a:xfrm>
            <a:off x="830880" y="1097280"/>
            <a:ext cx="3466800" cy="1114200"/>
          </a:xfrm>
          <a:prstGeom prst="rect">
            <a:avLst/>
          </a:prstGeom>
          <a:ln>
            <a:noFill/>
          </a:ln>
        </p:spPr>
      </p:pic>
      <p:pic>
        <p:nvPicPr>
          <p:cNvPr id="97" name="" descr=""/>
          <p:cNvPicPr/>
          <p:nvPr/>
        </p:nvPicPr>
        <p:blipFill>
          <a:blip r:embed="rId2"/>
          <a:stretch/>
        </p:blipFill>
        <p:spPr>
          <a:xfrm>
            <a:off x="4846320" y="1188720"/>
            <a:ext cx="3625200" cy="914400"/>
          </a:xfrm>
          <a:prstGeom prst="rect">
            <a:avLst/>
          </a:prstGeom>
          <a:ln>
            <a:noFill/>
          </a:ln>
        </p:spPr>
      </p:pic>
      <p:pic>
        <p:nvPicPr>
          <p:cNvPr id="98" name="" descr=""/>
          <p:cNvPicPr/>
          <p:nvPr/>
        </p:nvPicPr>
        <p:blipFill>
          <a:blip r:embed="rId3"/>
          <a:stretch/>
        </p:blipFill>
        <p:spPr>
          <a:xfrm>
            <a:off x="1280160" y="2651760"/>
            <a:ext cx="2352240" cy="1257120"/>
          </a:xfrm>
          <a:prstGeom prst="rect">
            <a:avLst/>
          </a:prstGeom>
          <a:ln>
            <a:noFill/>
          </a:ln>
        </p:spPr>
      </p:pic>
      <p:pic>
        <p:nvPicPr>
          <p:cNvPr id="99" name="" descr=""/>
          <p:cNvPicPr/>
          <p:nvPr/>
        </p:nvPicPr>
        <p:blipFill>
          <a:blip r:embed="rId4"/>
          <a:stretch/>
        </p:blipFill>
        <p:spPr>
          <a:xfrm>
            <a:off x="1280160" y="4480560"/>
            <a:ext cx="2285640" cy="1275840"/>
          </a:xfrm>
          <a:prstGeom prst="rect">
            <a:avLst/>
          </a:prstGeom>
          <a:ln>
            <a:noFill/>
          </a:ln>
        </p:spPr>
      </p:pic>
      <p:pic>
        <p:nvPicPr>
          <p:cNvPr id="100" name="" descr=""/>
          <p:cNvPicPr/>
          <p:nvPr/>
        </p:nvPicPr>
        <p:blipFill>
          <a:blip r:embed="rId5"/>
          <a:stretch/>
        </p:blipFill>
        <p:spPr>
          <a:xfrm>
            <a:off x="5164920" y="2468880"/>
            <a:ext cx="3064680" cy="1381320"/>
          </a:xfrm>
          <a:prstGeom prst="rect">
            <a:avLst/>
          </a:prstGeom>
          <a:ln>
            <a:noFill/>
          </a:ln>
        </p:spPr>
      </p:pic>
      <p:pic>
        <p:nvPicPr>
          <p:cNvPr id="101" name="" descr=""/>
          <p:cNvPicPr/>
          <p:nvPr/>
        </p:nvPicPr>
        <p:blipFill>
          <a:blip r:embed="rId6"/>
          <a:stretch/>
        </p:blipFill>
        <p:spPr>
          <a:xfrm>
            <a:off x="5212080" y="4178160"/>
            <a:ext cx="1885680" cy="185688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5" dur="indefinite" restart="never" nodeType="tmRoot">
          <p:childTnLst>
            <p:seq>
              <p:cTn id="6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CustomShape 1"/>
          <p:cNvSpPr/>
          <p:nvPr/>
        </p:nvSpPr>
        <p:spPr>
          <a:xfrm>
            <a:off x="427680" y="1124640"/>
            <a:ext cx="8224560" cy="5395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rmAutofit/>
          </a:bodyPr>
          <a:p>
            <a:pPr marL="360360" indent="-355320">
              <a:lnSpc>
                <a:spcPct val="100000"/>
              </a:lnSpc>
              <a:spcBef>
                <a:spcPts val="479"/>
              </a:spcBef>
              <a:buClr>
                <a:srgbClr val="ed1c24"/>
              </a:buClr>
              <a:buFont typeface="Wingdings" charset="2"/>
              <a:buChar char=""/>
            </a:pPr>
            <a:r>
              <a:rPr b="0" lang="en-US" sz="2400" spc="-1" strike="noStrike">
                <a:solidFill>
                  <a:srgbClr val="7f7f7f"/>
                </a:solidFill>
                <a:latin typeface="Arial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7f7f7f"/>
                </a:solidFill>
                <a:latin typeface="Arial"/>
                <a:ea typeface="DejaVu Sans"/>
              </a:rPr>
              <a:t>polarimeter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03" name="CustomShape 2"/>
          <p:cNvSpPr/>
          <p:nvPr/>
        </p:nvSpPr>
        <p:spPr>
          <a:xfrm>
            <a:off x="457200" y="115920"/>
            <a:ext cx="6270480" cy="78696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/>
          <a:p>
            <a:pPr>
              <a:lnSpc>
                <a:spcPct val="100000"/>
              </a:lnSpc>
            </a:pPr>
            <a:r>
              <a:rPr b="1" lang="en-US" sz="3000" spc="-1" strike="noStrike">
                <a:solidFill>
                  <a:srgbClr val="ee2e24"/>
                </a:solidFill>
                <a:latin typeface="Arial"/>
                <a:ea typeface="DejaVu Sans"/>
              </a:rPr>
              <a:t>Signal chain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104" name="CustomShape 3"/>
          <p:cNvSpPr/>
          <p:nvPr/>
        </p:nvSpPr>
        <p:spPr>
          <a:xfrm>
            <a:off x="0" y="476280"/>
            <a:ext cx="436320" cy="360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/>
          <a:p>
            <a:pPr algn="ctr">
              <a:lnSpc>
                <a:spcPct val="100000"/>
              </a:lnSpc>
            </a:pPr>
            <a:fld id="{35FF0AA1-6063-42CC-AB81-E5D49C614568}" type="slidenum">
              <a:rPr b="1" lang="en-US" sz="1400" spc="-1" strike="noStrike">
                <a:solidFill>
                  <a:srgbClr val="808080"/>
                </a:solidFill>
                <a:latin typeface="Arial"/>
                <a:ea typeface="DejaVu Sans"/>
              </a:rPr>
              <a:t>&lt;number&gt;</a:t>
            </a:fld>
            <a:endParaRPr b="0" lang="en-US" sz="1400" spc="-1" strike="noStrike">
              <a:latin typeface="Arial"/>
            </a:endParaRPr>
          </a:p>
        </p:txBody>
      </p:sp>
      <p:pic>
        <p:nvPicPr>
          <p:cNvPr id="105" name="" descr=""/>
          <p:cNvPicPr/>
          <p:nvPr/>
        </p:nvPicPr>
        <p:blipFill>
          <a:blip r:embed="rId1"/>
          <a:stretch/>
        </p:blipFill>
        <p:spPr>
          <a:xfrm>
            <a:off x="7920" y="959400"/>
            <a:ext cx="9142200" cy="529344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7" dur="indefinite" restart="never" nodeType="tmRoot">
          <p:childTnLst>
            <p:seq>
              <p:cTn id="8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CustomShape 1"/>
          <p:cNvSpPr/>
          <p:nvPr/>
        </p:nvSpPr>
        <p:spPr>
          <a:xfrm>
            <a:off x="427680" y="1124640"/>
            <a:ext cx="8224560" cy="5395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rmAutofit/>
          </a:bodyPr>
          <a:p>
            <a:pPr marL="360360" indent="-355320">
              <a:lnSpc>
                <a:spcPct val="100000"/>
              </a:lnSpc>
              <a:spcBef>
                <a:spcPts val="479"/>
              </a:spcBef>
              <a:buClr>
                <a:srgbClr val="ed1c24"/>
              </a:buClr>
              <a:buFont typeface="Wingdings" charset="2"/>
              <a:buChar char=""/>
            </a:pPr>
            <a:r>
              <a:rPr b="0" lang="en-US" sz="2400" spc="-1" strike="noStrike">
                <a:solidFill>
                  <a:srgbClr val="7f7f7f"/>
                </a:solidFill>
                <a:latin typeface="Arial"/>
                <a:ea typeface="DejaVu Sans"/>
              </a:rPr>
              <a:t>Communication with DAQ modules</a:t>
            </a:r>
            <a:endParaRPr b="0" lang="en-US" sz="2400" spc="-1" strike="noStrike">
              <a:latin typeface="Arial"/>
            </a:endParaRPr>
          </a:p>
          <a:p>
            <a:pPr lvl="1" marL="432000" indent="-2134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7f7f7f"/>
                </a:solidFill>
                <a:latin typeface="Arial"/>
                <a:ea typeface="DejaVu Sans"/>
              </a:rPr>
              <a:t>TC voltage</a:t>
            </a:r>
            <a:endParaRPr b="0" lang="en-US" sz="2400" spc="-1" strike="noStrike">
              <a:latin typeface="Arial"/>
            </a:endParaRPr>
          </a:p>
          <a:p>
            <a:pPr lvl="1" marL="432000" indent="-2134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7f7f7f"/>
                </a:solidFill>
                <a:latin typeface="Arial"/>
                <a:ea typeface="DejaVu Sans"/>
              </a:rPr>
              <a:t>CJC voltage</a:t>
            </a:r>
            <a:endParaRPr b="0" lang="en-US" sz="2400" spc="-1" strike="noStrike">
              <a:latin typeface="Arial"/>
            </a:endParaRPr>
          </a:p>
          <a:p>
            <a:pPr lvl="1" marL="432000" indent="-2134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7f7f7f"/>
                </a:solidFill>
                <a:latin typeface="Arial"/>
                <a:ea typeface="DejaVu Sans"/>
              </a:rPr>
              <a:t>Open TC</a:t>
            </a:r>
            <a:endParaRPr b="0" lang="en-US" sz="2400" spc="-1" strike="noStrike">
              <a:latin typeface="Arial"/>
            </a:endParaRPr>
          </a:p>
          <a:p>
            <a:pPr lvl="1" marL="432000" indent="-2134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7f7f7f"/>
                </a:solidFill>
                <a:latin typeface="Arial"/>
                <a:ea typeface="DejaVu Sans"/>
              </a:rPr>
              <a:t>Channel out of range</a:t>
            </a:r>
            <a:endParaRPr b="0" lang="en-US" sz="2400" spc="-1" strike="noStrike">
              <a:latin typeface="Arial"/>
            </a:endParaRPr>
          </a:p>
          <a:p>
            <a:pPr lvl="1" marL="432000" indent="-2134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7f7f7f"/>
                </a:solidFill>
                <a:latin typeface="Arial"/>
                <a:ea typeface="DejaVu Sans"/>
              </a:rPr>
              <a:t>Module properties</a:t>
            </a:r>
            <a:endParaRPr b="0" lang="en-US" sz="2400" spc="-1" strike="noStrike">
              <a:latin typeface="Arial"/>
            </a:endParaRPr>
          </a:p>
          <a:p>
            <a:pPr lvl="1" marL="432000" indent="-2134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7f7f7f"/>
                </a:solidFill>
                <a:latin typeface="Arial"/>
                <a:ea typeface="DejaVu Sans"/>
              </a:rPr>
              <a:t>Conversion time configuration</a:t>
            </a:r>
            <a:endParaRPr b="0" lang="en-US" sz="2400" spc="-1" strike="noStrike">
              <a:latin typeface="Arial"/>
            </a:endParaRPr>
          </a:p>
          <a:p>
            <a:pPr marL="360360" indent="-355320">
              <a:lnSpc>
                <a:spcPct val="100000"/>
              </a:lnSpc>
              <a:spcBef>
                <a:spcPts val="479"/>
              </a:spcBef>
              <a:buClr>
                <a:srgbClr val="ed1c24"/>
              </a:buClr>
              <a:buFont typeface="Wingdings" charset="2"/>
              <a:buChar char=""/>
            </a:pPr>
            <a:r>
              <a:rPr b="0" lang="en-US" sz="2400" spc="-1" strike="noStrike">
                <a:solidFill>
                  <a:srgbClr val="7f7f7f"/>
                </a:solidFill>
                <a:latin typeface="Arial"/>
                <a:ea typeface="DejaVu Sans"/>
              </a:rPr>
              <a:t>Timestamping</a:t>
            </a:r>
            <a:endParaRPr b="0" lang="en-US" sz="2400" spc="-1" strike="noStrike">
              <a:latin typeface="Arial"/>
            </a:endParaRPr>
          </a:p>
          <a:p>
            <a:pPr lvl="1" marL="432000" indent="-2134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7f7f7f"/>
                </a:solidFill>
                <a:latin typeface="Arial"/>
                <a:ea typeface="DejaVu Sans"/>
              </a:rPr>
              <a:t>Acquiring value from DAQ modules</a:t>
            </a:r>
            <a:endParaRPr b="0" lang="en-US" sz="2400" spc="-1" strike="noStrike">
              <a:latin typeface="Arial"/>
            </a:endParaRPr>
          </a:p>
          <a:p>
            <a:pPr lvl="1" marL="432000" indent="-2134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7f7f7f"/>
                </a:solidFill>
                <a:latin typeface="Arial"/>
                <a:ea typeface="DejaVu Sans"/>
              </a:rPr>
              <a:t>Attaching a timestamp</a:t>
            </a:r>
            <a:endParaRPr b="0" lang="en-US" sz="2400" spc="-1" strike="noStrike">
              <a:latin typeface="Arial"/>
            </a:endParaRPr>
          </a:p>
          <a:p>
            <a:pPr lvl="1" marL="432000" indent="-2134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7f7f7f"/>
                </a:solidFill>
                <a:latin typeface="Arial"/>
                <a:ea typeface="DejaVu Sans"/>
              </a:rPr>
              <a:t>Clock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07" name="CustomShape 2"/>
          <p:cNvSpPr/>
          <p:nvPr/>
        </p:nvSpPr>
        <p:spPr>
          <a:xfrm>
            <a:off x="457200" y="115920"/>
            <a:ext cx="6270480" cy="78696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/>
          <a:p>
            <a:pPr>
              <a:lnSpc>
                <a:spcPct val="100000"/>
              </a:lnSpc>
            </a:pPr>
            <a:r>
              <a:rPr b="1" lang="en-US" sz="3000" spc="-1" strike="noStrike">
                <a:solidFill>
                  <a:srgbClr val="ee2e24"/>
                </a:solidFill>
                <a:latin typeface="Arial"/>
                <a:ea typeface="DejaVu Sans"/>
              </a:rPr>
              <a:t>FPGA functions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108" name="CustomShape 3"/>
          <p:cNvSpPr/>
          <p:nvPr/>
        </p:nvSpPr>
        <p:spPr>
          <a:xfrm>
            <a:off x="0" y="476280"/>
            <a:ext cx="436320" cy="360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/>
          <a:p>
            <a:pPr algn="ctr">
              <a:lnSpc>
                <a:spcPct val="100000"/>
              </a:lnSpc>
            </a:pPr>
            <a:fld id="{5388D558-93BB-4338-9307-D99AABA6895F}" type="slidenum">
              <a:rPr b="1" lang="en-US" sz="1400" spc="-1" strike="noStrike">
                <a:solidFill>
                  <a:srgbClr val="808080"/>
                </a:solidFill>
                <a:latin typeface="Arial"/>
                <a:ea typeface="DejaVu Sans"/>
              </a:rPr>
              <a:t>&lt;number&gt;</a:t>
            </a:fld>
            <a:endParaRPr b="0" lang="en-US" sz="1400" spc="-1" strike="noStrike">
              <a:latin typeface="Arial"/>
            </a:endParaRPr>
          </a:p>
        </p:txBody>
      </p:sp>
    </p:spTree>
  </p:cSld>
  <p:timing>
    <p:tnLst>
      <p:par>
        <p:cTn id="9" dur="indefinite" restart="never" nodeType="tmRoot">
          <p:childTnLst>
            <p:seq>
              <p:cTn id="10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CustomShape 1"/>
          <p:cNvSpPr/>
          <p:nvPr/>
        </p:nvSpPr>
        <p:spPr>
          <a:xfrm>
            <a:off x="427680" y="1124640"/>
            <a:ext cx="8224560" cy="5395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rmAutofit/>
          </a:bodyPr>
          <a:p>
            <a:pPr marL="360360" indent="-355320">
              <a:lnSpc>
                <a:spcPct val="100000"/>
              </a:lnSpc>
              <a:spcBef>
                <a:spcPts val="479"/>
              </a:spcBef>
              <a:buClr>
                <a:srgbClr val="ed1c24"/>
              </a:buClr>
              <a:buFont typeface="Wingdings" charset="2"/>
              <a:buChar char=""/>
            </a:pPr>
            <a:r>
              <a:rPr b="0" lang="en-US" sz="2400" spc="-1" strike="noStrike">
                <a:solidFill>
                  <a:srgbClr val="7f7f7f"/>
                </a:solidFill>
                <a:latin typeface="Arial"/>
                <a:ea typeface="DejaVu Sans"/>
              </a:rPr>
              <a:t>Heat flux parameters (set during commisioning)</a:t>
            </a:r>
            <a:endParaRPr b="0" lang="en-US" sz="2400" spc="-1" strike="noStrike">
              <a:latin typeface="Arial"/>
            </a:endParaRPr>
          </a:p>
          <a:p>
            <a:pPr marL="360360" indent="-355320">
              <a:lnSpc>
                <a:spcPct val="100000"/>
              </a:lnSpc>
              <a:spcBef>
                <a:spcPts val="479"/>
              </a:spcBef>
              <a:buClr>
                <a:srgbClr val="ed1c24"/>
              </a:buClr>
              <a:buFont typeface="Wingdings" charset="2"/>
              <a:buChar char=""/>
            </a:pPr>
            <a:r>
              <a:rPr b="0" lang="en-US" sz="2400" spc="-1" strike="noStrike">
                <a:solidFill>
                  <a:srgbClr val="7f7f7f"/>
                </a:solidFill>
                <a:latin typeface="Arial"/>
                <a:ea typeface="DejaVu Sans"/>
              </a:rPr>
              <a:t>Thermocouples location (set during commisioning)</a:t>
            </a:r>
            <a:endParaRPr b="0" lang="en-US" sz="2400" spc="-1" strike="noStrike">
              <a:latin typeface="Arial"/>
            </a:endParaRPr>
          </a:p>
          <a:p>
            <a:pPr marL="360360" indent="-355320">
              <a:lnSpc>
                <a:spcPct val="100000"/>
              </a:lnSpc>
              <a:spcBef>
                <a:spcPts val="479"/>
              </a:spcBef>
              <a:buClr>
                <a:srgbClr val="ed1c24"/>
              </a:buClr>
              <a:buFont typeface="Wingdings" charset="2"/>
              <a:buChar char=""/>
            </a:pPr>
            <a:r>
              <a:rPr b="0" lang="en-US" sz="2400" spc="-1" strike="noStrike">
                <a:solidFill>
                  <a:srgbClr val="7f7f7f"/>
                </a:solidFill>
                <a:latin typeface="Arial"/>
                <a:ea typeface="DejaVu Sans"/>
              </a:rPr>
              <a:t>Sampling rates</a:t>
            </a:r>
            <a:endParaRPr b="0" lang="en-US" sz="2400" spc="-1" strike="noStrike">
              <a:latin typeface="Arial"/>
            </a:endParaRPr>
          </a:p>
          <a:p>
            <a:pPr lvl="1" marL="432000" indent="-214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7f7f7f"/>
                </a:solidFill>
                <a:latin typeface="Arial"/>
                <a:ea typeface="DejaVu Sans"/>
              </a:rPr>
              <a:t>During pulses</a:t>
            </a:r>
            <a:endParaRPr b="0" lang="en-US" sz="2400" spc="-1" strike="noStrike">
              <a:latin typeface="Arial"/>
            </a:endParaRPr>
          </a:p>
          <a:p>
            <a:pPr lvl="1" marL="432000" indent="-214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7f7f7f"/>
                </a:solidFill>
                <a:latin typeface="Arial"/>
                <a:ea typeface="DejaVu Sans"/>
              </a:rPr>
              <a:t>Between pulses</a:t>
            </a:r>
            <a:endParaRPr b="0" lang="en-US" sz="2400" spc="-1" strike="noStrike">
              <a:latin typeface="Arial"/>
            </a:endParaRPr>
          </a:p>
          <a:p>
            <a:pPr marL="360360" indent="-355320">
              <a:lnSpc>
                <a:spcPct val="100000"/>
              </a:lnSpc>
              <a:spcBef>
                <a:spcPts val="479"/>
              </a:spcBef>
              <a:buClr>
                <a:srgbClr val="ed1c24"/>
              </a:buClr>
              <a:buFont typeface="Wingdings" charset="2"/>
              <a:buChar char=""/>
            </a:pPr>
            <a:r>
              <a:rPr b="0" lang="en-US" sz="2400" spc="-1" strike="noStrike">
                <a:solidFill>
                  <a:srgbClr val="7f7f7f"/>
                </a:solidFill>
                <a:latin typeface="Arial"/>
                <a:ea typeface="DejaVu Sans"/>
              </a:rPr>
              <a:t>Start temperature limit</a:t>
            </a:r>
            <a:endParaRPr b="0" lang="en-US" sz="2400" spc="-1" strike="noStrike">
              <a:latin typeface="Arial"/>
            </a:endParaRPr>
          </a:p>
          <a:p>
            <a:pPr marL="360360" indent="-355320">
              <a:lnSpc>
                <a:spcPct val="100000"/>
              </a:lnSpc>
              <a:spcBef>
                <a:spcPts val="479"/>
              </a:spcBef>
              <a:buClr>
                <a:srgbClr val="ed1c24"/>
              </a:buClr>
              <a:buFont typeface="Wingdings" charset="2"/>
              <a:buChar char=""/>
            </a:pPr>
            <a:r>
              <a:rPr b="0" lang="en-US" sz="2400" spc="-1" strike="noStrike">
                <a:solidFill>
                  <a:srgbClr val="7f7f7f"/>
                </a:solidFill>
                <a:latin typeface="Arial"/>
                <a:ea typeface="DejaVu Sans"/>
              </a:rPr>
              <a:t>Thermal conductivity</a:t>
            </a:r>
            <a:endParaRPr b="0" lang="en-US" sz="2400" spc="-1" strike="noStrike">
              <a:latin typeface="Arial"/>
            </a:endParaRPr>
          </a:p>
          <a:p>
            <a:pPr marL="360360" indent="-355320">
              <a:lnSpc>
                <a:spcPct val="100000"/>
              </a:lnSpc>
              <a:spcBef>
                <a:spcPts val="479"/>
              </a:spcBef>
              <a:buClr>
                <a:srgbClr val="ed1c24"/>
              </a:buClr>
              <a:buFont typeface="Wingdings" charset="2"/>
              <a:buChar char=""/>
            </a:pPr>
            <a:r>
              <a:rPr b="0" lang="en-US" sz="2400" spc="-1" strike="noStrike">
                <a:solidFill>
                  <a:srgbClr val="7f7f7f"/>
                </a:solidFill>
                <a:latin typeface="Arial"/>
                <a:ea typeface="DejaVu Sans"/>
              </a:rPr>
              <a:t>Connectivity configuration</a:t>
            </a:r>
            <a:endParaRPr b="0" lang="en-US" sz="2400" spc="-1" strike="noStrike">
              <a:latin typeface="Arial"/>
            </a:endParaRPr>
          </a:p>
          <a:p>
            <a:pPr lvl="1" marL="432000" indent="-214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7f7f7f"/>
                </a:solidFill>
                <a:latin typeface="Arial"/>
                <a:ea typeface="DejaVu Sans"/>
              </a:rPr>
              <a:t>IP addresses, buffers, ports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10" name="CustomShape 2"/>
          <p:cNvSpPr/>
          <p:nvPr/>
        </p:nvSpPr>
        <p:spPr>
          <a:xfrm>
            <a:off x="457200" y="115920"/>
            <a:ext cx="6270480" cy="78696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/>
          <a:p>
            <a:pPr>
              <a:lnSpc>
                <a:spcPct val="100000"/>
              </a:lnSpc>
            </a:pPr>
            <a:r>
              <a:rPr b="1" lang="en-US" sz="3000" spc="-1" strike="noStrike">
                <a:solidFill>
                  <a:srgbClr val="ee2e24"/>
                </a:solidFill>
                <a:latin typeface="Arial"/>
                <a:ea typeface="DejaVu Sans"/>
              </a:rPr>
              <a:t>Configuration objects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111" name="CustomShape 3"/>
          <p:cNvSpPr/>
          <p:nvPr/>
        </p:nvSpPr>
        <p:spPr>
          <a:xfrm>
            <a:off x="0" y="476280"/>
            <a:ext cx="436320" cy="360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/>
          <a:p>
            <a:pPr algn="ctr">
              <a:lnSpc>
                <a:spcPct val="100000"/>
              </a:lnSpc>
            </a:pPr>
            <a:fld id="{534C42F9-1416-44CA-AEEB-EA4669F7ABC1}" type="slidenum">
              <a:rPr b="1" lang="en-US" sz="1400" spc="-1" strike="noStrike">
                <a:solidFill>
                  <a:srgbClr val="808080"/>
                </a:solidFill>
                <a:latin typeface="Arial"/>
                <a:ea typeface="DejaVu Sans"/>
              </a:rPr>
              <a:t>&lt;number&gt;</a:t>
            </a:fld>
            <a:endParaRPr b="0" lang="en-US" sz="1400" spc="-1" strike="noStrike">
              <a:latin typeface="Arial"/>
            </a:endParaRPr>
          </a:p>
        </p:txBody>
      </p:sp>
    </p:spTree>
  </p:cSld>
  <p:timing>
    <p:tnLst>
      <p:par>
        <p:cTn id="11" dur="indefinite" restart="never" nodeType="tmRoot">
          <p:childTnLst>
            <p:seq>
              <p:cTn id="12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CustomShape 1"/>
          <p:cNvSpPr/>
          <p:nvPr/>
        </p:nvSpPr>
        <p:spPr>
          <a:xfrm>
            <a:off x="427680" y="1124640"/>
            <a:ext cx="8224560" cy="5395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rmAutofit/>
          </a:bodyPr>
          <a:p>
            <a:pPr marL="360360" indent="-355320">
              <a:lnSpc>
                <a:spcPct val="100000"/>
              </a:lnSpc>
              <a:spcBef>
                <a:spcPts val="479"/>
              </a:spcBef>
              <a:buClr>
                <a:srgbClr val="ed1c24"/>
              </a:buClr>
              <a:buFont typeface="Wingdings" charset="2"/>
              <a:buChar char=""/>
            </a:pPr>
            <a:r>
              <a:rPr b="0" lang="en-US" sz="2400" spc="-1" strike="noStrike">
                <a:solidFill>
                  <a:srgbClr val="7f7f7f"/>
                </a:solidFill>
                <a:latin typeface="Arial"/>
                <a:ea typeface="DejaVu Sans"/>
              </a:rPr>
              <a:t>PCS</a:t>
            </a:r>
            <a:endParaRPr b="0" lang="en-US" sz="2400" spc="-1" strike="noStrike">
              <a:latin typeface="Arial"/>
            </a:endParaRPr>
          </a:p>
          <a:p>
            <a:pPr lvl="1" marL="432000" indent="-214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7f7f7f"/>
                </a:solidFill>
                <a:latin typeface="Arial"/>
                <a:ea typeface="DejaVu Sans"/>
              </a:rPr>
              <a:t>Thermocouple temperature</a:t>
            </a:r>
            <a:endParaRPr b="0" lang="en-US" sz="2400" spc="-1" strike="noStrike">
              <a:latin typeface="Arial"/>
            </a:endParaRPr>
          </a:p>
          <a:p>
            <a:pPr lvl="1" marL="432000" indent="-214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7f7f7f"/>
                </a:solidFill>
                <a:latin typeface="Arial"/>
                <a:ea typeface="DejaVu Sans"/>
              </a:rPr>
              <a:t>Plasma surface temperature</a:t>
            </a:r>
            <a:endParaRPr b="0" lang="en-US" sz="2400" spc="-1" strike="noStrike">
              <a:latin typeface="Arial"/>
            </a:endParaRPr>
          </a:p>
          <a:p>
            <a:pPr lvl="2" marL="648000" indent="-214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7f7f7f"/>
                </a:solidFill>
                <a:latin typeface="Arial"/>
                <a:ea typeface="DejaVu Sans"/>
              </a:rPr>
              <a:t>Temperature</a:t>
            </a:r>
            <a:endParaRPr b="0" lang="en-US" sz="2400" spc="-1" strike="noStrike">
              <a:latin typeface="Arial"/>
            </a:endParaRPr>
          </a:p>
          <a:p>
            <a:pPr lvl="2" marL="648000" indent="-214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7f7f7f"/>
                </a:solidFill>
                <a:latin typeface="Arial"/>
                <a:ea typeface="DejaVu Sans"/>
              </a:rPr>
              <a:t>Timestamp</a:t>
            </a:r>
            <a:endParaRPr b="0" lang="en-US" sz="2400" spc="-1" strike="noStrike">
              <a:latin typeface="Arial"/>
            </a:endParaRPr>
          </a:p>
          <a:p>
            <a:pPr lvl="2" marL="648000" indent="-214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7f7f7f"/>
                </a:solidFill>
                <a:latin typeface="Arial"/>
                <a:ea typeface="DejaVu Sans"/>
              </a:rPr>
              <a:t>Quality tag</a:t>
            </a:r>
            <a:endParaRPr b="0" lang="en-US" sz="2400" spc="-1" strike="noStrike">
              <a:latin typeface="Arial"/>
            </a:endParaRPr>
          </a:p>
          <a:p>
            <a:pPr lvl="1" marL="432000" indent="-214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7f7f7f"/>
                </a:solidFill>
                <a:latin typeface="Arial"/>
                <a:ea typeface="DejaVu Sans"/>
              </a:rPr>
              <a:t>Timing</a:t>
            </a:r>
            <a:endParaRPr b="0" lang="en-US" sz="2400" spc="-1" strike="noStrike">
              <a:latin typeface="Arial"/>
            </a:endParaRPr>
          </a:p>
          <a:p>
            <a:pPr lvl="2" marL="648000" indent="-214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7f7f7f"/>
                </a:solidFill>
                <a:latin typeface="Arial"/>
                <a:ea typeface="DejaVu Sans"/>
              </a:rPr>
              <a:t>ITER time synchronization</a:t>
            </a:r>
            <a:endParaRPr b="0" lang="en-US" sz="2400" spc="-1" strike="noStrike">
              <a:latin typeface="Arial"/>
            </a:endParaRPr>
          </a:p>
          <a:p>
            <a:pPr lvl="2" marL="648000" indent="-214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7f7f7f"/>
                </a:solidFill>
                <a:latin typeface="Arial"/>
                <a:ea typeface="DejaVu Sans"/>
              </a:rPr>
              <a:t>Pulse start countdown</a:t>
            </a:r>
            <a:endParaRPr b="0" lang="en-US" sz="2400" spc="-1" strike="noStrike">
              <a:latin typeface="Arial"/>
            </a:endParaRPr>
          </a:p>
          <a:p>
            <a:pPr marL="360360" indent="-355320">
              <a:lnSpc>
                <a:spcPct val="100000"/>
              </a:lnSpc>
              <a:spcBef>
                <a:spcPts val="479"/>
              </a:spcBef>
              <a:buClr>
                <a:srgbClr val="ed1c24"/>
              </a:buClr>
              <a:buFont typeface="Wingdings" charset="2"/>
              <a:buChar char=""/>
            </a:pPr>
            <a:r>
              <a:rPr b="0" lang="en-US" sz="2400" spc="-1" strike="noStrike">
                <a:solidFill>
                  <a:srgbClr val="7f7f7f"/>
                </a:solidFill>
                <a:latin typeface="Arial"/>
                <a:ea typeface="DejaVu Sans"/>
              </a:rPr>
              <a:t>Cooling water system</a:t>
            </a:r>
            <a:endParaRPr b="0" lang="en-US" sz="2400" spc="-1" strike="noStrike">
              <a:latin typeface="Arial"/>
            </a:endParaRPr>
          </a:p>
          <a:p>
            <a:pPr lvl="1" marL="432000" indent="-214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7f7f7f"/>
                </a:solidFill>
                <a:latin typeface="Arial"/>
                <a:ea typeface="DejaVu Sans"/>
              </a:rPr>
              <a:t>Heatsink inlet temperature</a:t>
            </a:r>
            <a:endParaRPr b="0" lang="en-US" sz="2400" spc="-1" strike="noStrike">
              <a:latin typeface="Arial"/>
            </a:endParaRPr>
          </a:p>
          <a:p>
            <a:pPr lvl="1" marL="432000" indent="-214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7f7f7f"/>
                </a:solidFill>
                <a:latin typeface="Arial"/>
                <a:ea typeface="DejaVu Sans"/>
              </a:rPr>
              <a:t>Heatsink outlet temperature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13" name="CustomShape 2"/>
          <p:cNvSpPr/>
          <p:nvPr/>
        </p:nvSpPr>
        <p:spPr>
          <a:xfrm>
            <a:off x="457200" y="115920"/>
            <a:ext cx="6270480" cy="78696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/>
          <a:p>
            <a:pPr>
              <a:lnSpc>
                <a:spcPct val="100000"/>
              </a:lnSpc>
            </a:pPr>
            <a:r>
              <a:rPr b="1" lang="en-US" sz="3000" spc="-1" strike="noStrike">
                <a:solidFill>
                  <a:srgbClr val="ee2e24"/>
                </a:solidFill>
                <a:latin typeface="Arial"/>
                <a:ea typeface="DejaVu Sans"/>
              </a:rPr>
              <a:t>CODAC communication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114" name="CustomShape 3"/>
          <p:cNvSpPr/>
          <p:nvPr/>
        </p:nvSpPr>
        <p:spPr>
          <a:xfrm>
            <a:off x="0" y="476280"/>
            <a:ext cx="436320" cy="360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/>
          <a:p>
            <a:pPr algn="ctr">
              <a:lnSpc>
                <a:spcPct val="100000"/>
              </a:lnSpc>
            </a:pPr>
            <a:fld id="{236CB6A0-9AFF-46F1-9C9F-9D7B5ADD630F}" type="slidenum">
              <a:rPr b="1" lang="en-US" sz="1400" spc="-1" strike="noStrike">
                <a:solidFill>
                  <a:srgbClr val="808080"/>
                </a:solidFill>
                <a:latin typeface="Arial"/>
                <a:ea typeface="DejaVu Sans"/>
              </a:rPr>
              <a:t>&lt;number&gt;</a:t>
            </a:fld>
            <a:endParaRPr b="0" lang="en-US" sz="1400" spc="-1" strike="noStrike">
              <a:latin typeface="Arial"/>
            </a:endParaRPr>
          </a:p>
        </p:txBody>
      </p:sp>
    </p:spTree>
  </p:cSld>
  <p:timing>
    <p:tnLst>
      <p:par>
        <p:cTn id="13" dur="indefinite" restart="never" nodeType="tmRoot">
          <p:childTnLst>
            <p:seq>
              <p:cTn id="14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CustomShape 1"/>
          <p:cNvSpPr/>
          <p:nvPr/>
        </p:nvSpPr>
        <p:spPr>
          <a:xfrm>
            <a:off x="427680" y="1124640"/>
            <a:ext cx="8224560" cy="5395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rmAutofit/>
          </a:bodyPr>
          <a:p>
            <a:pPr marL="360360" indent="-355320">
              <a:lnSpc>
                <a:spcPct val="100000"/>
              </a:lnSpc>
              <a:spcBef>
                <a:spcPts val="479"/>
              </a:spcBef>
              <a:buClr>
                <a:srgbClr val="ed1c24"/>
              </a:buClr>
              <a:buFont typeface="Wingdings" charset="2"/>
              <a:buChar char=""/>
            </a:pPr>
            <a:r>
              <a:rPr b="0" lang="en-US" sz="2400" spc="-1" strike="noStrike">
                <a:solidFill>
                  <a:srgbClr val="7f7f7f"/>
                </a:solidFill>
                <a:latin typeface="Arial"/>
                <a:ea typeface="DejaVu Sans"/>
              </a:rPr>
              <a:t>Most system specific requirements are covered by data acquisition and processing functions</a:t>
            </a:r>
            <a:endParaRPr b="0" lang="en-US" sz="2400" spc="-1" strike="noStrike">
              <a:latin typeface="Arial"/>
            </a:endParaRPr>
          </a:p>
          <a:p>
            <a:pPr marL="360360" indent="-355320">
              <a:lnSpc>
                <a:spcPct val="100000"/>
              </a:lnSpc>
              <a:spcBef>
                <a:spcPts val="479"/>
              </a:spcBef>
              <a:buClr>
                <a:srgbClr val="ed1c24"/>
              </a:buClr>
              <a:buFont typeface="Wingdings" charset="2"/>
              <a:buChar char=""/>
            </a:pPr>
            <a:r>
              <a:rPr b="0" lang="en-US" sz="2400" spc="-1" strike="noStrike">
                <a:solidFill>
                  <a:srgbClr val="7f7f7f"/>
                </a:solidFill>
                <a:latin typeface="Arial"/>
                <a:ea typeface="DejaVu Sans"/>
              </a:rPr>
              <a:t>Most of the common PCDH requirements are covered by  Operations and System management functions</a:t>
            </a:r>
            <a:endParaRPr b="0" lang="en-US" sz="2400" spc="-1" strike="noStrike">
              <a:latin typeface="Arial"/>
            </a:endParaRPr>
          </a:p>
          <a:p>
            <a:pPr marL="360360" indent="-355320">
              <a:lnSpc>
                <a:spcPct val="100000"/>
              </a:lnSpc>
              <a:spcBef>
                <a:spcPts val="479"/>
              </a:spcBef>
              <a:buClr>
                <a:srgbClr val="ed1c24"/>
              </a:buClr>
              <a:buFont typeface="Wingdings" charset="2"/>
              <a:buChar char=""/>
            </a:pPr>
            <a:r>
              <a:rPr b="0" lang="en-US" sz="2400" spc="-1" strike="noStrike">
                <a:solidFill>
                  <a:srgbClr val="7f7f7f"/>
                </a:solidFill>
                <a:latin typeface="Arial"/>
                <a:ea typeface="DejaVu Sans"/>
              </a:rPr>
              <a:t>Because some of the requirements are so vague they can be covered by either any function or in other case by none.</a:t>
            </a:r>
            <a:endParaRPr b="0" lang="en-US" sz="2400" spc="-1" strike="noStrike">
              <a:latin typeface="Arial"/>
            </a:endParaRPr>
          </a:p>
          <a:p>
            <a:pPr marL="360360" indent="-355320">
              <a:lnSpc>
                <a:spcPct val="100000"/>
              </a:lnSpc>
              <a:spcBef>
                <a:spcPts val="479"/>
              </a:spcBef>
              <a:buClr>
                <a:srgbClr val="ed1c24"/>
              </a:buClr>
              <a:buFont typeface="Wingdings" charset="2"/>
              <a:buChar char=""/>
            </a:pPr>
            <a:r>
              <a:rPr b="0" lang="en-US" sz="2400" spc="-1" strike="noStrike">
                <a:solidFill>
                  <a:srgbClr val="7f7f7f"/>
                </a:solidFill>
                <a:latin typeface="Arial"/>
                <a:ea typeface="DejaVu Sans"/>
              </a:rPr>
              <a:t>For the FDR this will have to be resolved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16" name="CustomShape 2"/>
          <p:cNvSpPr/>
          <p:nvPr/>
        </p:nvSpPr>
        <p:spPr>
          <a:xfrm>
            <a:off x="457200" y="115920"/>
            <a:ext cx="6270480" cy="78696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/>
          <a:p>
            <a:pPr>
              <a:lnSpc>
                <a:spcPct val="100000"/>
              </a:lnSpc>
            </a:pPr>
            <a:r>
              <a:rPr b="1" lang="en-US" sz="3000" spc="-1" strike="noStrike">
                <a:solidFill>
                  <a:srgbClr val="ee2e24"/>
                </a:solidFill>
                <a:latin typeface="Arial"/>
                <a:ea typeface="DejaVu Sans"/>
              </a:rPr>
              <a:t>Compliance matrix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117" name="CustomShape 3"/>
          <p:cNvSpPr/>
          <p:nvPr/>
        </p:nvSpPr>
        <p:spPr>
          <a:xfrm>
            <a:off x="0" y="476280"/>
            <a:ext cx="436320" cy="360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/>
          <a:p>
            <a:pPr algn="ctr">
              <a:lnSpc>
                <a:spcPct val="100000"/>
              </a:lnSpc>
            </a:pPr>
            <a:fld id="{EE17F4C2-BFFC-4639-9743-6928B72FCF31}" type="slidenum">
              <a:rPr b="1" lang="en-US" sz="1400" spc="-1" strike="noStrike">
                <a:solidFill>
                  <a:srgbClr val="808080"/>
                </a:solidFill>
                <a:latin typeface="Arial"/>
                <a:ea typeface="DejaVu Sans"/>
              </a:rPr>
              <a:t>&lt;number&gt;</a:t>
            </a:fld>
            <a:endParaRPr b="0" lang="en-US" sz="1400" spc="-1" strike="noStrike">
              <a:latin typeface="Arial"/>
            </a:endParaRPr>
          </a:p>
        </p:txBody>
      </p:sp>
    </p:spTree>
  </p:cSld>
  <p:timing>
    <p:tnLst>
      <p:par>
        <p:cTn id="15" dur="indefinite" restart="never" nodeType="tmRoot">
          <p:childTnLst>
            <p:seq>
              <p:cTn id="16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ee2e24"/>
      </a:dk2>
      <a:lt2>
        <a:srgbClr val="a1a1a1"/>
      </a:lt2>
      <a:accent1>
        <a:srgbClr val="595959"/>
      </a:accent1>
      <a:accent2>
        <a:srgbClr val="a3140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ee2e24"/>
      </a:dk2>
      <a:lt2>
        <a:srgbClr val="a1a1a1"/>
      </a:lt2>
      <a:accent1>
        <a:srgbClr val="595959"/>
      </a:accent1>
      <a:accent2>
        <a:srgbClr val="a3140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ee2e24"/>
      </a:dk2>
      <a:lt2>
        <a:srgbClr val="a1a1a1"/>
      </a:lt2>
      <a:accent1>
        <a:srgbClr val="595959"/>
      </a:accent1>
      <a:accent2>
        <a:srgbClr val="a3140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CSL_PPT-Presentation_template_MS2007 (1)</Template>
  <TotalTime>1795</TotalTime>
  <Application>LibreOffice/6.0.7.3$Linux_X86_64 LibreOffice_project/00m0$Build-3</Application>
  <Words>177</Words>
  <Paragraphs>56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2019-07-17T07:48:49Z</dcterms:created>
  <dc:creator>Manca Müller</dc:creator>
  <dc:description/>
  <dc:language>en-US</dc:language>
  <cp:lastModifiedBy/>
  <dcterms:modified xsi:type="dcterms:W3CDTF">2019-10-22T09:15:02Z</dcterms:modified>
  <cp:revision>84</cp:revision>
  <dc:subject/>
  <dc:title>Predstavitev poklicev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HiddenSlides">
    <vt:i4>0</vt:i4>
  </property>
  <property fmtid="{D5CDD505-2E9C-101B-9397-08002B2CF9AE}" pid="4" name="HyperlinksChanged">
    <vt:bool>0</vt:bool>
  </property>
  <property fmtid="{D5CDD505-2E9C-101B-9397-08002B2CF9AE}" pid="5" name="LinksUpToDate">
    <vt:bool>0</vt:bool>
  </property>
  <property fmtid="{D5CDD505-2E9C-101B-9397-08002B2CF9AE}" pid="6" name="MMClips">
    <vt:i4>0</vt:i4>
  </property>
  <property fmtid="{D5CDD505-2E9C-101B-9397-08002B2CF9AE}" pid="7" name="Notes">
    <vt:i4>1</vt:i4>
  </property>
  <property fmtid="{D5CDD505-2E9C-101B-9397-08002B2CF9AE}" pid="8" name="PresentationFormat">
    <vt:lpwstr>On-screen Show (4:3)</vt:lpwstr>
  </property>
  <property fmtid="{D5CDD505-2E9C-101B-9397-08002B2CF9AE}" pid="9" name="ScaleCrop">
    <vt:bool>0</vt:bool>
  </property>
  <property fmtid="{D5CDD505-2E9C-101B-9397-08002B2CF9AE}" pid="10" name="ShareDoc">
    <vt:bool>0</vt:bool>
  </property>
  <property fmtid="{D5CDD505-2E9C-101B-9397-08002B2CF9AE}" pid="11" name="Slides">
    <vt:i4>7</vt:i4>
  </property>
</Properties>
</file>