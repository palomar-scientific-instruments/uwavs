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993" r:id="rId2"/>
    <p:sldMasterId id="2147489614" r:id="rId3"/>
  </p:sldMasterIdLst>
  <p:notesMasterIdLst>
    <p:notesMasterId r:id="rId16"/>
  </p:notesMasterIdLst>
  <p:handoutMasterIdLst>
    <p:handoutMasterId r:id="rId17"/>
  </p:handoutMasterIdLst>
  <p:sldIdLst>
    <p:sldId id="299" r:id="rId4"/>
    <p:sldId id="388" r:id="rId5"/>
    <p:sldId id="379" r:id="rId6"/>
    <p:sldId id="380" r:id="rId7"/>
    <p:sldId id="381" r:id="rId8"/>
    <p:sldId id="382" r:id="rId9"/>
    <p:sldId id="383" r:id="rId10"/>
    <p:sldId id="384" r:id="rId11"/>
    <p:sldId id="385" r:id="rId12"/>
    <p:sldId id="389" r:id="rId13"/>
    <p:sldId id="390" r:id="rId14"/>
    <p:sldId id="352" r:id="rId15"/>
  </p:sldIdLst>
  <p:sldSz cx="12192000" cy="6858000"/>
  <p:notesSz cx="6805613" cy="99441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3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B192"/>
    <a:srgbClr val="00FFFF"/>
    <a:srgbClr val="FF3300"/>
    <a:srgbClr val="FF0000"/>
    <a:srgbClr val="92D050"/>
    <a:srgbClr val="FFFF00"/>
    <a:srgbClr val="B16435"/>
    <a:srgbClr val="E6E6E6"/>
    <a:srgbClr val="FFD243"/>
    <a:srgbClr val="2BA6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743" autoAdjust="0"/>
    <p:restoredTop sz="94715" autoAdjust="0"/>
  </p:normalViewPr>
  <p:slideViewPr>
    <p:cSldViewPr>
      <p:cViewPr>
        <p:scale>
          <a:sx n="100" d="100"/>
          <a:sy n="100" d="100"/>
        </p:scale>
        <p:origin x="492" y="28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-2334" y="-114"/>
      </p:cViewPr>
      <p:guideLst>
        <p:guide orient="horz" pos="3133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8252" cy="497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675" tIns="45837" rIns="91675" bIns="45837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7362" y="0"/>
            <a:ext cx="2948251" cy="497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675" tIns="45837" rIns="91675" bIns="45837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6338"/>
            <a:ext cx="2948252" cy="497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675" tIns="45837" rIns="91675" bIns="45837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7362" y="9446338"/>
            <a:ext cx="2948251" cy="497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675" tIns="45837" rIns="91675" bIns="45837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panose="020B0604020202020204" pitchFamily="34" charset="0"/>
                <a:ea typeface="Gulim" pitchFamily="34" charset="-127"/>
              </a:defRPr>
            </a:lvl1pPr>
          </a:lstStyle>
          <a:p>
            <a:fld id="{8DC3FDBF-EE3A-48C4-BF9A-2B5F62254B19}" type="slidenum">
              <a:rPr lang="en-GB" altLang="ko-KR"/>
              <a:pPr/>
              <a:t>‹#›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33164089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8252" cy="497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675" tIns="45837" rIns="91675" bIns="45837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7362" y="0"/>
            <a:ext cx="2948251" cy="497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675" tIns="45837" rIns="91675" bIns="45837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313" y="746125"/>
            <a:ext cx="6630987" cy="3730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7522" y="4723170"/>
            <a:ext cx="4990571" cy="4475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675" tIns="45837" rIns="91675" bIns="4583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noProof="0" smtClean="0"/>
              <a:t>Click to edit Master text styles</a:t>
            </a:r>
          </a:p>
          <a:p>
            <a:pPr lvl="1"/>
            <a:r>
              <a:rPr lang="en-GB" altLang="ko-KR" noProof="0" smtClean="0"/>
              <a:t>Second level</a:t>
            </a:r>
          </a:p>
          <a:p>
            <a:pPr lvl="2"/>
            <a:r>
              <a:rPr lang="en-GB" altLang="ko-KR" noProof="0" smtClean="0"/>
              <a:t>Third level</a:t>
            </a:r>
          </a:p>
          <a:p>
            <a:pPr lvl="3"/>
            <a:r>
              <a:rPr lang="en-GB" altLang="ko-KR" noProof="0" smtClean="0"/>
              <a:t>Fourth level</a:t>
            </a:r>
          </a:p>
          <a:p>
            <a:pPr lvl="4"/>
            <a:r>
              <a:rPr lang="en-GB" altLang="ko-KR" noProof="0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6338"/>
            <a:ext cx="2948252" cy="497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675" tIns="45837" rIns="91675" bIns="45837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7362" y="9446338"/>
            <a:ext cx="2948251" cy="497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675" tIns="45837" rIns="91675" bIns="45837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panose="020B0604020202020204" pitchFamily="34" charset="0"/>
                <a:ea typeface="Gulim" pitchFamily="34" charset="-127"/>
              </a:defRPr>
            </a:lvl1pPr>
          </a:lstStyle>
          <a:p>
            <a:fld id="{B88B0324-2532-4BA3-BBCD-5E0AA3B42B84}" type="slidenum">
              <a:rPr lang="en-GB" altLang="ko-KR"/>
              <a:pPr/>
              <a:t>‹#›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11823078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5655" indent="-286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7894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5780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5256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23142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81028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8914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96799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97FDE8F-2A47-4BA6-8BA8-ADD07CE4FC0F}" type="slidenum">
              <a:rPr lang="en-GB" altLang="ko-KR"/>
              <a:pPr>
                <a:spcBef>
                  <a:spcPct val="0"/>
                </a:spcBef>
              </a:pPr>
              <a:t>1</a:t>
            </a:fld>
            <a:endParaRPr lang="en-GB" altLang="ko-KR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3" y="746125"/>
            <a:ext cx="6630987" cy="3730625"/>
          </a:xfrm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ko-KR" smtClean="0">
              <a:latin typeface="Arial" panose="020B0604020202020204" pitchFamily="34" charset="0"/>
              <a:ea typeface="Guli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11510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5655" indent="-286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7894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5780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5256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23142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81028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8914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96799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F49A183-DDCC-401D-BA28-F09099DF4624}" type="slidenum">
              <a:rPr lang="en-GB" altLang="ko-KR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</a:t>
            </a:fld>
            <a:endParaRPr lang="en-GB" altLang="ko-KR">
              <a:solidFill>
                <a:srgbClr val="000000"/>
              </a:solidFill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3" y="746125"/>
            <a:ext cx="6630987" cy="3730625"/>
          </a:xfrm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ko-KR" dirty="0" smtClean="0">
              <a:latin typeface="Arial" panose="020B0604020202020204" pitchFamily="34" charset="0"/>
              <a:ea typeface="Guli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22385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5655" indent="-286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7894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5780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5256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23142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81028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8914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96799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F49A183-DDCC-401D-BA28-F09099DF4624}" type="slidenum">
              <a:rPr lang="en-GB" altLang="ko-KR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</a:t>
            </a:fld>
            <a:endParaRPr lang="en-GB" altLang="ko-KR">
              <a:solidFill>
                <a:srgbClr val="000000"/>
              </a:solidFill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3" y="746125"/>
            <a:ext cx="6630987" cy="3730625"/>
          </a:xfrm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ko-KR" dirty="0" smtClean="0">
              <a:latin typeface="Arial" panose="020B0604020202020204" pitchFamily="34" charset="0"/>
              <a:ea typeface="Guli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19239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5655" indent="-286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7894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5780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5256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23142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81028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8914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96799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F49A183-DDCC-401D-BA28-F09099DF4624}" type="slidenum">
              <a:rPr lang="en-GB" altLang="ko-KR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</a:t>
            </a:fld>
            <a:endParaRPr lang="en-GB" altLang="ko-KR">
              <a:solidFill>
                <a:srgbClr val="000000"/>
              </a:solidFill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3" y="746125"/>
            <a:ext cx="6630987" cy="3730625"/>
          </a:xfrm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ko-KR" dirty="0" smtClean="0">
              <a:latin typeface="Arial" panose="020B0604020202020204" pitchFamily="34" charset="0"/>
              <a:ea typeface="Guli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37683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5655" indent="-286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7894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5780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5256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23142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81028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8914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96799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F49A183-DDCC-401D-BA28-F09099DF4624}" type="slidenum">
              <a:rPr lang="en-GB" altLang="ko-KR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5</a:t>
            </a:fld>
            <a:endParaRPr lang="en-GB" altLang="ko-KR">
              <a:solidFill>
                <a:srgbClr val="000000"/>
              </a:solidFill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3" y="746125"/>
            <a:ext cx="6630987" cy="3730625"/>
          </a:xfrm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ko-KR" dirty="0" smtClean="0">
              <a:latin typeface="Arial" panose="020B0604020202020204" pitchFamily="34" charset="0"/>
              <a:ea typeface="Guli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09533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5655" indent="-286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7894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5780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5256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23142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81028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8914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96799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F49A183-DDCC-401D-BA28-F09099DF4624}" type="slidenum">
              <a:rPr lang="en-GB" altLang="ko-KR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6</a:t>
            </a:fld>
            <a:endParaRPr lang="en-GB" altLang="ko-KR">
              <a:solidFill>
                <a:srgbClr val="000000"/>
              </a:solidFill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3" y="746125"/>
            <a:ext cx="6630987" cy="3730625"/>
          </a:xfrm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ko-KR" dirty="0" smtClean="0">
              <a:latin typeface="Arial" panose="020B0604020202020204" pitchFamily="34" charset="0"/>
              <a:ea typeface="Guli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48800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5655" indent="-286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7894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5780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5256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23142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81028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8914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96799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F49A183-DDCC-401D-BA28-F09099DF4624}" type="slidenum">
              <a:rPr lang="en-GB" altLang="ko-KR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7</a:t>
            </a:fld>
            <a:endParaRPr lang="en-GB" altLang="ko-KR">
              <a:solidFill>
                <a:srgbClr val="000000"/>
              </a:solidFill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3" y="746125"/>
            <a:ext cx="6630987" cy="3730625"/>
          </a:xfrm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ko-KR" dirty="0" smtClean="0">
              <a:latin typeface="Arial" panose="020B0604020202020204" pitchFamily="34" charset="0"/>
              <a:ea typeface="Guli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16614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5655" indent="-286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7894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5780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5256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23142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81028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8914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96799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F49A183-DDCC-401D-BA28-F09099DF4624}" type="slidenum">
              <a:rPr lang="en-GB" altLang="ko-KR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8</a:t>
            </a:fld>
            <a:endParaRPr lang="en-GB" altLang="ko-KR">
              <a:solidFill>
                <a:srgbClr val="000000"/>
              </a:solidFill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3" y="746125"/>
            <a:ext cx="6630987" cy="3730625"/>
          </a:xfrm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ko-KR" dirty="0" smtClean="0">
              <a:latin typeface="Arial" panose="020B0604020202020204" pitchFamily="34" charset="0"/>
              <a:ea typeface="Guli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80991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5655" indent="-286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7894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5780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5256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23142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81028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8914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96799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F49A183-DDCC-401D-BA28-F09099DF4624}" type="slidenum">
              <a:rPr lang="en-GB" altLang="ko-KR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9</a:t>
            </a:fld>
            <a:endParaRPr lang="en-GB" altLang="ko-KR">
              <a:solidFill>
                <a:srgbClr val="000000"/>
              </a:solidFill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3" y="746125"/>
            <a:ext cx="6630987" cy="3730625"/>
          </a:xfrm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ko-KR" dirty="0" smtClean="0">
              <a:latin typeface="Arial" panose="020B0604020202020204" pitchFamily="34" charset="0"/>
              <a:ea typeface="Guli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78153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5655" indent="-286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7894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5780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5256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23142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81028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8914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96799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F49A183-DDCC-401D-BA28-F09099DF4624}" type="slidenum">
              <a:rPr lang="en-GB" altLang="ko-KR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10</a:t>
            </a:fld>
            <a:endParaRPr lang="en-GB" altLang="ko-KR">
              <a:solidFill>
                <a:srgbClr val="000000"/>
              </a:solidFill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3" y="746125"/>
            <a:ext cx="6630987" cy="3730625"/>
          </a:xfrm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ko-KR" dirty="0" smtClean="0">
              <a:latin typeface="Arial" panose="020B0604020202020204" pitchFamily="34" charset="0"/>
              <a:ea typeface="Guli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17597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5655" indent="-286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7894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5780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5256" indent="-228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23142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81028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8914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96799" indent="-228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F49A183-DDCC-401D-BA28-F09099DF4624}" type="slidenum">
              <a:rPr lang="en-GB" altLang="ko-KR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11</a:t>
            </a:fld>
            <a:endParaRPr lang="en-GB" altLang="ko-KR">
              <a:solidFill>
                <a:srgbClr val="000000"/>
              </a:solidFill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3" y="746125"/>
            <a:ext cx="6630987" cy="3730625"/>
          </a:xfrm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ko-KR" dirty="0" smtClean="0">
              <a:latin typeface="Arial" panose="020B0604020202020204" pitchFamily="34" charset="0"/>
              <a:ea typeface="Guli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910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0" y="692150"/>
            <a:ext cx="12192000" cy="0"/>
          </a:xfrm>
          <a:prstGeom prst="line">
            <a:avLst/>
          </a:prstGeom>
          <a:noFill/>
          <a:ln w="15875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2400"/>
          </a:p>
        </p:txBody>
      </p:sp>
      <p:pic>
        <p:nvPicPr>
          <p:cNvPr id="5" name="Picture 5" descr="PowerPoint_Graphi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35700"/>
            <a:ext cx="12192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1277600" y="6477001"/>
            <a:ext cx="781051" cy="214313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ko-KR" sz="800">
                <a:latin typeface="Arial" panose="020B0604020202020204" pitchFamily="34" charset="0"/>
                <a:ea typeface="Gulim" pitchFamily="34" charset="-127"/>
              </a:rPr>
              <a:t>Page </a:t>
            </a:r>
            <a:fld id="{4BE2847C-BA9C-44AF-8C44-E44363B47FDC}" type="slidenum">
              <a:rPr lang="en-GB" altLang="ko-KR" sz="800">
                <a:latin typeface="Arial" panose="020B0604020202020204" pitchFamily="34" charset="0"/>
                <a:ea typeface="Gulim" pitchFamily="34" charset="-127"/>
              </a:rPr>
              <a:pPr>
                <a:spcBef>
                  <a:spcPct val="50000"/>
                </a:spcBef>
              </a:pPr>
              <a:t>‹#›</a:t>
            </a:fld>
            <a:endParaRPr lang="en-GB" altLang="ko-KR" sz="800">
              <a:latin typeface="Arial" panose="020B0604020202020204" pitchFamily="34" charset="0"/>
              <a:ea typeface="Gulim" pitchFamily="34" charset="-127"/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7219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5450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683856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764117" y="1752600"/>
            <a:ext cx="52324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9717" y="1752600"/>
            <a:ext cx="52324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5144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7365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959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022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904114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18327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3453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65117" y="609600"/>
            <a:ext cx="2667000" cy="54864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764117" y="609600"/>
            <a:ext cx="7797800" cy="54864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33495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64117" y="609600"/>
            <a:ext cx="10668000" cy="9144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764117" y="1752600"/>
            <a:ext cx="5232400" cy="43434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9717" y="1752600"/>
            <a:ext cx="5232400" cy="43434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37815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764117" y="609600"/>
            <a:ext cx="10668000" cy="54864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00850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제목, 내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64117" y="609600"/>
            <a:ext cx="10668000" cy="9144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764117" y="1752600"/>
            <a:ext cx="5232400" cy="43434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199717" y="1752600"/>
            <a:ext cx="5232400" cy="43434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91984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35CA7A-900D-48E1-91B9-785414396CC2}" type="datetimeFigureOut">
              <a:rPr lang="en-US"/>
              <a:pPr>
                <a:defRPr/>
              </a:pPr>
              <a:t>6/27/2022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8E47A9-F4EE-4291-99CA-ADED06539E5A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512106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FB7834-D188-4DB5-BEAB-70D3A5867538}" type="datetimeFigureOut">
              <a:rPr lang="en-US"/>
              <a:pPr>
                <a:defRPr/>
              </a:pPr>
              <a:t>6/27/2022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E367A9-E229-48A5-88E0-293D0A20D57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783357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686B6E-D6AE-47B4-B4BC-E2B6A0E37A78}" type="datetimeFigureOut">
              <a:rPr lang="en-US"/>
              <a:pPr>
                <a:defRPr/>
              </a:pPr>
              <a:t>6/27/2022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C036AA-F710-4EA9-91A5-AE24FF8F38C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328915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FD7565-D7F0-4253-AD2D-63A3DBB488ED}" type="datetimeFigureOut">
              <a:rPr lang="en-US"/>
              <a:pPr>
                <a:defRPr/>
              </a:pPr>
              <a:t>6/27/2022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55F90F-3FBB-4489-B0D9-AB4376A305C5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678070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306990-226A-4B11-B3BC-BE6325A6D4DD}" type="datetimeFigureOut">
              <a:rPr lang="en-US"/>
              <a:pPr>
                <a:defRPr/>
              </a:pPr>
              <a:t>6/27/2022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CC9756-CEC2-40D2-9DFF-6FD3EF8C7E3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229856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2DCFC0-2575-4B52-B788-290D68860683}" type="datetimeFigureOut">
              <a:rPr lang="en-US"/>
              <a:pPr>
                <a:defRPr/>
              </a:pPr>
              <a:t>6/27/2022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E3D0B3-41EF-46A1-A410-AE9B656031F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861492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F97900-3E57-4DCC-867B-99B1D67C1078}" type="datetimeFigureOut">
              <a:rPr lang="en-US"/>
              <a:pPr>
                <a:defRPr/>
              </a:pPr>
              <a:t>6/27/2022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624C3D-CB6C-4EA4-BC5C-66353E2697B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678523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CB685A-DDF5-4E17-BEA9-B9752F4675F5}" type="datetimeFigureOut">
              <a:rPr lang="en-US"/>
              <a:pPr>
                <a:defRPr/>
              </a:pPr>
              <a:t>6/27/2022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82A425-5F16-4E85-9B6B-CF023B0A57F0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498298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2F92E8-34D8-47C6-BE3D-49FF7DA9A673}" type="datetimeFigureOut">
              <a:rPr lang="en-US"/>
              <a:pPr>
                <a:defRPr/>
              </a:pPr>
              <a:t>6/27/2022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FF5C0D-C620-42DC-892B-40CA633925F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002980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31D9AF-63A1-4383-B34B-C913EED01AE9}" type="datetimeFigureOut">
              <a:rPr lang="en-US"/>
              <a:pPr>
                <a:defRPr/>
              </a:pPr>
              <a:t>6/27/2022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2504B0-6A26-4B4F-924D-EEC90733020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984641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CDFBF-2DDF-4EF7-8A44-FBDE3503BC25}" type="datetimeFigureOut">
              <a:rPr lang="en-US"/>
              <a:pPr>
                <a:defRPr/>
              </a:pPr>
              <a:t>6/27/2022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F1FD01-C31A-4184-A53C-805F6589FA6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355250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noProof="0" dirty="0" err="1" smtClean="0"/>
              <a:t>Haga</a:t>
            </a:r>
            <a:r>
              <a:rPr lang="en-US" noProof="0" dirty="0" smtClean="0"/>
              <a:t> </a:t>
            </a:r>
            <a:r>
              <a:rPr lang="en-US" noProof="0" dirty="0" err="1" smtClean="0"/>
              <a:t>clic</a:t>
            </a:r>
            <a:r>
              <a:rPr lang="en-US" noProof="0" dirty="0" smtClean="0"/>
              <a:t> </a:t>
            </a:r>
            <a:r>
              <a:rPr lang="en-US" noProof="0" dirty="0" err="1" smtClean="0"/>
              <a:t>para</a:t>
            </a:r>
            <a:r>
              <a:rPr lang="en-US" noProof="0" dirty="0" smtClean="0"/>
              <a:t> </a:t>
            </a:r>
            <a:r>
              <a:rPr lang="en-US" noProof="0" dirty="0" err="1" smtClean="0"/>
              <a:t>modificar</a:t>
            </a:r>
            <a:r>
              <a:rPr lang="en-US" noProof="0" dirty="0" smtClean="0"/>
              <a:t> el </a:t>
            </a:r>
            <a:r>
              <a:rPr lang="en-US" noProof="0" dirty="0" err="1" smtClean="0"/>
              <a:t>estilo</a:t>
            </a:r>
            <a:r>
              <a:rPr lang="en-US" noProof="0" dirty="0" smtClean="0"/>
              <a:t> de </a:t>
            </a:r>
            <a:r>
              <a:rPr lang="en-US" noProof="0" dirty="0" err="1" smtClean="0"/>
              <a:t>título</a:t>
            </a:r>
            <a:r>
              <a:rPr lang="en-US" noProof="0" dirty="0" smtClean="0"/>
              <a:t> del </a:t>
            </a:r>
            <a:r>
              <a:rPr lang="en-US" noProof="0" dirty="0" err="1" smtClean="0"/>
              <a:t>patrón</a:t>
            </a:r>
            <a:endParaRPr lang="en-US" noProof="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noProof="0" dirty="0" err="1" smtClean="0"/>
              <a:t>Haga</a:t>
            </a:r>
            <a:r>
              <a:rPr lang="en-US" noProof="0" dirty="0" smtClean="0"/>
              <a:t> </a:t>
            </a:r>
            <a:r>
              <a:rPr lang="en-US" noProof="0" dirty="0" err="1" smtClean="0"/>
              <a:t>clic</a:t>
            </a:r>
            <a:r>
              <a:rPr lang="en-US" noProof="0" dirty="0" smtClean="0"/>
              <a:t> </a:t>
            </a:r>
            <a:r>
              <a:rPr lang="en-US" noProof="0" dirty="0" err="1" smtClean="0"/>
              <a:t>para</a:t>
            </a:r>
            <a:r>
              <a:rPr lang="en-US" noProof="0" dirty="0" smtClean="0"/>
              <a:t> </a:t>
            </a:r>
            <a:r>
              <a:rPr lang="en-US" noProof="0" dirty="0" err="1" smtClean="0"/>
              <a:t>modificar</a:t>
            </a:r>
            <a:r>
              <a:rPr lang="en-US" noProof="0" dirty="0" smtClean="0"/>
              <a:t> el </a:t>
            </a:r>
            <a:r>
              <a:rPr lang="en-US" noProof="0" dirty="0" err="1" smtClean="0"/>
              <a:t>estilo</a:t>
            </a:r>
            <a:r>
              <a:rPr lang="en-US" noProof="0" dirty="0" smtClean="0"/>
              <a:t> de </a:t>
            </a:r>
            <a:r>
              <a:rPr lang="en-US" noProof="0" dirty="0" err="1" smtClean="0"/>
              <a:t>subtítulo</a:t>
            </a:r>
            <a:r>
              <a:rPr lang="en-US" noProof="0" dirty="0" smtClean="0"/>
              <a:t> del </a:t>
            </a:r>
            <a:r>
              <a:rPr lang="en-US" noProof="0" dirty="0" err="1" smtClean="0"/>
              <a:t>patrón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788141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50563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37529934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2301" y="908050"/>
            <a:ext cx="5516033" cy="5218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341534" y="908050"/>
            <a:ext cx="5516033" cy="5218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6568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9559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s-ES" dirty="0" smtClean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2308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01110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67235764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77243763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1018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9046634" y="1"/>
            <a:ext cx="2810933" cy="6126163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1" y="1"/>
            <a:ext cx="8233833" cy="6126163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5713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0"/>
            <a:ext cx="11247967" cy="723900"/>
          </a:xfrm>
        </p:spPr>
        <p:txBody>
          <a:bodyPr/>
          <a:lstStyle>
            <a:lvl1pPr>
              <a:defRPr sz="2800"/>
            </a:lvl1pPr>
          </a:lstStyle>
          <a:p>
            <a:r>
              <a:rPr lang="es-ES" dirty="0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622300" y="908050"/>
            <a:ext cx="11235267" cy="5218113"/>
          </a:xfrm>
        </p:spPr>
        <p:txBody>
          <a:bodyPr/>
          <a:lstStyle/>
          <a:p>
            <a:pPr lvl="0"/>
            <a:endParaRPr lang="en-US" noProof="0" smtClean="0"/>
          </a:p>
        </p:txBody>
      </p:sp>
    </p:spTree>
    <p:extLst>
      <p:ext uri="{BB962C8B-B14F-4D97-AF65-F5344CB8AC3E}">
        <p14:creationId xmlns:p14="http://schemas.microsoft.com/office/powerpoint/2010/main" val="67604932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/>
          </p:nvPr>
        </p:nvSpPr>
        <p:spPr>
          <a:xfrm>
            <a:off x="609600" y="1"/>
            <a:ext cx="11247967" cy="612616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02150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0"/>
            <a:ext cx="11247967" cy="7239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/>
          </p:nvPr>
        </p:nvSpPr>
        <p:spPr>
          <a:xfrm>
            <a:off x="622301" y="908050"/>
            <a:ext cx="5516033" cy="521811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341534" y="908050"/>
            <a:ext cx="5516033" cy="521811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77735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ítulo, texto y 2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0"/>
            <a:ext cx="11247967" cy="7239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/>
          </p:nvPr>
        </p:nvSpPr>
        <p:spPr>
          <a:xfrm>
            <a:off x="622301" y="908050"/>
            <a:ext cx="5516033" cy="521811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>
          <a:xfrm>
            <a:off x="6341534" y="908051"/>
            <a:ext cx="5516033" cy="253206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contenido"/>
          <p:cNvSpPr>
            <a:spLocks noGrp="1"/>
          </p:cNvSpPr>
          <p:nvPr>
            <p:ph sz="quarter" idx="3"/>
          </p:nvPr>
        </p:nvSpPr>
        <p:spPr>
          <a:xfrm>
            <a:off x="6341534" y="3592513"/>
            <a:ext cx="5516033" cy="253365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931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image" Target="../media/image2.emf"/><Relationship Id="rId2" Type="http://schemas.openxmlformats.org/officeDocument/2006/relationships/slideLayout" Target="../slideLayouts/slideLayout27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5.xml"/><Relationship Id="rId19" Type="http://schemas.openxmlformats.org/officeDocument/2006/relationships/image" Target="../media/image4.jpeg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spect="1" noChangeArrowheads="1"/>
          </p:cNvSpPr>
          <p:nvPr>
            <p:ph type="title"/>
          </p:nvPr>
        </p:nvSpPr>
        <p:spPr bwMode="auto">
          <a:xfrm>
            <a:off x="764117" y="609600"/>
            <a:ext cx="10668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4117" y="1752600"/>
            <a:ext cx="106680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text styles</a:t>
            </a:r>
          </a:p>
          <a:p>
            <a:pPr lvl="1"/>
            <a:r>
              <a:rPr lang="en-GB" altLang="ko-KR" smtClean="0"/>
              <a:t>Second level</a:t>
            </a:r>
          </a:p>
          <a:p>
            <a:pPr lvl="2"/>
            <a:r>
              <a:rPr lang="en-GB" altLang="ko-KR" smtClean="0"/>
              <a:t>Third level</a:t>
            </a:r>
          </a:p>
          <a:p>
            <a:pPr lvl="3"/>
            <a:r>
              <a:rPr lang="en-GB" altLang="ko-KR" smtClean="0"/>
              <a:t>Fourth level</a:t>
            </a:r>
          </a:p>
          <a:p>
            <a:pPr lvl="4"/>
            <a:r>
              <a:rPr lang="en-GB" altLang="ko-KR" smtClean="0"/>
              <a:t>Fifth level</a:t>
            </a:r>
          </a:p>
        </p:txBody>
      </p:sp>
      <p:sp>
        <p:nvSpPr>
          <p:cNvPr id="1028" name="Line 13"/>
          <p:cNvSpPr>
            <a:spLocks noChangeShapeType="1"/>
          </p:cNvSpPr>
          <p:nvPr/>
        </p:nvSpPr>
        <p:spPr bwMode="auto">
          <a:xfrm>
            <a:off x="0" y="692150"/>
            <a:ext cx="12192000" cy="0"/>
          </a:xfrm>
          <a:prstGeom prst="line">
            <a:avLst/>
          </a:prstGeom>
          <a:noFill/>
          <a:ln w="25400">
            <a:solidFill>
              <a:srgbClr val="00206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2400"/>
          </a:p>
        </p:txBody>
      </p:sp>
      <p:pic>
        <p:nvPicPr>
          <p:cNvPr id="1029" name="Picture 14" descr="PowerPoint_Graphic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35700"/>
            <a:ext cx="121920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Text Box 16"/>
          <p:cNvSpPr txBox="1">
            <a:spLocks noChangeArrowheads="1"/>
          </p:cNvSpPr>
          <p:nvPr/>
        </p:nvSpPr>
        <p:spPr bwMode="auto">
          <a:xfrm>
            <a:off x="11277600" y="6477001"/>
            <a:ext cx="781051" cy="214313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ko-KR" sz="800">
                <a:latin typeface="Arial" panose="020B0604020202020204" pitchFamily="34" charset="0"/>
                <a:ea typeface="Gulim" pitchFamily="34" charset="-127"/>
              </a:rPr>
              <a:t>Page </a:t>
            </a:r>
            <a:fld id="{0A723E22-55F9-4874-9CF6-DB6658CB1E0F}" type="slidenum">
              <a:rPr lang="en-GB" altLang="ko-KR" sz="800">
                <a:latin typeface="Arial" panose="020B0604020202020204" pitchFamily="34" charset="0"/>
                <a:ea typeface="Gulim" pitchFamily="34" charset="-127"/>
              </a:rPr>
              <a:pPr>
                <a:spcBef>
                  <a:spcPct val="50000"/>
                </a:spcBef>
              </a:pPr>
              <a:t>‹#›</a:t>
            </a:fld>
            <a:endParaRPr lang="en-GB" altLang="ko-KR" sz="800">
              <a:latin typeface="Arial" panose="020B0604020202020204" pitchFamily="34" charset="0"/>
              <a:ea typeface="Gulim" pitchFamily="34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2313" r:id="rId1"/>
    <p:sldLayoutId id="2147492274" r:id="rId2"/>
    <p:sldLayoutId id="2147492275" r:id="rId3"/>
    <p:sldLayoutId id="2147492276" r:id="rId4"/>
    <p:sldLayoutId id="2147492277" r:id="rId5"/>
    <p:sldLayoutId id="2147492278" r:id="rId6"/>
    <p:sldLayoutId id="2147492279" r:id="rId7"/>
    <p:sldLayoutId id="2147492280" r:id="rId8"/>
    <p:sldLayoutId id="2147492281" r:id="rId9"/>
    <p:sldLayoutId id="2147492282" r:id="rId10"/>
    <p:sldLayoutId id="2147492283" r:id="rId11"/>
    <p:sldLayoutId id="2147492284" r:id="rId12"/>
    <p:sldLayoutId id="2147492285" r:id="rId13"/>
    <p:sldLayoutId id="2147492286" r:id="rId14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9pPr>
    </p:titleStyle>
    <p:bodyStyle>
      <a:lvl1pPr marL="287338" indent="-287338" algn="l" defTabSz="795338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57238" indent="-279400" algn="l" defTabSz="795338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2pPr>
      <a:lvl3pPr marL="1136650" indent="-188913" algn="l" defTabSz="795338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3pPr>
      <a:lvl4pPr marL="1511300" indent="-184150" algn="l" defTabSz="795338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1885950" indent="-184150" algn="l" defTabSz="795338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343150" indent="-184150" algn="l" defTabSz="795338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800350" indent="-184150" algn="l" defTabSz="795338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257550" indent="-184150" algn="l" defTabSz="795338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714750" indent="-184150" algn="l" defTabSz="795338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  <a:endParaRPr lang="en-GB" altLang="en-US" smtClean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GB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D2DCE7F-4157-4AE0-BABE-F2784A1C218D}" type="datetimeFigureOut">
              <a:rPr lang="en-US"/>
              <a:pPr>
                <a:defRPr/>
              </a:pPr>
              <a:t>6/27/2022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rgbClr val="898989"/>
                </a:solidFill>
              </a:defRPr>
            </a:lvl1pPr>
          </a:lstStyle>
          <a:p>
            <a:fld id="{026628E5-95E8-4F27-995C-BE3258EC52C9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2287" r:id="rId1"/>
    <p:sldLayoutId id="2147492288" r:id="rId2"/>
    <p:sldLayoutId id="2147492289" r:id="rId3"/>
    <p:sldLayoutId id="2147492290" r:id="rId4"/>
    <p:sldLayoutId id="2147492291" r:id="rId5"/>
    <p:sldLayoutId id="2147492292" r:id="rId6"/>
    <p:sldLayoutId id="2147492293" r:id="rId7"/>
    <p:sldLayoutId id="2147492294" r:id="rId8"/>
    <p:sldLayoutId id="2147492295" r:id="rId9"/>
    <p:sldLayoutId id="2147492296" r:id="rId10"/>
    <p:sldLayoutId id="2147492297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16 Conector recto"/>
          <p:cNvCxnSpPr/>
          <p:nvPr/>
        </p:nvCxnSpPr>
        <p:spPr bwMode="auto">
          <a:xfrm rot="5400000">
            <a:off x="-2856479" y="3427941"/>
            <a:ext cx="6858001" cy="2117"/>
          </a:xfrm>
          <a:prstGeom prst="line">
            <a:avLst/>
          </a:prstGeom>
          <a:solidFill>
            <a:schemeClr val="accent1"/>
          </a:solidFill>
          <a:ln w="25400" cap="flat" cmpd="sng" algn="ctr">
            <a:gradFill flip="none" rotWithShape="1">
              <a:gsLst>
                <a:gs pos="100000">
                  <a:srgbClr val="002060">
                    <a:alpha val="0"/>
                  </a:srgbClr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0"/>
            <a:ext cx="11247967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Estilo de título	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2300" y="908050"/>
            <a:ext cx="11235267" cy="521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Haga clic para modificar el estilo de texto del patrón</a:t>
            </a:r>
          </a:p>
          <a:p>
            <a:pPr lvl="1"/>
            <a:r>
              <a:rPr lang="en-US" altLang="en-US" smtClean="0"/>
              <a:t>Segundo nivel</a:t>
            </a:r>
          </a:p>
          <a:p>
            <a:pPr lvl="2"/>
            <a:r>
              <a:rPr lang="en-US" altLang="en-US" smtClean="0"/>
              <a:t>Tercer nivel</a:t>
            </a:r>
          </a:p>
          <a:p>
            <a:pPr lvl="3"/>
            <a:r>
              <a:rPr lang="en-US" altLang="en-US" smtClean="0"/>
              <a:t>Cuarto nivel</a:t>
            </a:r>
          </a:p>
          <a:p>
            <a:pPr lvl="4"/>
            <a:r>
              <a:rPr lang="en-US" altLang="en-US" smtClean="0"/>
              <a:t>Quinto nivel</a:t>
            </a:r>
          </a:p>
        </p:txBody>
      </p:sp>
      <p:sp>
        <p:nvSpPr>
          <p:cNvPr id="3077" name="Text Box 31"/>
          <p:cNvSpPr txBox="1">
            <a:spLocks noChangeArrowheads="1"/>
          </p:cNvSpPr>
          <p:nvPr/>
        </p:nvSpPr>
        <p:spPr bwMode="auto">
          <a:xfrm rot="16200000">
            <a:off x="-2285206" y="3118014"/>
            <a:ext cx="5357812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100" b="1" smtClean="0">
                <a:solidFill>
                  <a:srgbClr val="72BFC5"/>
                </a:solidFill>
                <a:latin typeface="Calibri" pitchFamily="34" charset="0"/>
              </a:rPr>
              <a:t> </a:t>
            </a:r>
          </a:p>
        </p:txBody>
      </p:sp>
      <p:pic>
        <p:nvPicPr>
          <p:cNvPr id="3078" name="Picture 36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1" y="6124576"/>
            <a:ext cx="1056217" cy="63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0" name="29 Conector recto"/>
          <p:cNvCxnSpPr/>
          <p:nvPr/>
        </p:nvCxnSpPr>
        <p:spPr bwMode="auto">
          <a:xfrm>
            <a:off x="0" y="714356"/>
            <a:ext cx="12192000" cy="1588"/>
          </a:xfrm>
          <a:prstGeom prst="line">
            <a:avLst/>
          </a:prstGeom>
          <a:solidFill>
            <a:schemeClr val="accent1"/>
          </a:solidFill>
          <a:ln w="25400" cap="flat" cmpd="sng" algn="ctr">
            <a:gradFill flip="none" rotWithShape="1">
              <a:gsLst>
                <a:gs pos="100000">
                  <a:srgbClr val="002060">
                    <a:alpha val="0"/>
                  </a:srgbClr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0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9167285" y="6367463"/>
            <a:ext cx="2592916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100" b="1">
                <a:solidFill>
                  <a:srgbClr val="72BFC5"/>
                </a:solidFill>
                <a:latin typeface="Calibri" panose="020F0502020204030204" pitchFamily="34" charset="0"/>
              </a:rPr>
              <a:t>                                                  </a:t>
            </a:r>
            <a:fld id="{2B7AA929-B4F1-4004-8304-90F3BDBC70FC}" type="slidenum">
              <a:rPr lang="en-US" altLang="en-US" sz="1100" b="1">
                <a:solidFill>
                  <a:srgbClr val="72BFC5"/>
                </a:solidFill>
                <a:latin typeface="Calibri" panose="020F0502020204030204" pitchFamily="34" charset="0"/>
              </a:rPr>
              <a:pPr eaLnBrk="1" hangingPunct="1">
                <a:spcBef>
                  <a:spcPct val="50000"/>
                </a:spcBef>
              </a:pPr>
              <a:t>‹#›</a:t>
            </a:fld>
            <a:endParaRPr lang="en-US" altLang="en-US" sz="1100" b="1">
              <a:solidFill>
                <a:srgbClr val="72BFC5"/>
              </a:solidFill>
              <a:latin typeface="Calibri" panose="020F0502020204030204" pitchFamily="34" charset="0"/>
            </a:endParaRPr>
          </a:p>
        </p:txBody>
      </p:sp>
      <p:pic>
        <p:nvPicPr>
          <p:cNvPr id="3081" name="Picture 2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1" y="6284913"/>
            <a:ext cx="3327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2" name="Picture 11" descr="logo_ciemat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7467" y="6226175"/>
            <a:ext cx="266700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2298" r:id="rId1"/>
    <p:sldLayoutId id="2147492299" r:id="rId2"/>
    <p:sldLayoutId id="2147492300" r:id="rId3"/>
    <p:sldLayoutId id="2147492301" r:id="rId4"/>
    <p:sldLayoutId id="2147492302" r:id="rId5"/>
    <p:sldLayoutId id="2147492303" r:id="rId6"/>
    <p:sldLayoutId id="2147492304" r:id="rId7"/>
    <p:sldLayoutId id="2147492305" r:id="rId8"/>
    <p:sldLayoutId id="2147492306" r:id="rId9"/>
    <p:sldLayoutId id="2147492307" r:id="rId10"/>
    <p:sldLayoutId id="2147492308" r:id="rId11"/>
    <p:sldLayoutId id="2147492309" r:id="rId12"/>
    <p:sldLayoutId id="2147492310" r:id="rId13"/>
    <p:sldLayoutId id="2147492311" r:id="rId14"/>
    <p:sldLayoutId id="2147492312" r:id="rId15"/>
  </p:sldLayoutIdLst>
  <p:timing>
    <p:tnLst>
      <p:par>
        <p:cTn id="1" dur="indefinite" restart="never" nodeType="tmRoot"/>
      </p:par>
    </p:tnLst>
  </p:timing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Calibri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Calibri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Calibri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Calibri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anose="05000000000000000000" pitchFamily="2" charset="2"/>
        <a:buChar char="q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user.iter.org/?uid=JQLRRK&amp;version=v2.0&amp;action=get_document" TargetMode="External"/><Relationship Id="rId7" Type="http://schemas.openxmlformats.org/officeDocument/2006/relationships/hyperlink" Target="https://sharepoint.iter.org/IPT/IC-IPT/dia/Design/_layouts/15/WopiFrame.aspx?sourcedoc=%7BAD3F7CC6-3599-47FF-913F-53EF66299C44%7D&amp;file=Plant_IC_EA_Project_Structure_V1.0.docx&amp;action=defaul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user.iter.org/?uid=6UER9M&amp;version=v0.0&amp;action=get_document" TargetMode="External"/><Relationship Id="rId5" Type="http://schemas.openxmlformats.org/officeDocument/2006/relationships/hyperlink" Target="https://user.iter.org/default.aspx?uid=UL2FMF" TargetMode="External"/><Relationship Id="rId4" Type="http://schemas.openxmlformats.org/officeDocument/2006/relationships/hyperlink" Target="https://user.iter.org/?uid=Q77FFP&amp;version=v3.4&amp;action=get_document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user.iter.org/?uid=JQLRRK&amp;version=v2.0&amp;action=get_documen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user.iter.org/?uid=5ZWTQH&amp;action=get_documen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user.iter.org/?uid=6VXF74&amp;action=get_documen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user.iter.org/?uid=5ZZ55H&amp;action=get_document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user.iter.org/?uid=6KQWA5&amp;action=get_document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user.iter.org/?uid=6KXK3K&amp;action=get_document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user.iter.org/?uid=744MVF&amp;action=get_documen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user.iter.org/?uid=6KQWA5&amp;action=get_document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user.iter.org/?uid=6KXK3K&amp;action=get_document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user.iter.org/?uid=4WDZXW&amp;version=v1.1&amp;action=get_document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user.iter.org/default.aspx?uid=55G3CQ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2"/>
          <p:cNvSpPr>
            <a:spLocks noGrp="1"/>
          </p:cNvSpPr>
          <p:nvPr>
            <p:ph type="title"/>
          </p:nvPr>
        </p:nvSpPr>
        <p:spPr>
          <a:xfrm>
            <a:off x="2214451" y="1203325"/>
            <a:ext cx="4824412" cy="4311650"/>
          </a:xfrm>
        </p:spPr>
        <p:txBody>
          <a:bodyPr/>
          <a:lstStyle/>
          <a:p>
            <a:r>
              <a:rPr lang="en-GB" altLang="en-US" sz="2800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Diagnostic </a:t>
            </a:r>
            <a:r>
              <a:rPr lang="en-GB" altLang="en-US" sz="28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Plant I&amp;C Methodology</a:t>
            </a:r>
            <a:r>
              <a:rPr lang="en-US" altLang="en-US" sz="2800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altLang="en-US" sz="2800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800" u="sng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Quick Walkthrough</a:t>
            </a:r>
            <a:endParaRPr lang="en-US" altLang="en-US" sz="2800" u="sng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12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8168" y="782638"/>
            <a:ext cx="3671887" cy="473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spect="1" noChangeArrowheads="1"/>
          </p:cNvSpPr>
          <p:nvPr>
            <p:ph type="title"/>
          </p:nvPr>
        </p:nvSpPr>
        <p:spPr>
          <a:xfrm>
            <a:off x="767408" y="116632"/>
            <a:ext cx="10873208" cy="476250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en-US" sz="280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charset="0"/>
              </a:rPr>
              <a:t>The three  important documents</a:t>
            </a:r>
            <a:endParaRPr lang="en-US" sz="280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Arial" charset="0"/>
            </a:endParaRPr>
          </a:p>
        </p:txBody>
      </p:sp>
      <p:sp>
        <p:nvSpPr>
          <p:cNvPr id="6" name="TextBox 1"/>
          <p:cNvSpPr txBox="1">
            <a:spLocks noChangeArrowheads="1"/>
          </p:cNvSpPr>
          <p:nvPr/>
        </p:nvSpPr>
        <p:spPr bwMode="auto">
          <a:xfrm>
            <a:off x="119336" y="764806"/>
            <a:ext cx="11953328" cy="600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The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methodology: </a:t>
            </a:r>
            <a:r>
              <a:rPr lang="en-GB" u="sng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01_Diagnostics Plant I&amp;C Design Process (SRS and SDS) with link to templates and examples (JQLRRK v2.0</a:t>
            </a:r>
            <a:r>
              <a:rPr lang="en-GB" u="sng" dirty="0" smtClean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)</a:t>
            </a:r>
            <a:endParaRPr lang="en-GB" u="sng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4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From 2019, needs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an </a:t>
            </a:r>
            <a:r>
              <a:rPr lang="en-US" sz="24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update</a:t>
            </a:r>
          </a:p>
          <a:p>
            <a:pPr lvl="1"/>
            <a:r>
              <a:rPr lang="en-US" sz="24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Therefore, needs to be read in conjunction with the last 7 workshop discussions.</a:t>
            </a:r>
          </a:p>
          <a:p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The EA user manual: </a:t>
            </a:r>
            <a:r>
              <a:rPr lang="en-GB" u="sng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System Engineering Diagram for Diagnostics Plant I&amp;C -EA User Manual (Q77FFP v3.4)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From </a:t>
            </a:r>
            <a:r>
              <a:rPr lang="en-US" sz="24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2019</a:t>
            </a:r>
          </a:p>
          <a:p>
            <a:pPr lvl="1"/>
            <a:r>
              <a:rPr lang="en-US" sz="24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In the process to be updated with separate user manuals for individual add-ins.</a:t>
            </a:r>
          </a:p>
          <a:p>
            <a:pPr lvl="1"/>
            <a:r>
              <a:rPr lang="en-US" sz="24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Most separate user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manuals updated at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  <a:hlinkClick r:id="rId5"/>
              </a:rPr>
              <a:t>UL2FMF</a:t>
            </a:r>
            <a:endParaRPr lang="en-GB" sz="2400" dirty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The EA </a:t>
            </a:r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project structure document: </a:t>
            </a:r>
            <a:r>
              <a:rPr lang="en-GB" u="sng" dirty="0">
                <a:latin typeface="Calibri" panose="020F0502020204030204" pitchFamily="34" charset="0"/>
                <a:cs typeface="Calibri" panose="020F0502020204030204" pitchFamily="34" charset="0"/>
                <a:hlinkClick r:id="rId6"/>
              </a:rPr>
              <a:t>EA Project Structure for Diagnostics Plant I&amp;C (6UER9M v0.0</a:t>
            </a:r>
            <a:r>
              <a:rPr lang="en-GB" u="sng" dirty="0" smtClean="0">
                <a:latin typeface="Calibri" panose="020F0502020204030204" pitchFamily="34" charset="0"/>
                <a:cs typeface="Calibri" panose="020F0502020204030204" pitchFamily="34" charset="0"/>
                <a:hlinkClick r:id="rId6"/>
              </a:rPr>
              <a:t>)</a:t>
            </a:r>
            <a:endParaRPr lang="en-GB" u="sng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4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First version in near future (1-2 weeks)</a:t>
            </a:r>
          </a:p>
          <a:p>
            <a:pPr lvl="1"/>
            <a:r>
              <a:rPr lang="en-US" sz="24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Draft version in </a:t>
            </a:r>
            <a:r>
              <a:rPr lang="en-US" sz="24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  <a:hlinkClick r:id="rId7"/>
              </a:rPr>
              <a:t>Sharepoint</a:t>
            </a:r>
            <a:endParaRPr lang="en-US" sz="2400" dirty="0" smtClean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  <a:cs typeface="Calibri" panose="020F0502020204030204" pitchFamily="34" charset="0"/>
            </a:endParaRPr>
          </a:p>
          <a:p>
            <a:pPr lvl="1"/>
            <a:endParaRPr lang="en-GB" sz="2400" dirty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4224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auto">
          <a:xfrm>
            <a:off x="4511824" y="4143018"/>
            <a:ext cx="3490012" cy="2094294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entury Gothic" pitchFamily="34" charset="0"/>
              </a:rPr>
              <a:t>Functional</a:t>
            </a:r>
            <a:r>
              <a: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latin typeface="Century Gothic" pitchFamily="34" charset="0"/>
              </a:rPr>
              <a:t> Analysis (</a:t>
            </a:r>
            <a:r>
              <a:rPr kumimoji="0" lang="en-US" sz="1800" b="1" i="0" u="none" strike="noStrike" cap="none" normalizeH="0" dirty="0" smtClean="0">
                <a:ln>
                  <a:noFill/>
                </a:ln>
                <a:solidFill>
                  <a:srgbClr val="FFFF00"/>
                </a:solidFill>
                <a:effectLst/>
                <a:latin typeface="Century Gothic" pitchFamily="34" charset="0"/>
              </a:rPr>
              <a:t>HOW</a:t>
            </a:r>
            <a:r>
              <a:rPr kumimoji="0" lang="en-US" sz="1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latin typeface="Century Gothic" pitchFamily="34" charset="0"/>
              </a:rPr>
              <a:t>)</a:t>
            </a:r>
          </a:p>
        </p:txBody>
      </p:sp>
      <p:sp>
        <p:nvSpPr>
          <p:cNvPr id="6146" name="Rectangle 2"/>
          <p:cNvSpPr>
            <a:spLocks noGrp="1" noChangeAspect="1" noChangeArrowheads="1"/>
          </p:cNvSpPr>
          <p:nvPr>
            <p:ph type="title"/>
          </p:nvPr>
        </p:nvSpPr>
        <p:spPr>
          <a:xfrm>
            <a:off x="767408" y="116632"/>
            <a:ext cx="10873208" cy="476250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en-US" sz="280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charset="0"/>
              </a:rPr>
              <a:t>Diagnostic Plant I&amp;C </a:t>
            </a:r>
            <a:r>
              <a:rPr lang="en-US" sz="280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charset="0"/>
              </a:rPr>
              <a:t>Methodology - Overview</a:t>
            </a:r>
            <a:endParaRPr lang="en-US" sz="280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Arial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118075" y="1405257"/>
            <a:ext cx="4235170" cy="2239768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entury Gothic" pitchFamily="34" charset="0"/>
              </a:rPr>
              <a:t>Applicable </a:t>
            </a:r>
            <a:r>
              <a: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latin typeface="Century Gothic" pitchFamily="34" charset="0"/>
              </a:rPr>
              <a:t>Requirements 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latin typeface="Century Gothic" pitchFamily="34" charset="0"/>
              </a:rPr>
              <a:t>from sources in IDM (Standard requirements from 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solidFill>
                  <a:schemeClr val="bg1"/>
                </a:solidFill>
                <a:latin typeface="Century Gothic" pitchFamily="34" charset="0"/>
              </a:rPr>
              <a:t>h</a:t>
            </a:r>
            <a:r>
              <a:rPr kumimoji="0" lang="en-US" sz="1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latin typeface="Century Gothic" pitchFamily="34" charset="0"/>
              </a:rPr>
              <a:t>andbooks and Derived Requirements)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dirty="0" smtClean="0">
              <a:ln>
                <a:noFill/>
              </a:ln>
              <a:solidFill>
                <a:schemeClr val="bg1"/>
              </a:solidFill>
              <a:effectLst/>
              <a:latin typeface="Century Gothic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dirty="0" smtClean="0">
              <a:ln>
                <a:noFill/>
              </a:ln>
              <a:solidFill>
                <a:schemeClr val="bg1"/>
              </a:solidFill>
              <a:effectLst/>
              <a:latin typeface="Century Gothic" pitchFamily="34" charset="0"/>
            </a:endParaRPr>
          </a:p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sz="1800" dirty="0" smtClean="0">
                <a:solidFill>
                  <a:schemeClr val="bg1"/>
                </a:solidFill>
                <a:latin typeface="Century Gothic" pitchFamily="34" charset="0"/>
              </a:rPr>
              <a:t>Req1…   VM1</a:t>
            </a:r>
          </a:p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sz="1800" dirty="0" smtClean="0">
                <a:solidFill>
                  <a:schemeClr val="bg1"/>
                </a:solidFill>
                <a:latin typeface="Century Gothic" pitchFamily="34" charset="0"/>
              </a:rPr>
              <a:t>Req2…   VM2</a:t>
            </a:r>
            <a:endParaRPr lang="en-US" sz="1200" dirty="0" smtClean="0">
              <a:solidFill>
                <a:schemeClr val="bg1"/>
              </a:solidFill>
              <a:latin typeface="Century Gothic" pitchFamily="34" charset="0"/>
            </a:endParaRPr>
          </a:p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1200" dirty="0" smtClean="0">
              <a:solidFill>
                <a:schemeClr val="bg1"/>
              </a:solidFill>
              <a:latin typeface="Century Gothic" pitchFamily="34" charset="0"/>
            </a:endParaRPr>
          </a:p>
          <a:p>
            <a:pPr marR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200" dirty="0" smtClean="0">
                <a:solidFill>
                  <a:schemeClr val="bg1"/>
                </a:solidFill>
                <a:latin typeface="Century Gothic" pitchFamily="34" charset="0"/>
              </a:rPr>
              <a:t>VM = verification method (for each lifecycle phase)</a:t>
            </a:r>
            <a:endParaRPr lang="en-US" sz="1200" dirty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118073" y="744415"/>
            <a:ext cx="4246102" cy="373943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entury Gothic" pitchFamily="34" charset="0"/>
              </a:rPr>
              <a:t>Use Cases</a:t>
            </a:r>
            <a:endParaRPr lang="en-US" sz="1200" dirty="0">
              <a:solidFill>
                <a:schemeClr val="bg1"/>
              </a:solidFill>
              <a:latin typeface="Century Gothic" pitchFamily="34" charset="0"/>
            </a:endParaRPr>
          </a:p>
        </p:txBody>
      </p:sp>
      <p:cxnSp>
        <p:nvCxnSpPr>
          <p:cNvPr id="5" name="Straight Arrow Connector 4"/>
          <p:cNvCxnSpPr>
            <a:stCxn id="4" idx="2"/>
            <a:endCxn id="3" idx="0"/>
          </p:cNvCxnSpPr>
          <p:nvPr/>
        </p:nvCxnSpPr>
        <p:spPr bwMode="auto">
          <a:xfrm flipH="1">
            <a:off x="2235660" y="1118358"/>
            <a:ext cx="5464" cy="286899"/>
          </a:xfrm>
          <a:prstGeom prst="straightConnector1">
            <a:avLst/>
          </a:prstGeom>
          <a:ln w="38100">
            <a:headEnd type="non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49406" y="1145696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Derived </a:t>
            </a:r>
            <a:r>
              <a:rPr lang="en-US" sz="1200" dirty="0" smtClean="0"/>
              <a:t>requirements</a:t>
            </a:r>
            <a:endParaRPr lang="en-GB" sz="1200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4511824" y="759137"/>
            <a:ext cx="4532871" cy="3238408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entury Gothic" pitchFamily="34" charset="0"/>
              </a:rPr>
              <a:t>Operation Procedures </a:t>
            </a:r>
            <a:r>
              <a:rPr lang="en-US" sz="1800" dirty="0" smtClean="0">
                <a:solidFill>
                  <a:schemeClr val="bg1"/>
                </a:solidFill>
                <a:latin typeface="Century Gothic" pitchFamily="34" charset="0"/>
              </a:rPr>
              <a:t>(flowcharts) – 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solidFill>
                  <a:schemeClr val="bg1"/>
                </a:solidFill>
                <a:latin typeface="Century Gothic" pitchFamily="34" charset="0"/>
              </a:rPr>
              <a:t>(</a:t>
            </a:r>
            <a:r>
              <a:rPr lang="en-US" sz="1800" b="1" dirty="0" smtClean="0">
                <a:solidFill>
                  <a:srgbClr val="FFFF00"/>
                </a:solidFill>
                <a:latin typeface="Century Gothic" pitchFamily="34" charset="0"/>
              </a:rPr>
              <a:t>WHAT the System and the </a:t>
            </a:r>
            <a:r>
              <a:rPr lang="en-US" sz="1800" b="1" dirty="0">
                <a:solidFill>
                  <a:srgbClr val="FFFF00"/>
                </a:solidFill>
                <a:latin typeface="Century Gothic" pitchFamily="34" charset="0"/>
              </a:rPr>
              <a:t>O</a:t>
            </a:r>
            <a:r>
              <a:rPr lang="en-US" sz="1800" b="1" dirty="0" smtClean="0">
                <a:solidFill>
                  <a:srgbClr val="FFFF00"/>
                </a:solidFill>
                <a:latin typeface="Century Gothic" pitchFamily="34" charset="0"/>
              </a:rPr>
              <a:t>perator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1" dirty="0" smtClean="0">
                <a:solidFill>
                  <a:srgbClr val="FFFF00"/>
                </a:solidFill>
                <a:latin typeface="Century Gothic" pitchFamily="34" charset="0"/>
              </a:rPr>
              <a:t> will do in Operation</a:t>
            </a:r>
            <a:r>
              <a:rPr lang="en-US" sz="1800" dirty="0" smtClean="0">
                <a:solidFill>
                  <a:schemeClr val="bg1"/>
                </a:solidFill>
                <a:latin typeface="Century Gothic" pitchFamily="34" charset="0"/>
              </a:rPr>
              <a:t>)</a:t>
            </a:r>
            <a:endParaRPr kumimoji="0" lang="en-US" sz="1800" b="0" i="0" u="none" strike="noStrike" cap="none" normalizeH="0" dirty="0" smtClean="0">
              <a:ln>
                <a:noFill/>
              </a:ln>
              <a:solidFill>
                <a:schemeClr val="bg1"/>
              </a:solidFill>
              <a:effectLst/>
              <a:latin typeface="Century Gothic" pitchFamily="34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178030" y="2289751"/>
            <a:ext cx="2014962" cy="944670"/>
          </a:xfrm>
          <a:prstGeom prst="rect">
            <a:avLst/>
          </a:prstGeom>
          <a:solidFill>
            <a:schemeClr val="accent1">
              <a:alpha val="52000"/>
            </a:schemeClr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sng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entury Gothic" pitchFamily="34" charset="0"/>
              </a:rPr>
              <a:t>Req. Cat1</a:t>
            </a:r>
            <a:endParaRPr kumimoji="0" lang="en-GB" sz="1800" b="0" i="0" u="sng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Century Gothic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2323539" y="2287184"/>
            <a:ext cx="1116755" cy="944670"/>
          </a:xfrm>
          <a:prstGeom prst="rect">
            <a:avLst/>
          </a:prstGeom>
          <a:solidFill>
            <a:schemeClr val="accent1">
              <a:alpha val="52000"/>
            </a:schemeClr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sng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entury Gothic" pitchFamily="34" charset="0"/>
              </a:rPr>
              <a:t>Req.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sng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entury Gothic" pitchFamily="34" charset="0"/>
              </a:rPr>
              <a:t>Cat2</a:t>
            </a:r>
            <a:endParaRPr kumimoji="0" lang="en-GB" sz="1800" b="0" i="0" u="sng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Century Gothic" pitchFamily="34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4749513" y="1701477"/>
            <a:ext cx="1509540" cy="1995053"/>
          </a:xfrm>
          <a:prstGeom prst="rect">
            <a:avLst/>
          </a:prstGeom>
          <a:solidFill>
            <a:schemeClr val="accent1">
              <a:alpha val="52000"/>
            </a:schemeClr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/>
            <a:endParaRPr lang="en-GB" sz="1800" u="sng" dirty="0">
              <a:solidFill>
                <a:schemeClr val="bg1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891869" y="1988265"/>
            <a:ext cx="1230284" cy="45304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P1</a:t>
            </a:r>
            <a:endParaRPr kumimoji="0" lang="en-GB" sz="12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4574779" y="1684529"/>
            <a:ext cx="1878676" cy="289512"/>
          </a:xfrm>
          <a:prstGeom prst="rect">
            <a:avLst/>
          </a:prstGeom>
          <a:noFill/>
          <a:ln w="12700" cap="flat" cmpd="sng" algn="ctr">
            <a:noFill/>
            <a:prstDash val="dash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Plant I&amp;C Operation</a:t>
            </a:r>
            <a:endParaRPr kumimoji="0" lang="en-GB" sz="14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886933" y="2611721"/>
            <a:ext cx="1235220" cy="461355"/>
          </a:xfrm>
          <a:prstGeom prst="rect">
            <a:avLst/>
          </a:prstGeom>
          <a:pattFill prst="pct90">
            <a:fgClr>
              <a:srgbClr val="5B9BD5"/>
            </a:fgClr>
            <a:bgClr>
              <a:prstClr val="white"/>
            </a:bgClr>
          </a:pattFill>
          <a:ln>
            <a:noFill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P6</a:t>
            </a:r>
            <a:endParaRPr kumimoji="0" lang="en-GB" sz="12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5202946" y="2133738"/>
            <a:ext cx="856601" cy="20781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P2</a:t>
            </a:r>
            <a:endParaRPr kumimoji="0" lang="en-GB" sz="12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4891869" y="3166594"/>
            <a:ext cx="1230284" cy="45304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P3</a:t>
            </a:r>
            <a:endParaRPr kumimoji="0" lang="en-GB" sz="12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5202946" y="3312067"/>
            <a:ext cx="856601" cy="20781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P4</a:t>
            </a:r>
            <a:endParaRPr kumimoji="0" lang="en-GB" sz="12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749660" y="1738884"/>
            <a:ext cx="1509540" cy="1995053"/>
          </a:xfrm>
          <a:prstGeom prst="rect">
            <a:avLst/>
          </a:prstGeom>
          <a:solidFill>
            <a:schemeClr val="accent1">
              <a:alpha val="52000"/>
            </a:schemeClr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/>
            <a:endParaRPr lang="en-GB" sz="1800" u="sng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892016" y="2025672"/>
            <a:ext cx="1230284" cy="45304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P5</a:t>
            </a:r>
            <a:endParaRPr kumimoji="0" lang="en-GB" sz="12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6887080" y="2649128"/>
            <a:ext cx="1235220" cy="46135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P7</a:t>
            </a:r>
            <a:endParaRPr kumimoji="0" lang="en-GB" sz="12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7203093" y="2171145"/>
            <a:ext cx="856601" cy="207819"/>
          </a:xfrm>
          <a:prstGeom prst="rect">
            <a:avLst/>
          </a:prstGeom>
          <a:pattFill prst="pct90">
            <a:fgClr>
              <a:srgbClr val="5B9BD5"/>
            </a:fgClr>
            <a:bgClr>
              <a:sysClr val="window" lastClr="FFFFFF"/>
            </a:bgClr>
          </a:patt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P6</a:t>
            </a:r>
            <a:endParaRPr kumimoji="0" lang="en-GB" sz="12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7" name="Straight Arrow Connector 56"/>
          <p:cNvCxnSpPr>
            <a:stCxn id="56" idx="1"/>
            <a:endCxn id="49" idx="3"/>
          </p:cNvCxnSpPr>
          <p:nvPr/>
        </p:nvCxnSpPr>
        <p:spPr>
          <a:xfrm flipH="1">
            <a:off x="6122153" y="2275055"/>
            <a:ext cx="1080940" cy="567344"/>
          </a:xfrm>
          <a:prstGeom prst="straightConnector1">
            <a:avLst/>
          </a:prstGeom>
          <a:noFill/>
          <a:ln w="50800" cap="flat" cmpd="sng" algn="ctr">
            <a:solidFill>
              <a:schemeClr val="bg1"/>
            </a:solidFill>
            <a:prstDash val="solid"/>
            <a:miter lim="800000"/>
            <a:headEnd type="none"/>
            <a:tailEnd type="triangle"/>
          </a:ln>
          <a:effectLst/>
        </p:spPr>
      </p:cxnSp>
      <p:sp>
        <p:nvSpPr>
          <p:cNvPr id="58" name="TextBox 57"/>
          <p:cNvSpPr txBox="1"/>
          <p:nvPr/>
        </p:nvSpPr>
        <p:spPr>
          <a:xfrm>
            <a:off x="6218718" y="2146896"/>
            <a:ext cx="10390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100" dirty="0" smtClean="0">
                <a:solidFill>
                  <a:schemeClr val="bg1"/>
                </a:solidFill>
                <a:latin typeface="Calibri" panose="020F0502020204030204"/>
              </a:rPr>
              <a:t>Shows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100" dirty="0" smtClean="0">
                <a:solidFill>
                  <a:schemeClr val="bg1"/>
                </a:solidFill>
                <a:latin typeface="Calibri" panose="020F0502020204030204"/>
              </a:rPr>
              <a:t>reuse</a:t>
            </a:r>
            <a:endParaRPr lang="en-GB" sz="1100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64" name="Rectangle 63"/>
          <p:cNvSpPr/>
          <p:nvPr/>
        </p:nvSpPr>
        <p:spPr bwMode="auto">
          <a:xfrm>
            <a:off x="118074" y="3750280"/>
            <a:ext cx="4235171" cy="1406912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entury Gothic" pitchFamily="34" charset="0"/>
              </a:rPr>
              <a:t>Acceptance Criteria for Validation</a:t>
            </a:r>
            <a:endParaRPr kumimoji="0" lang="en-US" sz="1800" b="0" i="0" u="none" strike="noStrike" cap="none" normalizeH="0" dirty="0" smtClean="0">
              <a:ln>
                <a:noFill/>
              </a:ln>
              <a:solidFill>
                <a:schemeClr val="bg1"/>
              </a:solidFill>
              <a:effectLst/>
              <a:latin typeface="Century Gothic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dirty="0" smtClean="0">
              <a:ln>
                <a:noFill/>
              </a:ln>
              <a:solidFill>
                <a:schemeClr val="bg1"/>
              </a:solidFill>
              <a:effectLst/>
              <a:latin typeface="Century Gothic" pitchFamily="34" charset="0"/>
            </a:endParaRPr>
          </a:p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sz="1800" dirty="0" smtClean="0">
                <a:solidFill>
                  <a:schemeClr val="bg1"/>
                </a:solidFill>
                <a:latin typeface="Century Gothic" pitchFamily="34" charset="0"/>
              </a:rPr>
              <a:t>AC1</a:t>
            </a:r>
          </a:p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sz="1800" dirty="0" smtClean="0">
                <a:solidFill>
                  <a:schemeClr val="bg1"/>
                </a:solidFill>
                <a:latin typeface="Century Gothic" pitchFamily="34" charset="0"/>
              </a:rPr>
              <a:t>AC2</a:t>
            </a:r>
            <a:endParaRPr lang="en-US" sz="1200" dirty="0" smtClean="0">
              <a:solidFill>
                <a:schemeClr val="bg1"/>
              </a:solidFill>
              <a:latin typeface="Century Gothic" pitchFamily="34" charset="0"/>
            </a:endParaRPr>
          </a:p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1200" dirty="0" smtClean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65" name="Rectangle 64"/>
          <p:cNvSpPr/>
          <p:nvPr/>
        </p:nvSpPr>
        <p:spPr bwMode="auto">
          <a:xfrm>
            <a:off x="161041" y="4057184"/>
            <a:ext cx="2014962" cy="944670"/>
          </a:xfrm>
          <a:prstGeom prst="rect">
            <a:avLst/>
          </a:prstGeom>
          <a:solidFill>
            <a:schemeClr val="accent1">
              <a:alpha val="52000"/>
            </a:schemeClr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sng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entury Gothic" pitchFamily="34" charset="0"/>
              </a:rPr>
              <a:t>Cat1</a:t>
            </a:r>
            <a:endParaRPr kumimoji="0" lang="en-GB" sz="1600" b="0" i="0" u="sng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Century Gothic" pitchFamily="34" charset="0"/>
            </a:endParaRPr>
          </a:p>
        </p:txBody>
      </p:sp>
      <p:sp>
        <p:nvSpPr>
          <p:cNvPr id="66" name="Rectangle 65"/>
          <p:cNvSpPr/>
          <p:nvPr/>
        </p:nvSpPr>
        <p:spPr bwMode="auto">
          <a:xfrm>
            <a:off x="2311429" y="4054617"/>
            <a:ext cx="1116755" cy="944670"/>
          </a:xfrm>
          <a:prstGeom prst="rect">
            <a:avLst/>
          </a:prstGeom>
          <a:solidFill>
            <a:schemeClr val="accent1">
              <a:alpha val="52000"/>
            </a:schemeClr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sng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entury Gothic" pitchFamily="34" charset="0"/>
              </a:rPr>
              <a:t>Cat2</a:t>
            </a:r>
            <a:endParaRPr kumimoji="0" lang="en-GB" sz="1800" b="0" i="0" u="sng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Century Gothic" pitchFamily="34" charset="0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4749512" y="4571123"/>
            <a:ext cx="1940213" cy="1471499"/>
          </a:xfrm>
          <a:prstGeom prst="rect">
            <a:avLst/>
          </a:prstGeom>
          <a:solidFill>
            <a:schemeClr val="accent1">
              <a:alpha val="52000"/>
            </a:schemeClr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/>
            <a:endParaRPr lang="en-GB" sz="1800" u="sng" dirty="0">
              <a:solidFill>
                <a:schemeClr val="bg1"/>
              </a:solidFill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6810957" y="4571122"/>
            <a:ext cx="581187" cy="1471499"/>
          </a:xfrm>
          <a:prstGeom prst="rect">
            <a:avLst/>
          </a:prstGeom>
          <a:solidFill>
            <a:schemeClr val="accent1">
              <a:alpha val="52000"/>
            </a:schemeClr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/>
            <a:r>
              <a:rPr lang="en-US" sz="1800" dirty="0" smtClean="0">
                <a:solidFill>
                  <a:schemeClr val="bg1"/>
                </a:solidFill>
              </a:rPr>
              <a:t>DPC</a:t>
            </a:r>
            <a:endParaRPr lang="en-GB" sz="1800" dirty="0">
              <a:solidFill>
                <a:schemeClr val="bg1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440294" y="2162709"/>
            <a:ext cx="9361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bg1"/>
                </a:solidFill>
              </a:rPr>
              <a:t>…</a:t>
            </a:r>
            <a:endParaRPr lang="en-GB" sz="4800" dirty="0">
              <a:solidFill>
                <a:schemeClr val="bg1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3431998" y="3914435"/>
            <a:ext cx="9361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bg1"/>
                </a:solidFill>
              </a:rPr>
              <a:t>…</a:t>
            </a:r>
            <a:endParaRPr lang="en-GB" sz="4800" dirty="0">
              <a:solidFill>
                <a:schemeClr val="bg1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8286925" y="2063218"/>
            <a:ext cx="9361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bg1"/>
                </a:solidFill>
              </a:rPr>
              <a:t>…</a:t>
            </a:r>
            <a:endParaRPr lang="en-GB" sz="4800" dirty="0">
              <a:solidFill>
                <a:schemeClr val="bg1"/>
              </a:solidFill>
            </a:endParaRPr>
          </a:p>
        </p:txBody>
      </p:sp>
      <p:sp>
        <p:nvSpPr>
          <p:cNvPr id="78" name="Rectangle 77"/>
          <p:cNvSpPr/>
          <p:nvPr/>
        </p:nvSpPr>
        <p:spPr bwMode="auto">
          <a:xfrm>
            <a:off x="9192344" y="759142"/>
            <a:ext cx="2959759" cy="1866414"/>
          </a:xfrm>
          <a:prstGeom prst="rect">
            <a:avLst/>
          </a:prstGeom>
          <a:ln>
            <a:solidFill>
              <a:schemeClr val="accent1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>
                <a:solidFill>
                  <a:schemeClr val="bg1"/>
                </a:solidFill>
                <a:latin typeface="Century Gothic" pitchFamily="34" charset="0"/>
              </a:rPr>
              <a:t>Signals and Components+</a:t>
            </a:r>
          </a:p>
          <a:p>
            <a:pPr algn="ctr" eaLnBrk="0" hangingPunct="0"/>
            <a:r>
              <a:rPr lang="en-US" sz="1600" dirty="0">
                <a:solidFill>
                  <a:schemeClr val="bg1"/>
                </a:solidFill>
                <a:latin typeface="Century Gothic" pitchFamily="34" charset="0"/>
              </a:rPr>
              <a:t>Hardware </a:t>
            </a:r>
            <a:r>
              <a:rPr lang="en-US" sz="1600" dirty="0" smtClean="0">
                <a:solidFill>
                  <a:schemeClr val="bg1"/>
                </a:solidFill>
                <a:latin typeface="Century Gothic" pitchFamily="34" charset="0"/>
              </a:rPr>
              <a:t>Architecture</a:t>
            </a:r>
          </a:p>
          <a:p>
            <a:pPr algn="ctr" eaLnBrk="0" hangingPunct="0"/>
            <a:r>
              <a:rPr lang="en-US" sz="1600" b="1" dirty="0" smtClean="0">
                <a:solidFill>
                  <a:srgbClr val="FFFF00"/>
                </a:solidFill>
                <a:latin typeface="Century Gothic" pitchFamily="34" charset="0"/>
              </a:rPr>
              <a:t>(WHERE/WHO)</a:t>
            </a:r>
            <a:r>
              <a:rPr lang="en-US" sz="1600" dirty="0" smtClean="0">
                <a:solidFill>
                  <a:schemeClr val="bg1"/>
                </a:solidFill>
                <a:latin typeface="Century Gothic" pitchFamily="3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Century Gothic" pitchFamily="34" charset="0"/>
              </a:rPr>
              <a:t>+ </a:t>
            </a:r>
          </a:p>
          <a:p>
            <a:pPr algn="ctr" eaLnBrk="0" hangingPunct="0"/>
            <a:r>
              <a:rPr lang="en-US" sz="1600" dirty="0">
                <a:solidFill>
                  <a:schemeClr val="bg1"/>
                </a:solidFill>
                <a:latin typeface="Century Gothic" pitchFamily="34" charset="0"/>
              </a:rPr>
              <a:t>Cubicle Configuration +</a:t>
            </a:r>
          </a:p>
          <a:p>
            <a:pPr algn="ctr" eaLnBrk="0" hangingPunct="0"/>
            <a:r>
              <a:rPr lang="en-US" sz="1600" dirty="0">
                <a:solidFill>
                  <a:schemeClr val="bg1"/>
                </a:solidFill>
                <a:latin typeface="Century Gothic" pitchFamily="34" charset="0"/>
              </a:rPr>
              <a:t>BOM</a:t>
            </a:r>
          </a:p>
          <a:p>
            <a:pPr algn="ctr" eaLnBrk="0" hangingPunct="0"/>
            <a:r>
              <a:rPr lang="en-US" sz="1600" dirty="0">
                <a:solidFill>
                  <a:schemeClr val="bg1"/>
                </a:solidFill>
                <a:latin typeface="Century Gothic" pitchFamily="34" charset="0"/>
              </a:rPr>
              <a:t>Obsolescence Management</a:t>
            </a:r>
          </a:p>
          <a:p>
            <a:pPr algn="ctr" eaLnBrk="0" hangingPunct="0"/>
            <a:r>
              <a:rPr lang="en-US" sz="1600" dirty="0">
                <a:solidFill>
                  <a:schemeClr val="bg1"/>
                </a:solidFill>
                <a:latin typeface="Century Gothic" pitchFamily="34" charset="0"/>
              </a:rPr>
              <a:t>with ITER part no.</a:t>
            </a:r>
          </a:p>
        </p:txBody>
      </p:sp>
      <p:sp>
        <p:nvSpPr>
          <p:cNvPr id="79" name="Rectangle 78"/>
          <p:cNvSpPr/>
          <p:nvPr/>
        </p:nvSpPr>
        <p:spPr bwMode="auto">
          <a:xfrm>
            <a:off x="118073" y="5297374"/>
            <a:ext cx="4235171" cy="939938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entury Gothic" pitchFamily="34" charset="0"/>
              </a:rPr>
              <a:t>Test Scenarios</a:t>
            </a:r>
            <a:endParaRPr kumimoji="0" lang="en-US" sz="1800" b="0" i="0" u="none" strike="noStrike" cap="none" normalizeH="0" dirty="0" smtClean="0">
              <a:ln>
                <a:noFill/>
              </a:ln>
              <a:solidFill>
                <a:schemeClr val="bg1"/>
              </a:solidFill>
              <a:effectLst/>
              <a:latin typeface="Century Gothic" pitchFamily="34" charset="0"/>
            </a:endParaRPr>
          </a:p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sz="1800" dirty="0" smtClean="0">
                <a:solidFill>
                  <a:schemeClr val="bg1"/>
                </a:solidFill>
                <a:latin typeface="Century Gothic" pitchFamily="34" charset="0"/>
              </a:rPr>
              <a:t>TS1</a:t>
            </a:r>
          </a:p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sz="1800" dirty="0" smtClean="0">
                <a:solidFill>
                  <a:schemeClr val="bg1"/>
                </a:solidFill>
                <a:latin typeface="Century Gothic" pitchFamily="34" charset="0"/>
              </a:rPr>
              <a:t>TS2</a:t>
            </a:r>
            <a:endParaRPr lang="en-US" sz="1200" dirty="0" smtClean="0">
              <a:solidFill>
                <a:schemeClr val="bg1"/>
              </a:solidFill>
              <a:latin typeface="Century Gothic" pitchFamily="34" charset="0"/>
            </a:endParaRPr>
          </a:p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1200" dirty="0" smtClean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80" name="Rectangle 79"/>
          <p:cNvSpPr/>
          <p:nvPr/>
        </p:nvSpPr>
        <p:spPr bwMode="auto">
          <a:xfrm>
            <a:off x="9192344" y="2695208"/>
            <a:ext cx="2959759" cy="2267424"/>
          </a:xfrm>
          <a:prstGeom prst="rect">
            <a:avLst/>
          </a:prstGeom>
          <a:ln>
            <a:solidFill>
              <a:schemeClr val="accent1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>
                <a:solidFill>
                  <a:schemeClr val="bg1"/>
                </a:solidFill>
                <a:latin typeface="Century Gothic" pitchFamily="34" charset="0"/>
              </a:rPr>
              <a:t>State Machine</a:t>
            </a:r>
          </a:p>
        </p:txBody>
      </p:sp>
      <p:sp>
        <p:nvSpPr>
          <p:cNvPr id="81" name="Rectangle 80"/>
          <p:cNvSpPr/>
          <p:nvPr/>
        </p:nvSpPr>
        <p:spPr bwMode="auto">
          <a:xfrm>
            <a:off x="9192344" y="5042087"/>
            <a:ext cx="1521203" cy="357381"/>
          </a:xfrm>
          <a:prstGeom prst="rect">
            <a:avLst/>
          </a:prstGeom>
          <a:ln>
            <a:solidFill>
              <a:schemeClr val="accent1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>
                <a:solidFill>
                  <a:schemeClr val="bg1"/>
                </a:solidFill>
                <a:latin typeface="Century Gothic" pitchFamily="34" charset="0"/>
              </a:rPr>
              <a:t>HMI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401236" y="3010796"/>
            <a:ext cx="1671276" cy="1794138"/>
          </a:xfrm>
          <a:prstGeom prst="rect">
            <a:avLst/>
          </a:prstGeom>
          <a:solidFill>
            <a:schemeClr val="accent1">
              <a:alpha val="52000"/>
            </a:schemeClr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/>
            <a:endParaRPr lang="en-GB" sz="1800" u="sng" dirty="0">
              <a:solidFill>
                <a:schemeClr val="bg1"/>
              </a:solidFill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11171279" y="3142986"/>
            <a:ext cx="9361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bg1"/>
                </a:solidFill>
              </a:rPr>
              <a:t>…</a:t>
            </a:r>
            <a:endParaRPr lang="en-GB" sz="4800" dirty="0">
              <a:solidFill>
                <a:schemeClr val="bg1"/>
              </a:solidFill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9606212" y="3413537"/>
            <a:ext cx="1235220" cy="56044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Conditions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9606212" y="4090916"/>
            <a:ext cx="1235220" cy="56854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Procedures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 smtClean="0">
                <a:solidFill>
                  <a:schemeClr val="bg1"/>
                </a:solidFill>
                <a:latin typeface="Calibri" panose="020F0502020204030204"/>
              </a:rPr>
              <a:t>(Entry, Do, Exit)</a:t>
            </a:r>
            <a:endParaRPr kumimoji="0" lang="en-US" sz="12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 smtClean="0">
                <a:solidFill>
                  <a:schemeClr val="bg1"/>
                </a:solidFill>
                <a:latin typeface="Calibri" panose="020F0502020204030204"/>
              </a:rPr>
              <a:t>P5, P7</a:t>
            </a:r>
            <a:endParaRPr kumimoji="0" lang="en-GB" sz="12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560713" y="1726184"/>
            <a:ext cx="1878676" cy="187035"/>
          </a:xfrm>
          <a:prstGeom prst="rect">
            <a:avLst/>
          </a:prstGeom>
          <a:noFill/>
          <a:ln w="12700" cap="flat" cmpd="sng" algn="ctr">
            <a:noFill/>
            <a:prstDash val="dash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Maintenance</a:t>
            </a:r>
            <a:endParaRPr kumimoji="0" lang="en-GB" sz="14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9284484" y="3010796"/>
            <a:ext cx="1878676" cy="376014"/>
          </a:xfrm>
          <a:prstGeom prst="rect">
            <a:avLst/>
          </a:prstGeom>
          <a:noFill/>
          <a:ln w="12700" cap="flat" cmpd="sng" algn="ctr">
            <a:noFill/>
            <a:prstDash val="dash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State 1</a:t>
            </a:r>
            <a:endParaRPr kumimoji="0" lang="en-GB" sz="14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" name="Rectangle 87"/>
          <p:cNvSpPr/>
          <p:nvPr/>
        </p:nvSpPr>
        <p:spPr bwMode="auto">
          <a:xfrm>
            <a:off x="10741565" y="5032284"/>
            <a:ext cx="1410538" cy="383904"/>
          </a:xfrm>
          <a:prstGeom prst="rect">
            <a:avLst/>
          </a:prstGeom>
          <a:ln>
            <a:solidFill>
              <a:schemeClr val="accent1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>
                <a:solidFill>
                  <a:schemeClr val="bg1"/>
                </a:solidFill>
                <a:latin typeface="Century Gothic" pitchFamily="34" charset="0"/>
              </a:rPr>
              <a:t>Algorithms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876968" y="4745432"/>
            <a:ext cx="1723087" cy="45304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 smtClean="0">
                <a:solidFill>
                  <a:schemeClr val="bg1"/>
                </a:solidFill>
                <a:latin typeface="Calibri" panose="020F0502020204030204"/>
              </a:rPr>
              <a:t>F1</a:t>
            </a:r>
            <a:endParaRPr kumimoji="0" lang="en-GB" sz="12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5188046" y="4890905"/>
            <a:ext cx="1347490" cy="20781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>
                <a:solidFill>
                  <a:schemeClr val="bg1"/>
                </a:solidFill>
                <a:latin typeface="Calibri" panose="020F0502020204030204"/>
              </a:rPr>
              <a:t>F</a:t>
            </a: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GB" sz="12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4876969" y="5408924"/>
            <a:ext cx="1586996" cy="45304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 smtClean="0">
                <a:solidFill>
                  <a:schemeClr val="bg1"/>
                </a:solidFill>
                <a:latin typeface="Calibri" panose="020F0502020204030204"/>
              </a:rPr>
              <a:t>F</a:t>
            </a:r>
            <a:r>
              <a:rPr lang="en-US" sz="1200" kern="0" dirty="0">
                <a:solidFill>
                  <a:schemeClr val="bg1"/>
                </a:solidFill>
                <a:latin typeface="Calibri" panose="020F0502020204030204"/>
              </a:rPr>
              <a:t>3</a:t>
            </a:r>
            <a:endParaRPr kumimoji="0" lang="en-GB" sz="12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5188046" y="5554397"/>
            <a:ext cx="1123978" cy="20781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 smtClean="0">
                <a:solidFill>
                  <a:schemeClr val="bg1"/>
                </a:solidFill>
                <a:latin typeface="Calibri" panose="020F0502020204030204"/>
              </a:rPr>
              <a:t>F4</a:t>
            </a:r>
            <a:endParaRPr kumimoji="0" lang="en-GB" sz="12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Oval 76"/>
          <p:cNvSpPr/>
          <p:nvPr/>
        </p:nvSpPr>
        <p:spPr bwMode="auto">
          <a:xfrm>
            <a:off x="5951984" y="4903873"/>
            <a:ext cx="189871" cy="180848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Century Gothic" pitchFamily="34" charset="0"/>
              </a:rPr>
              <a:t>V1</a:t>
            </a:r>
            <a:endParaRPr kumimoji="0" lang="en-GB" sz="6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Century Gothic" pitchFamily="34" charset="0"/>
            </a:endParaRPr>
          </a:p>
        </p:txBody>
      </p:sp>
      <p:sp>
        <p:nvSpPr>
          <p:cNvPr id="97" name="Oval 96"/>
          <p:cNvSpPr/>
          <p:nvPr/>
        </p:nvSpPr>
        <p:spPr bwMode="auto">
          <a:xfrm>
            <a:off x="6154468" y="4903873"/>
            <a:ext cx="189871" cy="180848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Century Gothic" pitchFamily="34" charset="0"/>
              </a:rPr>
              <a:t>V2</a:t>
            </a:r>
            <a:endParaRPr kumimoji="0" lang="en-GB" sz="6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Century Gothic" pitchFamily="34" charset="0"/>
            </a:endParaRPr>
          </a:p>
        </p:txBody>
      </p:sp>
      <p:sp>
        <p:nvSpPr>
          <p:cNvPr id="98" name="Oval 97"/>
          <p:cNvSpPr/>
          <p:nvPr/>
        </p:nvSpPr>
        <p:spPr bwMode="auto">
          <a:xfrm>
            <a:off x="5962304" y="5578734"/>
            <a:ext cx="189871" cy="180848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Century Gothic" pitchFamily="34" charset="0"/>
              </a:rPr>
              <a:t>V3</a:t>
            </a:r>
            <a:endParaRPr kumimoji="0" lang="en-GB" sz="6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Century Gothic" pitchFamily="34" charset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7319308" y="4636044"/>
            <a:ext cx="9361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bg1"/>
                </a:solidFill>
              </a:rPr>
              <a:t>…</a:t>
            </a:r>
            <a:endParaRPr lang="en-GB" sz="4800" dirty="0">
              <a:solidFill>
                <a:schemeClr val="bg1"/>
              </a:solidFill>
            </a:endParaRPr>
          </a:p>
        </p:txBody>
      </p:sp>
      <p:sp>
        <p:nvSpPr>
          <p:cNvPr id="100" name="Rectangle 99"/>
          <p:cNvSpPr/>
          <p:nvPr/>
        </p:nvSpPr>
        <p:spPr bwMode="auto">
          <a:xfrm>
            <a:off x="7978090" y="4125991"/>
            <a:ext cx="1066605" cy="1031201"/>
          </a:xfrm>
          <a:prstGeom prst="rect">
            <a:avLst/>
          </a:prstGeom>
          <a:ln>
            <a:solidFill>
              <a:schemeClr val="accent1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entury Gothic" pitchFamily="34" charset="0"/>
              </a:rPr>
              <a:t>SYSM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 smtClean="0">
                <a:solidFill>
                  <a:schemeClr val="bg1"/>
                </a:solidFill>
                <a:latin typeface="Century Gothic" pitchFamily="34" charset="0"/>
              </a:rPr>
              <a:t>Variables</a:t>
            </a:r>
            <a:endParaRPr kumimoji="0" lang="en-US" sz="2000" b="0" i="0" u="none" strike="noStrike" cap="none" normalizeH="0" dirty="0" smtClean="0">
              <a:ln>
                <a:noFill/>
              </a:ln>
              <a:solidFill>
                <a:schemeClr val="bg1"/>
              </a:solidFill>
              <a:effectLst/>
              <a:latin typeface="Century Gothic" pitchFamily="34" charset="0"/>
            </a:endParaRPr>
          </a:p>
        </p:txBody>
      </p:sp>
      <p:sp>
        <p:nvSpPr>
          <p:cNvPr id="101" name="Rectangle 100"/>
          <p:cNvSpPr/>
          <p:nvPr/>
        </p:nvSpPr>
        <p:spPr bwMode="auto">
          <a:xfrm>
            <a:off x="7978090" y="5133306"/>
            <a:ext cx="1066605" cy="1127834"/>
          </a:xfrm>
          <a:prstGeom prst="rect">
            <a:avLst/>
          </a:prstGeom>
          <a:ln>
            <a:solidFill>
              <a:schemeClr val="accent1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>
                <a:solidFill>
                  <a:schemeClr val="bg1"/>
                </a:solidFill>
                <a:latin typeface="Century Gothic" pitchFamily="34" charset="0"/>
              </a:rPr>
              <a:t>NDS</a:t>
            </a:r>
          </a:p>
          <a:p>
            <a:pPr algn="ctr" eaLnBrk="0" hangingPunct="0"/>
            <a:r>
              <a:rPr lang="en-US" sz="1600" dirty="0">
                <a:solidFill>
                  <a:schemeClr val="bg1"/>
                </a:solidFill>
                <a:latin typeface="Century Gothic" pitchFamily="34" charset="0"/>
              </a:rPr>
              <a:t>Variables</a:t>
            </a:r>
          </a:p>
        </p:txBody>
      </p:sp>
      <p:sp>
        <p:nvSpPr>
          <p:cNvPr id="103" name="Oval 102"/>
          <p:cNvSpPr/>
          <p:nvPr/>
        </p:nvSpPr>
        <p:spPr bwMode="auto">
          <a:xfrm>
            <a:off x="8052648" y="4797178"/>
            <a:ext cx="189871" cy="180848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Century Gothic" pitchFamily="34" charset="0"/>
              </a:rPr>
              <a:t>V4</a:t>
            </a:r>
            <a:endParaRPr kumimoji="0" lang="en-GB" sz="6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Century Gothic" pitchFamily="34" charset="0"/>
            </a:endParaRPr>
          </a:p>
        </p:txBody>
      </p:sp>
      <p:sp>
        <p:nvSpPr>
          <p:cNvPr id="104" name="Oval 103"/>
          <p:cNvSpPr/>
          <p:nvPr/>
        </p:nvSpPr>
        <p:spPr bwMode="auto">
          <a:xfrm>
            <a:off x="8286925" y="4797178"/>
            <a:ext cx="189871" cy="180848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Century Gothic" pitchFamily="34" charset="0"/>
              </a:rPr>
              <a:t>V5</a:t>
            </a:r>
            <a:endParaRPr kumimoji="0" lang="en-GB" sz="6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Century Gothic" pitchFamily="34" charset="0"/>
            </a:endParaRPr>
          </a:p>
        </p:txBody>
      </p:sp>
      <p:sp>
        <p:nvSpPr>
          <p:cNvPr id="105" name="Oval 104"/>
          <p:cNvSpPr/>
          <p:nvPr/>
        </p:nvSpPr>
        <p:spPr bwMode="auto">
          <a:xfrm>
            <a:off x="8096984" y="5835744"/>
            <a:ext cx="189871" cy="180848"/>
          </a:xfrm>
          <a:prstGeom prst="ellipse">
            <a:avLst/>
          </a:prstGeom>
          <a:solidFill>
            <a:srgbClr val="00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Century Gothic" pitchFamily="34" charset="0"/>
              </a:rPr>
              <a:t>V6</a:t>
            </a:r>
            <a:endParaRPr kumimoji="0" lang="en-GB" sz="6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Century Gothic" pitchFamily="34" charset="0"/>
            </a:endParaRPr>
          </a:p>
        </p:txBody>
      </p:sp>
      <p:sp>
        <p:nvSpPr>
          <p:cNvPr id="106" name="Oval 105"/>
          <p:cNvSpPr/>
          <p:nvPr/>
        </p:nvSpPr>
        <p:spPr bwMode="auto">
          <a:xfrm>
            <a:off x="8325111" y="5835744"/>
            <a:ext cx="189871" cy="180848"/>
          </a:xfrm>
          <a:prstGeom prst="ellipse">
            <a:avLst/>
          </a:prstGeom>
          <a:solidFill>
            <a:srgbClr val="00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Century Gothic" pitchFamily="34" charset="0"/>
              </a:rPr>
              <a:t>V7</a:t>
            </a:r>
            <a:endParaRPr kumimoji="0" lang="en-GB" sz="6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Century Gothic" pitchFamily="34" charset="0"/>
            </a:endParaRPr>
          </a:p>
        </p:txBody>
      </p:sp>
      <p:sp>
        <p:nvSpPr>
          <p:cNvPr id="107" name="Oval 106"/>
          <p:cNvSpPr/>
          <p:nvPr/>
        </p:nvSpPr>
        <p:spPr bwMode="auto">
          <a:xfrm>
            <a:off x="5209797" y="4903873"/>
            <a:ext cx="189871" cy="180848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Century Gothic" pitchFamily="34" charset="0"/>
              </a:rPr>
              <a:t>V9</a:t>
            </a:r>
            <a:endParaRPr kumimoji="0" lang="en-GB" sz="6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Century Gothic" pitchFamily="34" charset="0"/>
            </a:endParaRPr>
          </a:p>
        </p:txBody>
      </p:sp>
      <p:sp>
        <p:nvSpPr>
          <p:cNvPr id="108" name="Oval 107"/>
          <p:cNvSpPr/>
          <p:nvPr/>
        </p:nvSpPr>
        <p:spPr bwMode="auto">
          <a:xfrm>
            <a:off x="5379237" y="4903873"/>
            <a:ext cx="189871" cy="180848"/>
          </a:xfrm>
          <a:prstGeom prst="ellipse">
            <a:avLst/>
          </a:prstGeom>
          <a:solidFill>
            <a:srgbClr val="00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Century Gothic" pitchFamily="34" charset="0"/>
              </a:rPr>
              <a:t>V8</a:t>
            </a:r>
            <a:endParaRPr kumimoji="0" lang="en-GB" sz="6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Century Gothic" pitchFamily="34" charset="0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8328248" y="4292918"/>
            <a:ext cx="9361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bg1"/>
                </a:solidFill>
              </a:rPr>
              <a:t>…</a:t>
            </a:r>
            <a:endParaRPr lang="en-GB" sz="4800" dirty="0">
              <a:solidFill>
                <a:schemeClr val="bg1"/>
              </a:solidFill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8380712" y="5329860"/>
            <a:ext cx="9361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bg1"/>
                </a:solidFill>
              </a:rPr>
              <a:t>…</a:t>
            </a:r>
            <a:endParaRPr lang="en-GB" sz="4800" dirty="0">
              <a:solidFill>
                <a:schemeClr val="bg1"/>
              </a:solidFill>
            </a:endParaRPr>
          </a:p>
        </p:txBody>
      </p:sp>
      <p:sp>
        <p:nvSpPr>
          <p:cNvPr id="112" name="Oval 111"/>
          <p:cNvSpPr/>
          <p:nvPr/>
        </p:nvSpPr>
        <p:spPr bwMode="auto">
          <a:xfrm>
            <a:off x="5561780" y="4903873"/>
            <a:ext cx="189871" cy="180848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Century Gothic" pitchFamily="34" charset="0"/>
              </a:rPr>
              <a:t>V11</a:t>
            </a:r>
            <a:endParaRPr kumimoji="0" lang="en-GB" sz="6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Century Gothic" pitchFamily="34" charset="0"/>
            </a:endParaRPr>
          </a:p>
        </p:txBody>
      </p:sp>
      <p:sp>
        <p:nvSpPr>
          <p:cNvPr id="113" name="Oval 112"/>
          <p:cNvSpPr/>
          <p:nvPr/>
        </p:nvSpPr>
        <p:spPr bwMode="auto">
          <a:xfrm>
            <a:off x="6332955" y="4903873"/>
            <a:ext cx="189871" cy="180848"/>
          </a:xfrm>
          <a:prstGeom prst="ellipse">
            <a:avLst/>
          </a:prstGeom>
          <a:solidFill>
            <a:srgbClr val="00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Century Gothic" pitchFamily="34" charset="0"/>
              </a:rPr>
              <a:t>V12</a:t>
            </a:r>
            <a:endParaRPr kumimoji="0" lang="en-GB" sz="6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Century Gothic" pitchFamily="34" charset="0"/>
            </a:endParaRPr>
          </a:p>
        </p:txBody>
      </p:sp>
      <p:sp>
        <p:nvSpPr>
          <p:cNvPr id="114" name="Oval 113"/>
          <p:cNvSpPr/>
          <p:nvPr/>
        </p:nvSpPr>
        <p:spPr bwMode="auto">
          <a:xfrm>
            <a:off x="9757192" y="3702779"/>
            <a:ext cx="189871" cy="180848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Century Gothic" pitchFamily="34" charset="0"/>
              </a:rPr>
              <a:t>V22</a:t>
            </a:r>
            <a:endParaRPr kumimoji="0" lang="en-GB" sz="6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Century Gothic" pitchFamily="34" charset="0"/>
            </a:endParaRPr>
          </a:p>
        </p:txBody>
      </p:sp>
      <p:sp>
        <p:nvSpPr>
          <p:cNvPr id="115" name="Oval 114"/>
          <p:cNvSpPr/>
          <p:nvPr/>
        </p:nvSpPr>
        <p:spPr bwMode="auto">
          <a:xfrm>
            <a:off x="10029327" y="3702779"/>
            <a:ext cx="189871" cy="180848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Century Gothic" pitchFamily="34" charset="0"/>
              </a:rPr>
              <a:t>V23</a:t>
            </a:r>
            <a:endParaRPr kumimoji="0" lang="en-GB" sz="6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Century Gothic" pitchFamily="34" charset="0"/>
            </a:endParaRPr>
          </a:p>
        </p:txBody>
      </p:sp>
      <p:cxnSp>
        <p:nvCxnSpPr>
          <p:cNvPr id="6144" name="Curved Connector 6143"/>
          <p:cNvCxnSpPr>
            <a:stCxn id="50" idx="3"/>
            <a:endCxn id="90" idx="0"/>
          </p:cNvCxnSpPr>
          <p:nvPr/>
        </p:nvCxnSpPr>
        <p:spPr bwMode="auto">
          <a:xfrm flipH="1">
            <a:off x="5861791" y="2237648"/>
            <a:ext cx="197756" cy="2653257"/>
          </a:xfrm>
          <a:prstGeom prst="curvedConnector4">
            <a:avLst>
              <a:gd name="adj1" fmla="val -115597"/>
              <a:gd name="adj2" fmla="val 51958"/>
            </a:avLst>
          </a:prstGeom>
          <a:ln>
            <a:solidFill>
              <a:srgbClr val="FF3300"/>
            </a:solidFill>
            <a:headEnd type="none" w="med" len="med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6145" name="TextBox 6144"/>
          <p:cNvSpPr txBox="1"/>
          <p:nvPr/>
        </p:nvSpPr>
        <p:spPr>
          <a:xfrm>
            <a:off x="6453455" y="3164318"/>
            <a:ext cx="3224297" cy="830997"/>
          </a:xfrm>
          <a:prstGeom prst="rect">
            <a:avLst/>
          </a:prstGeom>
          <a:solidFill>
            <a:srgbClr val="00FFFF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Procedure to Function Mapping</a:t>
            </a:r>
            <a:endParaRPr lang="en-GB" b="1" dirty="0">
              <a:solidFill>
                <a:schemeClr val="bg1"/>
              </a:solidFill>
            </a:endParaRPr>
          </a:p>
        </p:txBody>
      </p:sp>
      <p:cxnSp>
        <p:nvCxnSpPr>
          <p:cNvPr id="119" name="Curved Connector 118"/>
          <p:cNvCxnSpPr>
            <a:stCxn id="15" idx="3"/>
            <a:endCxn id="92" idx="0"/>
          </p:cNvCxnSpPr>
          <p:nvPr/>
        </p:nvCxnSpPr>
        <p:spPr bwMode="auto">
          <a:xfrm>
            <a:off x="3440294" y="2759519"/>
            <a:ext cx="2309741" cy="2794878"/>
          </a:xfrm>
          <a:prstGeom prst="curvedConnector2">
            <a:avLst/>
          </a:prstGeom>
          <a:ln>
            <a:solidFill>
              <a:srgbClr val="FF3300"/>
            </a:solidFill>
            <a:headEnd type="none" w="med" len="med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2156061" y="3123867"/>
            <a:ext cx="3224297" cy="1938992"/>
          </a:xfrm>
          <a:prstGeom prst="rect">
            <a:avLst/>
          </a:prstGeom>
          <a:solidFill>
            <a:srgbClr val="00FFFF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Requirement category to supporting functions mapping for Verification</a:t>
            </a:r>
          </a:p>
        </p:txBody>
      </p:sp>
      <p:sp>
        <p:nvSpPr>
          <p:cNvPr id="125" name="Rectangle 124"/>
          <p:cNvSpPr/>
          <p:nvPr/>
        </p:nvSpPr>
        <p:spPr bwMode="auto">
          <a:xfrm>
            <a:off x="9180214" y="6313131"/>
            <a:ext cx="2959759" cy="54486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>
                <a:solidFill>
                  <a:schemeClr val="bg1"/>
                </a:solidFill>
                <a:latin typeface="Century Gothic" pitchFamily="34" charset="0"/>
              </a:rPr>
              <a:t>System Test </a:t>
            </a:r>
            <a:r>
              <a:rPr lang="en-US" sz="1600" dirty="0" smtClean="0">
                <a:solidFill>
                  <a:schemeClr val="bg1"/>
                </a:solidFill>
                <a:latin typeface="Century Gothic" pitchFamily="34" charset="0"/>
              </a:rPr>
              <a:t>Plan</a:t>
            </a:r>
          </a:p>
          <a:p>
            <a:pPr algn="ctr" eaLnBrk="0" hangingPunct="0"/>
            <a:r>
              <a:rPr lang="en-US" sz="1600" dirty="0" smtClean="0">
                <a:solidFill>
                  <a:schemeClr val="bg1"/>
                </a:solidFill>
                <a:latin typeface="Century Gothic" pitchFamily="34" charset="0"/>
              </a:rPr>
              <a:t>Test Case1,…..  </a:t>
            </a:r>
            <a:endParaRPr lang="en-US" sz="1600" dirty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126" name="Rectangle 125"/>
          <p:cNvSpPr/>
          <p:nvPr/>
        </p:nvSpPr>
        <p:spPr bwMode="auto">
          <a:xfrm>
            <a:off x="9180214" y="5890919"/>
            <a:ext cx="2959759" cy="39697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>
                <a:solidFill>
                  <a:schemeClr val="bg1"/>
                </a:solidFill>
                <a:latin typeface="Century Gothic" pitchFamily="34" charset="0"/>
              </a:rPr>
              <a:t>System Manuf. Spec (+MIP)</a:t>
            </a:r>
          </a:p>
        </p:txBody>
      </p:sp>
      <p:cxnSp>
        <p:nvCxnSpPr>
          <p:cNvPr id="134" name="Curved Connector 133"/>
          <p:cNvCxnSpPr>
            <a:stCxn id="125" idx="1"/>
          </p:cNvCxnSpPr>
          <p:nvPr/>
        </p:nvCxnSpPr>
        <p:spPr bwMode="auto">
          <a:xfrm rot="10800000">
            <a:off x="974904" y="4703602"/>
            <a:ext cx="8205311" cy="1881964"/>
          </a:xfrm>
          <a:prstGeom prst="curvedConnector3">
            <a:avLst>
              <a:gd name="adj1" fmla="val 50000"/>
            </a:avLst>
          </a:prstGeom>
          <a:ln>
            <a:solidFill>
              <a:srgbClr val="FF3300"/>
            </a:solidFill>
            <a:headEnd type="none" w="med" len="med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1992838" y="5106392"/>
            <a:ext cx="3224297" cy="1200329"/>
          </a:xfrm>
          <a:prstGeom prst="rect">
            <a:avLst/>
          </a:prstGeom>
          <a:solidFill>
            <a:srgbClr val="00FFFF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Test Cases to Acceptance criteria mapping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879958" y="4502963"/>
            <a:ext cx="1878676" cy="289512"/>
          </a:xfrm>
          <a:prstGeom prst="rect">
            <a:avLst/>
          </a:prstGeom>
          <a:noFill/>
          <a:ln w="12700" cap="flat" cmpd="sng" algn="ctr">
            <a:noFill/>
            <a:prstDash val="dash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FBS1 - DAQ</a:t>
            </a:r>
            <a:endParaRPr kumimoji="0" lang="en-GB" sz="14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4" name="Rectangle 143"/>
          <p:cNvSpPr/>
          <p:nvPr/>
        </p:nvSpPr>
        <p:spPr>
          <a:xfrm>
            <a:off x="4574779" y="5995789"/>
            <a:ext cx="3403311" cy="376014"/>
          </a:xfrm>
          <a:prstGeom prst="rect">
            <a:avLst/>
          </a:prstGeom>
          <a:noFill/>
          <a:ln w="12700" cap="flat" cmpd="sng" algn="ctr">
            <a:noFill/>
            <a:prstDash val="dash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orange</a:t>
            </a:r>
            <a:r>
              <a:rPr kumimoji="0" lang="en-US" sz="1400" b="0" i="0" u="none" strike="noStrike" kern="0" cap="none" spc="0" normalizeH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are the Plant I&amp;C variables</a:t>
            </a:r>
            <a:endParaRPr kumimoji="0" lang="en-GB" sz="14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771859" y="6556245"/>
            <a:ext cx="8230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sz="1400" u="sng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01_Diagnostics Plant I&amp;C Design Process (SRS and SDS) with link to templates and examples (JQLRRK v2.0)</a:t>
            </a:r>
            <a:endParaRPr lang="en-GB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7" name="Rectangle 86"/>
          <p:cNvSpPr/>
          <p:nvPr/>
        </p:nvSpPr>
        <p:spPr bwMode="auto">
          <a:xfrm>
            <a:off x="9192344" y="5427869"/>
            <a:ext cx="1521203" cy="357381"/>
          </a:xfrm>
          <a:prstGeom prst="rect">
            <a:avLst/>
          </a:prstGeom>
          <a:ln>
            <a:solidFill>
              <a:schemeClr val="accent1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smtClean="0">
                <a:solidFill>
                  <a:schemeClr val="bg1"/>
                </a:solidFill>
                <a:latin typeface="Century Gothic" pitchFamily="34" charset="0"/>
              </a:rPr>
              <a:t>Software Arch</a:t>
            </a:r>
            <a:endParaRPr lang="en-US" sz="1600" dirty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93" name="Rectangle 92"/>
          <p:cNvSpPr/>
          <p:nvPr/>
        </p:nvSpPr>
        <p:spPr bwMode="auto">
          <a:xfrm>
            <a:off x="10708758" y="5444589"/>
            <a:ext cx="1431216" cy="357381"/>
          </a:xfrm>
          <a:prstGeom prst="rect">
            <a:avLst/>
          </a:prstGeom>
          <a:ln>
            <a:solidFill>
              <a:schemeClr val="accent1">
                <a:lumMod val="9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 err="1" smtClean="0">
                <a:solidFill>
                  <a:schemeClr val="bg1"/>
                </a:solidFill>
                <a:latin typeface="Century Gothic" pitchFamily="34" charset="0"/>
              </a:rPr>
              <a:t>Config</a:t>
            </a:r>
            <a:r>
              <a:rPr lang="en-US" sz="1600" dirty="0" smtClean="0">
                <a:solidFill>
                  <a:schemeClr val="bg1"/>
                </a:solidFill>
                <a:latin typeface="Century Gothic" pitchFamily="34" charset="0"/>
              </a:rPr>
              <a:t>. </a:t>
            </a:r>
            <a:r>
              <a:rPr lang="en-US" sz="1600" dirty="0" err="1" smtClean="0">
                <a:solidFill>
                  <a:schemeClr val="bg1"/>
                </a:solidFill>
                <a:latin typeface="Century Gothic" pitchFamily="34" charset="0"/>
              </a:rPr>
              <a:t>Objs</a:t>
            </a:r>
            <a:r>
              <a:rPr lang="en-US" sz="1600" dirty="0" smtClean="0">
                <a:solidFill>
                  <a:schemeClr val="bg1"/>
                </a:solidFill>
                <a:latin typeface="Century Gothic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3773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5" grpId="0" animBg="1"/>
      <p:bldP spid="124" grpId="0" animBg="1"/>
      <p:bldP spid="13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spect="1" noChangeArrowheads="1"/>
          </p:cNvSpPr>
          <p:nvPr>
            <p:ph type="title"/>
          </p:nvPr>
        </p:nvSpPr>
        <p:spPr>
          <a:xfrm>
            <a:off x="767408" y="116632"/>
            <a:ext cx="10873208" cy="476250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en-US" sz="280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charset="0"/>
              </a:rPr>
              <a:t>Use Cases and Requirements</a:t>
            </a:r>
            <a:endParaRPr lang="en-US" sz="280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Arial" charset="0"/>
            </a:endParaRPr>
          </a:p>
        </p:txBody>
      </p:sp>
      <p:sp>
        <p:nvSpPr>
          <p:cNvPr id="75" name="TextBox 1"/>
          <p:cNvSpPr txBox="1">
            <a:spLocks noChangeArrowheads="1"/>
          </p:cNvSpPr>
          <p:nvPr/>
        </p:nvSpPr>
        <p:spPr bwMode="auto">
          <a:xfrm>
            <a:off x="119336" y="764806"/>
            <a:ext cx="11953328" cy="4982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7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Most important while writing the use cases are the normal flow steps (which are written from the operator’s perspective)</a:t>
            </a:r>
          </a:p>
          <a:p>
            <a:pPr lvl="1"/>
            <a:r>
              <a:rPr lang="en-US" sz="25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 example of normal flow step is – “</a:t>
            </a:r>
            <a:r>
              <a:rPr lang="en-US" sz="250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Diagnostics Operator</a:t>
            </a:r>
            <a:r>
              <a:rPr lang="en-US" sz="25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500" dirty="0">
                <a:highlight>
                  <a:srgbClr val="00FF00"/>
                </a:highlight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monitors</a:t>
            </a:r>
            <a:r>
              <a:rPr lang="en-US" sz="25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500" dirty="0">
                <a:highlight>
                  <a:srgbClr val="FF00FF"/>
                </a:highlight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(on HMI)</a:t>
            </a:r>
            <a:r>
              <a:rPr lang="en-US" sz="25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500" dirty="0">
                <a:highlight>
                  <a:srgbClr val="A9A9A9"/>
                </a:highlight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error status of</a:t>
            </a:r>
            <a:r>
              <a:rPr lang="en-US" sz="25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500" dirty="0"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devices in the signal chain</a:t>
            </a:r>
            <a:r>
              <a:rPr lang="en-US" sz="25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500" dirty="0">
                <a:highlight>
                  <a:srgbClr val="A9A9A9"/>
                </a:highlight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(to verify that there are no reported </a:t>
            </a:r>
            <a:r>
              <a:rPr lang="en-US" sz="2500" dirty="0" smtClean="0">
                <a:highlight>
                  <a:srgbClr val="A9A9A9"/>
                </a:highlight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errors).</a:t>
            </a:r>
            <a:endParaRPr lang="en-US" sz="2500" dirty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  <a:cs typeface="Calibri" panose="020F0502020204030204" pitchFamily="34" charset="0"/>
            </a:endParaRPr>
          </a:p>
          <a:p>
            <a:r>
              <a:rPr lang="en-US" sz="27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Requirements</a:t>
            </a:r>
          </a:p>
          <a:p>
            <a:pPr lvl="1"/>
            <a:r>
              <a:rPr lang="en-US" sz="245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Derive requirements from the use cases</a:t>
            </a:r>
          </a:p>
          <a:p>
            <a:pPr lvl="1"/>
            <a:r>
              <a:rPr lang="en-US" sz="245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Add these derived requirements to the IO provided pre-filled template of requirements</a:t>
            </a:r>
          </a:p>
          <a:p>
            <a:pPr lvl="1"/>
            <a:r>
              <a:rPr lang="en-US" sz="245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Mark applicability for the requirements (Yes/No), Add justification when not applicable.</a:t>
            </a:r>
          </a:p>
          <a:p>
            <a:pPr lvl="1"/>
            <a:r>
              <a:rPr lang="en-US" sz="245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All the requirements must have a source and section.</a:t>
            </a:r>
          </a:p>
          <a:p>
            <a:pPr lvl="1"/>
            <a:r>
              <a:rPr lang="en-US" sz="245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Add verification method for all requirements along with the relevant phase </a:t>
            </a:r>
          </a:p>
          <a:p>
            <a:pPr lvl="1"/>
            <a:r>
              <a:rPr lang="en-US" sz="245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Import requirements file to the EA project using the requirements add-in</a:t>
            </a:r>
            <a:endParaRPr lang="en-US" sz="2450" dirty="0" smtClean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367808" y="5373216"/>
            <a:ext cx="75608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/>
            </a:r>
            <a:br>
              <a:rPr lang="en-GB" sz="1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</a:br>
            <a:r>
              <a:rPr lang="en-GB" sz="1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EA Add-in User Manual - Requirement Management</a:t>
            </a:r>
            <a:r>
              <a:rPr lang="en-GB" sz="1800" i="1" dirty="0">
                <a:solidFill>
                  <a:srgbClr val="808080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 </a:t>
            </a: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ITER_D_X7VG4C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ITER_D_UNL5VW, Slides </a:t>
            </a: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2-4 of ITER_D_4ZKAE6</a:t>
            </a: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795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spect="1" noChangeArrowheads="1"/>
          </p:cNvSpPr>
          <p:nvPr>
            <p:ph type="title"/>
          </p:nvPr>
        </p:nvSpPr>
        <p:spPr>
          <a:xfrm>
            <a:off x="767408" y="116632"/>
            <a:ext cx="10873208" cy="476250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en-US" sz="280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charset="0"/>
              </a:rPr>
              <a:t>Operation Procedures</a:t>
            </a:r>
            <a:endParaRPr lang="en-US" sz="280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Arial" charset="0"/>
            </a:endParaRPr>
          </a:p>
        </p:txBody>
      </p:sp>
      <p:sp>
        <p:nvSpPr>
          <p:cNvPr id="75" name="TextBox 1"/>
          <p:cNvSpPr txBox="1">
            <a:spLocks noChangeArrowheads="1"/>
          </p:cNvSpPr>
          <p:nvPr/>
        </p:nvSpPr>
        <p:spPr bwMode="auto">
          <a:xfrm>
            <a:off x="119336" y="764806"/>
            <a:ext cx="11953328" cy="5192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7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Two ways to document them in the EA project -1) excel file import using add-in (recommended) 2) using add-in’s editor</a:t>
            </a:r>
          </a:p>
          <a:p>
            <a:r>
              <a:rPr lang="en-US" sz="27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Method 1</a:t>
            </a:r>
          </a:p>
          <a:p>
            <a:pPr lvl="1"/>
            <a:r>
              <a:rPr lang="en-US" sz="25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Take the Operation Procedures excel file template.</a:t>
            </a:r>
          </a:p>
          <a:p>
            <a:pPr lvl="1"/>
            <a:r>
              <a:rPr lang="en-US" sz="25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Define procedures/activities at different levels along with the interconnections between them, in the excel file. There is also a possibility to define corresponding functions for the procedures.</a:t>
            </a:r>
          </a:p>
          <a:p>
            <a:pPr lvl="1"/>
            <a:r>
              <a:rPr lang="en-US" sz="25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Import the excel file using the add-in. The procedures are created, and also the functions are mapped (provided functions are already present in the EA project, and have been defined in the procedures excel file).</a:t>
            </a:r>
          </a:p>
          <a:p>
            <a:pPr lvl="1"/>
            <a:r>
              <a:rPr lang="en-US" sz="25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Perform special steps to make the procedures navigable, </a:t>
            </a:r>
            <a:r>
              <a:rPr lang="en-US" sz="25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to rearrange </a:t>
            </a:r>
            <a:r>
              <a:rPr lang="en-US" sz="25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the activity diagrams and to use the concept of reference procedures</a:t>
            </a:r>
            <a:endParaRPr lang="en-US" sz="2300" dirty="0" smtClean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95800" y="5877272"/>
            <a:ext cx="7632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 smtClean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EA </a:t>
            </a: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Add-in User Manual - Operations Procedure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Slides </a:t>
            </a: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5-13 of ITER_D_4ZKAE6</a:t>
            </a: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814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spect="1" noChangeArrowheads="1"/>
          </p:cNvSpPr>
          <p:nvPr>
            <p:ph type="title"/>
          </p:nvPr>
        </p:nvSpPr>
        <p:spPr>
          <a:xfrm>
            <a:off x="767408" y="116632"/>
            <a:ext cx="10873208" cy="476250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en-US" sz="280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charset="0"/>
              </a:rPr>
              <a:t>Functional Analysis</a:t>
            </a:r>
            <a:endParaRPr lang="en-US" sz="280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Arial" charset="0"/>
            </a:endParaRPr>
          </a:p>
        </p:txBody>
      </p:sp>
      <p:sp>
        <p:nvSpPr>
          <p:cNvPr id="75" name="TextBox 1"/>
          <p:cNvSpPr txBox="1">
            <a:spLocks noChangeArrowheads="1"/>
          </p:cNvSpPr>
          <p:nvPr/>
        </p:nvSpPr>
        <p:spPr bwMode="auto">
          <a:xfrm>
            <a:off x="119336" y="764806"/>
            <a:ext cx="11953328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7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Two ways to document them in the EA project -1) excel file import using add-in (recommended) 2) using add-in’s editor </a:t>
            </a:r>
          </a:p>
          <a:p>
            <a:r>
              <a:rPr lang="en-US" sz="27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Method 1</a:t>
            </a:r>
          </a:p>
          <a:p>
            <a:pPr lvl="1"/>
            <a:r>
              <a:rPr lang="en-US" sz="24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Take the Functional Analysis excel file template (2020 version).</a:t>
            </a:r>
          </a:p>
          <a:p>
            <a:pPr lvl="1"/>
            <a:r>
              <a:rPr lang="en-US" sz="24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Define functions and variables at different levels. Multiplicity feature is also available.</a:t>
            </a:r>
          </a:p>
          <a:p>
            <a:pPr lvl="1"/>
            <a:r>
              <a:rPr lang="en-US" sz="24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Define the nam</a:t>
            </a:r>
            <a:r>
              <a:rPr lang="en-US" sz="24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e </a:t>
            </a:r>
            <a:r>
              <a:rPr lang="en-US" sz="24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attributes for all the variables.</a:t>
            </a:r>
          </a:p>
          <a:p>
            <a:pPr lvl="1"/>
            <a:r>
              <a:rPr lang="en-US" sz="24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Define non-name attributes for all the </a:t>
            </a:r>
            <a:r>
              <a:rPr lang="en-US" sz="24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variables (most import being hardware allocation</a:t>
            </a:r>
            <a:r>
              <a:rPr lang="en-US" sz="24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). </a:t>
            </a:r>
            <a:endParaRPr lang="en-US" sz="2400" dirty="0" smtClean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  <a:cs typeface="Calibri" panose="020F0502020204030204" pitchFamily="34" charset="0"/>
            </a:endParaRPr>
          </a:p>
          <a:p>
            <a:pPr lvl="1"/>
            <a:r>
              <a:rPr lang="en-US" sz="24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Define SYSM </a:t>
            </a:r>
            <a:r>
              <a:rPr lang="en-US" sz="24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variables (if needed) </a:t>
            </a:r>
            <a:r>
              <a:rPr lang="en-US" sz="24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and NDS </a:t>
            </a:r>
            <a:r>
              <a:rPr lang="en-US" sz="24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variables using add-in.</a:t>
            </a:r>
            <a:endParaRPr lang="en-US" sz="2400" dirty="0" smtClean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  <a:cs typeface="Calibri" panose="020F0502020204030204" pitchFamily="34" charset="0"/>
            </a:endParaRPr>
          </a:p>
          <a:p>
            <a:pPr lvl="1"/>
            <a:r>
              <a:rPr lang="en-US" sz="24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Define input (can be Plant I&amp;C, SYSM, NDS variables) and output variables (can be Plant I&amp;C, NDS variables) for all functions</a:t>
            </a:r>
          </a:p>
          <a:p>
            <a:pPr lvl="1"/>
            <a:r>
              <a:rPr lang="en-US" sz="24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Import the excel file using the add-in. Function processing diagrams are created (SYSM and NDS variables are mapped only if they are already present in the EA project)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2655" y="6238564"/>
            <a:ext cx="10945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 smtClean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EA </a:t>
            </a: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Add-in User Manual - Functional Analysis</a:t>
            </a: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Slides </a:t>
            </a: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14-23 of </a:t>
            </a: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ITER_D_4ZKAE6, ITER_D_LAJF9S </a:t>
            </a: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980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spect="1" noChangeArrowheads="1"/>
          </p:cNvSpPr>
          <p:nvPr>
            <p:ph type="title"/>
          </p:nvPr>
        </p:nvSpPr>
        <p:spPr>
          <a:xfrm>
            <a:off x="767408" y="116632"/>
            <a:ext cx="10873208" cy="476250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en-US" sz="280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charset="0"/>
              </a:rPr>
              <a:t>State Machine, Test Scenarios, Acceptance Criteria</a:t>
            </a:r>
            <a:endParaRPr lang="en-US" sz="280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Arial" charset="0"/>
            </a:endParaRPr>
          </a:p>
        </p:txBody>
      </p:sp>
      <p:sp>
        <p:nvSpPr>
          <p:cNvPr id="75" name="TextBox 1"/>
          <p:cNvSpPr txBox="1">
            <a:spLocks noChangeArrowheads="1"/>
          </p:cNvSpPr>
          <p:nvPr/>
        </p:nvSpPr>
        <p:spPr bwMode="auto">
          <a:xfrm>
            <a:off x="119336" y="764806"/>
            <a:ext cx="11953328" cy="5583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7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State Machine</a:t>
            </a:r>
          </a:p>
          <a:p>
            <a:pPr lvl="1"/>
            <a:r>
              <a:rPr lang="en-US" sz="25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Define different states and also the transition between the states (this information to be also presented in System Concept of Operations document)</a:t>
            </a:r>
          </a:p>
          <a:p>
            <a:pPr lvl="1"/>
            <a:r>
              <a:rPr lang="en-US" sz="25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Define conditions for every state (design mapping add-in)</a:t>
            </a:r>
          </a:p>
          <a:p>
            <a:pPr lvl="1"/>
            <a:r>
              <a:rPr lang="en-US" sz="25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Allocate variables to state (design mapping add-in)</a:t>
            </a:r>
          </a:p>
          <a:p>
            <a:r>
              <a:rPr lang="en-US" sz="27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Test Scenarios</a:t>
            </a:r>
            <a:endParaRPr lang="en-US" sz="2700" dirty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  <a:cs typeface="Calibri" panose="020F0502020204030204" pitchFamily="34" charset="0"/>
            </a:endParaRPr>
          </a:p>
          <a:p>
            <a:pPr lvl="1"/>
            <a:r>
              <a:rPr lang="en-US" sz="2500" dirty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Define </a:t>
            </a:r>
            <a:r>
              <a:rPr lang="en-US" sz="25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test scenarios (high level only) (can be considered as use cases for testing)</a:t>
            </a:r>
          </a:p>
          <a:p>
            <a:r>
              <a:rPr lang="en-US" sz="27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Acceptance Criteria</a:t>
            </a:r>
            <a:endParaRPr lang="en-US" sz="2700" dirty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  <a:cs typeface="Calibri" panose="020F0502020204030204" pitchFamily="34" charset="0"/>
            </a:endParaRPr>
          </a:p>
          <a:p>
            <a:pPr lvl="1"/>
            <a:r>
              <a:rPr lang="en-US" sz="25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Use the </a:t>
            </a:r>
            <a:r>
              <a:rPr lang="en-US" sz="2500" dirty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list provided by IO-CT (</a:t>
            </a:r>
            <a:r>
              <a:rPr lang="en-US" sz="25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ITER_D_6JL6ZQ</a:t>
            </a:r>
            <a:r>
              <a:rPr lang="en-US" sz="25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)</a:t>
            </a:r>
          </a:p>
          <a:p>
            <a:pPr lvl="1"/>
            <a:r>
              <a:rPr lang="en-US" sz="2500" dirty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Make </a:t>
            </a:r>
            <a:r>
              <a:rPr lang="en-US" sz="25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acceptance criteria non-applicable with appropriate justification</a:t>
            </a:r>
            <a:endParaRPr lang="en-US" sz="2500" dirty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  <a:cs typeface="Calibri" panose="020F0502020204030204" pitchFamily="34" charset="0"/>
            </a:endParaRPr>
          </a:p>
          <a:p>
            <a:pPr lvl="1"/>
            <a:r>
              <a:rPr lang="en-US" sz="25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Add additional acceptance criteria as per the individual diagnostic</a:t>
            </a:r>
          </a:p>
          <a:p>
            <a:pPr lvl="1"/>
            <a:r>
              <a:rPr lang="en-US" sz="25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Import </a:t>
            </a:r>
            <a:r>
              <a:rPr lang="en-US" sz="25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to the EA project (import functionality under development)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3712" y="6150465"/>
            <a:ext cx="80648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EA Add-in User Manual - Design </a:t>
            </a:r>
            <a:r>
              <a:rPr lang="en-GB" sz="1800" dirty="0" err="1" smtClean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Mapping</a:t>
            </a:r>
            <a:r>
              <a:rPr lang="en-GB" dirty="0" err="1" smtClean="0"/>
              <a:t>,</a:t>
            </a:r>
            <a:r>
              <a:rPr lang="en-GB" sz="1800" dirty="0" err="1" smtClean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EA</a:t>
            </a:r>
            <a:r>
              <a:rPr lang="en-GB" sz="1800" dirty="0" smtClean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 </a:t>
            </a: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Add-in User Manual - Verification and Validation</a:t>
            </a: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ITER_D_4WDZXW</a:t>
            </a: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ITER_D_UKHVM5, slide 7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of ITER_D_4XLBK8 </a:t>
            </a: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9330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spect="1" noChangeArrowheads="1"/>
          </p:cNvSpPr>
          <p:nvPr>
            <p:ph type="title"/>
          </p:nvPr>
        </p:nvSpPr>
        <p:spPr>
          <a:xfrm>
            <a:off x="767408" y="116632"/>
            <a:ext cx="10873208" cy="476250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en-US" sz="280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Arial" charset="0"/>
              </a:rPr>
              <a:t>HMI, Algorithms, Hardware Architecture et al</a:t>
            </a:r>
            <a:endParaRPr lang="en-US" sz="280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Arial" charset="0"/>
            </a:endParaRPr>
          </a:p>
        </p:txBody>
      </p:sp>
      <p:sp>
        <p:nvSpPr>
          <p:cNvPr id="75" name="TextBox 1"/>
          <p:cNvSpPr txBox="1">
            <a:spLocks noChangeArrowheads="1"/>
          </p:cNvSpPr>
          <p:nvPr/>
        </p:nvSpPr>
        <p:spPr bwMode="auto">
          <a:xfrm>
            <a:off x="119336" y="764806"/>
            <a:ext cx="11953328" cy="55061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7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Configuration Objects, HMI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Propose Plant I&amp;C HMIs (mock ups sufficient)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Define Configuration Objects</a:t>
            </a:r>
            <a:endParaRPr lang="en-US" dirty="0" smtClean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  <a:cs typeface="Calibri" panose="020F0502020204030204" pitchFamily="34" charset="0"/>
            </a:endParaRPr>
          </a:p>
          <a:p>
            <a:r>
              <a:rPr lang="en-US" sz="27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Algorithms</a:t>
            </a:r>
            <a:endParaRPr lang="en-US" sz="2700" dirty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  <a:cs typeface="Calibri" panose="020F0502020204030204" pitchFamily="34" charset="0"/>
            </a:endParaRP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Descriptions along with equations sufficient for FDR</a:t>
            </a:r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  <a:cs typeface="Calibri" panose="020F0502020204030204" pitchFamily="34" charset="0"/>
            </a:endParaRPr>
          </a:p>
          <a:p>
            <a:r>
              <a:rPr lang="en-US" sz="27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Hardware Architecture et al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Define hardware architecture diagram (high level and detailed down to device and board level). Also refer concept of Master Controller.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Bill of Materials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Propose (validate) COTS integration strategy (black box checklist)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Define software architecture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Define cubicle configuration layout, along with the detailed design aspects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Signals and Components list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Obsolescence Management Plan along with ITER Part numbers</a:t>
            </a:r>
            <a:endParaRPr lang="en-US" dirty="0" smtClean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35760" y="6211669"/>
            <a:ext cx="7920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EA Add-in User Manual - Signals and </a:t>
            </a:r>
            <a:r>
              <a:rPr lang="en-GB" sz="1800" dirty="0" smtClean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Components</a:t>
            </a: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ITER_D_3JV3ZX,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ITER_D_QARUAC, ITER_D_ </a:t>
            </a: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Q68UB6, </a:t>
            </a: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ITER_D_63JB56, ITER_D_4YLDY7</a:t>
            </a:r>
          </a:p>
        </p:txBody>
      </p:sp>
    </p:spTree>
    <p:extLst>
      <p:ext uri="{BB962C8B-B14F-4D97-AF65-F5344CB8AC3E}">
        <p14:creationId xmlns:p14="http://schemas.microsoft.com/office/powerpoint/2010/main" val="482480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spect="1" noChangeArrowheads="1"/>
          </p:cNvSpPr>
          <p:nvPr>
            <p:ph type="title"/>
          </p:nvPr>
        </p:nvSpPr>
        <p:spPr>
          <a:xfrm>
            <a:off x="767408" y="116632"/>
            <a:ext cx="10873208" cy="476250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en-US" sz="2800" kern="1200" dirty="0" smtClean="0">
                <a:solidFill>
                  <a:schemeClr val="tx1"/>
                </a:solidFill>
                <a:latin typeface="Calibri" panose="020F0502020204030204" pitchFamily="34" charset="0"/>
                <a:cs typeface="Arial" charset="0"/>
              </a:rPr>
              <a:t>Verification, SMS</a:t>
            </a:r>
            <a:r>
              <a:rPr lang="en-US" sz="2800" kern="1200" dirty="0">
                <a:solidFill>
                  <a:schemeClr val="tx1"/>
                </a:solidFill>
                <a:latin typeface="Calibri" panose="020F0502020204030204" pitchFamily="34" charset="0"/>
                <a:cs typeface="Arial" charset="0"/>
              </a:rPr>
              <a:t>, </a:t>
            </a:r>
            <a:r>
              <a:rPr lang="en-US" sz="2800" kern="1200" dirty="0" smtClean="0">
                <a:solidFill>
                  <a:schemeClr val="tx1"/>
                </a:solidFill>
                <a:latin typeface="Calibri" panose="020F0502020204030204" pitchFamily="34" charset="0"/>
                <a:cs typeface="Arial" charset="0"/>
              </a:rPr>
              <a:t>STP</a:t>
            </a:r>
            <a:endParaRPr lang="en-US" sz="280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Arial" charset="0"/>
            </a:endParaRPr>
          </a:p>
        </p:txBody>
      </p:sp>
      <p:sp>
        <p:nvSpPr>
          <p:cNvPr id="75" name="TextBox 1"/>
          <p:cNvSpPr txBox="1">
            <a:spLocks noChangeArrowheads="1"/>
          </p:cNvSpPr>
          <p:nvPr/>
        </p:nvSpPr>
        <p:spPr bwMode="auto">
          <a:xfrm>
            <a:off x="119336" y="764806"/>
            <a:ext cx="11953328" cy="5524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700" dirty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Verification</a:t>
            </a:r>
          </a:p>
          <a:p>
            <a:pPr lvl="1"/>
            <a:r>
              <a:rPr lang="en-US" sz="25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Map requirement categories to the supporting functions using verification and validation add-in</a:t>
            </a:r>
            <a:endParaRPr lang="en-US" sz="2700" dirty="0" smtClean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  <a:cs typeface="Calibri" panose="020F0502020204030204" pitchFamily="34" charset="0"/>
            </a:endParaRPr>
          </a:p>
          <a:p>
            <a:r>
              <a:rPr lang="en-US" sz="27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Design Mapping add-in can also be used for the following</a:t>
            </a:r>
          </a:p>
          <a:p>
            <a:pPr lvl="1"/>
            <a:r>
              <a:rPr lang="en-US" sz="25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Procedure to function mapping (in addition to the method explained in slide 4)</a:t>
            </a:r>
          </a:p>
          <a:p>
            <a:pPr lvl="1"/>
            <a:r>
              <a:rPr lang="en-US" sz="25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Mapping input and output variables for functions (</a:t>
            </a:r>
            <a:r>
              <a:rPr lang="en-US" sz="2500" dirty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in addition to the method explained in slide 5</a:t>
            </a:r>
            <a:r>
              <a:rPr lang="en-US" sz="25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)</a:t>
            </a:r>
          </a:p>
          <a:p>
            <a:r>
              <a:rPr lang="en-US" sz="29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SRS and SDS can be generated from the EA project using the add-in.</a:t>
            </a:r>
          </a:p>
          <a:p>
            <a:r>
              <a:rPr lang="en-US" sz="27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SMS (System manufacturing Specification) to be prepared for MRR. Template </a:t>
            </a:r>
            <a:r>
              <a:rPr lang="en-US" sz="2700" dirty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provided – </a:t>
            </a:r>
            <a:r>
              <a:rPr lang="en-US" sz="27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ITER_D_6375ZU</a:t>
            </a:r>
          </a:p>
          <a:p>
            <a:r>
              <a:rPr lang="en-US" sz="27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System Test Plan – Detailed test plan possible after manufacturing phase. Test cases to be mapped to Acceptance Criteria.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3712" y="6338348"/>
            <a:ext cx="7848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 err="1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Mapping</a:t>
            </a:r>
            <a:r>
              <a:rPr lang="en-GB" sz="1800" dirty="0" err="1"/>
              <a:t>,</a:t>
            </a:r>
            <a:r>
              <a:rPr lang="en-GB" sz="1800" dirty="0" err="1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EA</a:t>
            </a: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 Add-in User Manual - Verification </a:t>
            </a:r>
            <a:r>
              <a:rPr lang="en-GB" sz="1800" dirty="0" smtClean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and Validation</a:t>
            </a: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, 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ITER_D_4WDZXW</a:t>
            </a: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885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spect="1" noChangeArrowheads="1"/>
          </p:cNvSpPr>
          <p:nvPr>
            <p:ph type="title"/>
          </p:nvPr>
        </p:nvSpPr>
        <p:spPr>
          <a:xfrm>
            <a:off x="767408" y="116632"/>
            <a:ext cx="10873208" cy="476250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en-US" sz="2800" kern="1200" dirty="0" smtClean="0">
                <a:solidFill>
                  <a:schemeClr val="tx1"/>
                </a:solidFill>
                <a:latin typeface="Calibri" panose="020F0502020204030204" pitchFamily="34" charset="0"/>
                <a:cs typeface="Arial" charset="0"/>
              </a:rPr>
              <a:t>Acceptance Criteria</a:t>
            </a:r>
            <a:endParaRPr lang="en-US" sz="280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Arial" charset="0"/>
            </a:endParaRPr>
          </a:p>
        </p:txBody>
      </p:sp>
      <p:sp>
        <p:nvSpPr>
          <p:cNvPr id="75" name="TextBox 1"/>
          <p:cNvSpPr txBox="1">
            <a:spLocks noChangeArrowheads="1"/>
          </p:cNvSpPr>
          <p:nvPr/>
        </p:nvSpPr>
        <p:spPr bwMode="auto">
          <a:xfrm>
            <a:off x="119336" y="764806"/>
            <a:ext cx="11953328" cy="518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Acceptance </a:t>
            </a: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criteria support the writing of test cases/procedures (documented in System Test Plan) OR in other words the flow down of the existing requirements to the test cases/procedures.</a:t>
            </a:r>
          </a:p>
          <a:p>
            <a:r>
              <a:rPr lang="en-GB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These </a:t>
            </a: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acceptance criteria do not add any new requirements.</a:t>
            </a:r>
          </a:p>
          <a:p>
            <a:r>
              <a:rPr lang="en-GB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These </a:t>
            </a: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are written from the perspective of validating the requirements in context of the whole plant system.</a:t>
            </a:r>
          </a:p>
          <a:p>
            <a:r>
              <a:rPr lang="en-GB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Example </a:t>
            </a: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– 1) Operator can verify the operation of Plant I&amp;C from Central I&amp;C through COS:PSOS mapping. 2) Operator verifies that he/she is able to manage calibration data in all repositories as required for all diagnostic use cases</a:t>
            </a:r>
            <a:r>
              <a:rPr lang="en-GB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.</a:t>
            </a:r>
          </a:p>
          <a:p>
            <a:pPr lvl="0"/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In the 5</a:t>
            </a:r>
            <a:r>
              <a:rPr lang="en-GB" baseline="30000" dirty="0"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I&amp;C workshop, this topic was presented. </a:t>
            </a:r>
            <a:r>
              <a:rPr lang="en-GB" b="1" u="sng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04 - Concept for Acceptance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(2021</a:t>
            </a:r>
            <a:r>
              <a:rPr lang="en-GB" dirty="0" smtClean="0">
                <a:latin typeface="Calibri" panose="020F0502020204030204" pitchFamily="34" charset="0"/>
                <a:cs typeface="Calibri" panose="020F0502020204030204" pitchFamily="34" charset="0"/>
              </a:rPr>
              <a:t>). The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Plant I&amp;C designers from various DA’s </a:t>
            </a:r>
            <a:r>
              <a:rPr lang="en-GB" u="sng" dirty="0">
                <a:latin typeface="Calibri" panose="020F0502020204030204" pitchFamily="34" charset="0"/>
                <a:cs typeface="Calibri" panose="020F0502020204030204" pitchFamily="34" charset="0"/>
              </a:rPr>
              <a:t>requested IO-CT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to help them with a minimum basic set of acceptance criteria, which they could later update/add as per the needs of their system. </a:t>
            </a:r>
            <a:r>
              <a:rPr lang="en-GB" u="sng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ITER_D_55G3CQ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 Action #</a:t>
            </a:r>
            <a:r>
              <a:rPr lang="en-GB" dirty="0" smtClean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166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spect="1" noChangeArrowheads="1"/>
          </p:cNvSpPr>
          <p:nvPr>
            <p:ph type="title"/>
          </p:nvPr>
        </p:nvSpPr>
        <p:spPr>
          <a:xfrm>
            <a:off x="767408" y="116632"/>
            <a:ext cx="10873208" cy="476250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en-US" sz="2800" kern="1200" dirty="0" smtClean="0">
                <a:solidFill>
                  <a:schemeClr val="tx1"/>
                </a:solidFill>
                <a:latin typeface="Calibri" panose="020F0502020204030204" pitchFamily="34" charset="0"/>
                <a:cs typeface="Arial" charset="0"/>
              </a:rPr>
              <a:t>Split of Topics between PDR and FDR (Proposal)</a:t>
            </a:r>
            <a:endParaRPr lang="en-US" sz="280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Arial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3414733"/>
              </p:ext>
            </p:extLst>
          </p:nvPr>
        </p:nvGraphicFramePr>
        <p:xfrm>
          <a:off x="767408" y="836712"/>
          <a:ext cx="7632848" cy="5412246"/>
        </p:xfrm>
        <a:graphic>
          <a:graphicData uri="http://schemas.openxmlformats.org/drawingml/2006/table">
            <a:tbl>
              <a:tblPr/>
              <a:tblGrid>
                <a:gridCol w="1656184">
                  <a:extLst>
                    <a:ext uri="{9D8B030D-6E8A-4147-A177-3AD203B41FA5}">
                      <a16:colId xmlns:a16="http://schemas.microsoft.com/office/drawing/2014/main" val="893405911"/>
                    </a:ext>
                  </a:extLst>
                </a:gridCol>
                <a:gridCol w="5241274">
                  <a:extLst>
                    <a:ext uri="{9D8B030D-6E8A-4147-A177-3AD203B41FA5}">
                      <a16:colId xmlns:a16="http://schemas.microsoft.com/office/drawing/2014/main" val="72157957"/>
                    </a:ext>
                  </a:extLst>
                </a:gridCol>
                <a:gridCol w="735390">
                  <a:extLst>
                    <a:ext uri="{9D8B030D-6E8A-4147-A177-3AD203B41FA5}">
                      <a16:colId xmlns:a16="http://schemas.microsoft.com/office/drawing/2014/main" val="155511779"/>
                    </a:ext>
                  </a:extLst>
                </a:gridCol>
              </a:tblGrid>
              <a:tr h="369768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Weightage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1129206"/>
                  </a:ext>
                </a:extLst>
              </a:tr>
              <a:tr h="21009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Procedures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Operation Procedures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5357173"/>
                  </a:ext>
                </a:extLst>
              </a:tr>
              <a:tr h="210095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Exceptional </a:t>
                      </a:r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Detection and</a:t>
                      </a:r>
                      <a:r>
                        <a:rPr lang="en-GB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Handling </a:t>
                      </a: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Procedures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846891"/>
                  </a:ext>
                </a:extLst>
              </a:tr>
              <a:tr h="420191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Procedures to Function Mapping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5936468"/>
                  </a:ext>
                </a:extLst>
              </a:tr>
              <a:tr h="210095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Functions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Functions including</a:t>
                      </a:r>
                      <a:r>
                        <a:rPr lang="en-GB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NDS functions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8342888"/>
                  </a:ext>
                </a:extLst>
              </a:tr>
              <a:tr h="210095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Acceptance Criteria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4054271"/>
                  </a:ext>
                </a:extLst>
              </a:tr>
              <a:tr h="210095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Function Processing Diagram/ Input </a:t>
                      </a:r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variables/Signal Chain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4650407"/>
                  </a:ext>
                </a:extLst>
              </a:tr>
              <a:tr h="210095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Algorithms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967881"/>
                  </a:ext>
                </a:extLst>
              </a:tr>
              <a:tr h="420191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Function to </a:t>
                      </a:r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Requirement Category Mapping (Verification)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2.5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4149211"/>
                  </a:ext>
                </a:extLst>
              </a:tr>
              <a:tr h="21009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Variables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Variables</a:t>
                      </a:r>
                    </a:p>
                    <a:p>
                      <a:pPr algn="ctr" fontAlgn="ctr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(including 1. NDS variables and 2. smart conditions 3. Configuration Objects)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8976035"/>
                  </a:ext>
                </a:extLst>
              </a:tr>
              <a:tr h="369768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Variable name and non-name attributes (importantly Hardware </a:t>
                      </a: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Allocation)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3153091"/>
                  </a:ext>
                </a:extLst>
              </a:tr>
              <a:tr h="210095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Hardware Architecture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Signals and Components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7272177"/>
                  </a:ext>
                </a:extLst>
              </a:tr>
              <a:tr h="210095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Hardware </a:t>
                      </a:r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Architecture (includes</a:t>
                      </a:r>
                      <a:r>
                        <a:rPr lang="en-GB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software architecture)</a:t>
                      </a:r>
                      <a:endParaRPr lang="en-GB" sz="12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2728970"/>
                  </a:ext>
                </a:extLst>
              </a:tr>
              <a:tr h="210095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Obsolescence management plan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7328270"/>
                  </a:ext>
                </a:extLst>
              </a:tr>
              <a:tr h="210095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Cubicle Configuration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277728"/>
                  </a:ext>
                </a:extLst>
              </a:tr>
              <a:tr h="210095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2155754"/>
                  </a:ext>
                </a:extLst>
              </a:tr>
              <a:tr h="210095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ITER Part Number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6335725"/>
                  </a:ext>
                </a:extLst>
              </a:tr>
              <a:tr h="21009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State Machine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1095539"/>
                  </a:ext>
                </a:extLst>
              </a:tr>
              <a:tr h="210095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Allocation of procedures to </a:t>
                      </a:r>
                      <a:r>
                        <a:rPr lang="en-GB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states, mapping of conditions to states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587178"/>
                  </a:ext>
                </a:extLst>
              </a:tr>
              <a:tr h="262619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HMI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HMI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994613"/>
                  </a:ext>
                </a:extLst>
              </a:tr>
              <a:tr h="262619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 scenarios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 scenarios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138213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8288" y="2204864"/>
            <a:ext cx="32403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The topics in blue can be considered to be presented at FDR.</a:t>
            </a:r>
          </a:p>
          <a:p>
            <a:pPr marL="342900" indent="-342900">
              <a:buAutoNum type="arabicPeriod"/>
            </a:pP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Weightage column gives an idea about the estimated effort expected for each topic.</a:t>
            </a:r>
          </a:p>
          <a:p>
            <a:pPr marL="342900" indent="-342900">
              <a:buAutoNum type="arabicPeriod"/>
            </a:pP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Weightage of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5 </a:t>
            </a: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≈ 1 person month of effort.</a:t>
            </a:r>
          </a:p>
          <a:p>
            <a:pPr marL="342900" indent="-342900">
              <a:buAutoNum type="arabicPeriod"/>
            </a:pP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Total weightage = 100 = For reaching FDR maturity level.</a:t>
            </a:r>
            <a:endParaRPr lang="en-GB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470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95400" y="2780928"/>
            <a:ext cx="10668000" cy="914400"/>
          </a:xfrm>
        </p:spPr>
        <p:txBody>
          <a:bodyPr/>
          <a:lstStyle/>
          <a:p>
            <a:r>
              <a:rPr lang="en-US" dirty="0" smtClean="0"/>
              <a:t>Thank you for your attention!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6778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TER_PPTemplate (2)">
  <a:themeElements>
    <a:clrScheme name="ITER_PPTemplate (2)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ITER_PPTemplate (2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entury Gothic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arrow"/>
        </a:ln>
        <a:effectLst/>
      </a:spPr>
      <a:bodyPr/>
      <a:lstStyle/>
    </a:lnDef>
  </a:objectDefaults>
  <a:extraClrSchemeLst>
    <a:extraClrScheme>
      <a:clrScheme name="ITER_PPTemplate (2)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TER_PPTemplate (2)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TER_PPTemplate (2)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TER_PPTemplate (2)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TER_PPTemplate (2)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TER_PPTemplate (2)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TER_PPTemplate (2)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TER_PPTemplate (2)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TER_PPTemplate (2)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TER_PPTemplate (2)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TER_PPTemplate (2)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TER_PPTemplate (2)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atronMaster">
  <a:themeElements>
    <a:clrScheme name="patronMaster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atronMaster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1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atronMast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atronMaste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atronMaste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atronMaste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atronMaste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atronMaste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atronMaste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atronMaste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atronMaste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atronMaste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atronMaste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atronMaste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ITER_PPTemplate (2)</Template>
  <TotalTime>45895</TotalTime>
  <Words>1549</Words>
  <Application>Microsoft Office PowerPoint</Application>
  <PresentationFormat>Widescreen</PresentationFormat>
  <Paragraphs>251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맑은 고딕</vt:lpstr>
      <vt:lpstr>SimSun</vt:lpstr>
      <vt:lpstr>Arial</vt:lpstr>
      <vt:lpstr>Calibri</vt:lpstr>
      <vt:lpstr>Century Gothic</vt:lpstr>
      <vt:lpstr>굴림</vt:lpstr>
      <vt:lpstr>굴림</vt:lpstr>
      <vt:lpstr>Wingdings</vt:lpstr>
      <vt:lpstr>ITER_PPTemplate (2)</vt:lpstr>
      <vt:lpstr>Custom Design</vt:lpstr>
      <vt:lpstr>patronMaster</vt:lpstr>
      <vt:lpstr>Diagnostic Plant I&amp;C Methodology A Quick Walkthrough</vt:lpstr>
      <vt:lpstr>The three  important documents</vt:lpstr>
      <vt:lpstr>Diagnostic Plant I&amp;C Methodology - Overview</vt:lpstr>
      <vt:lpstr>Use Cases and Requirements</vt:lpstr>
      <vt:lpstr>Operation Procedures</vt:lpstr>
      <vt:lpstr>Functional Analysis</vt:lpstr>
      <vt:lpstr>State Machine, Test Scenarios, Acceptance Criteria</vt:lpstr>
      <vt:lpstr>HMI, Algorithms, Hardware Architecture et al</vt:lpstr>
      <vt:lpstr>Verification, SMS, STP</vt:lpstr>
      <vt:lpstr>Acceptance Criteria</vt:lpstr>
      <vt:lpstr>Split of Topics between PDR and FDR (Proposal)</vt:lpstr>
      <vt:lpstr>Thank you for your attention!</vt:lpstr>
    </vt:vector>
  </TitlesOfParts>
  <Company>ITER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ITER</dc:creator>
  <cp:lastModifiedBy>Kalsi Sukhmeet EXT</cp:lastModifiedBy>
  <cp:revision>2582</cp:revision>
  <cp:lastPrinted>2021-02-22T13:10:38Z</cp:lastPrinted>
  <dcterms:created xsi:type="dcterms:W3CDTF">2008-09-02T15:06:07Z</dcterms:created>
  <dcterms:modified xsi:type="dcterms:W3CDTF">2022-06-28T12:38:33Z</dcterms:modified>
</cp:coreProperties>
</file>